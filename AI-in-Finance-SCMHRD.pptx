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7055" y="0"/>
            <a:ext cx="4114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SEMESTER 3 · ONE-DAY INTENSIVE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Georgia"/>
              </a:rPr>
              <a:t>AI in Finance</a:t>
            </a:r>
          </a:p>
          <a:p>
            <a:pPr algn="l">
              <a:spcBef>
                <a:spcPts val="1000"/>
              </a:spcBef>
            </a:pPr>
            <a:r>
              <a:rPr sz="1900" b="0" i="1">
                <a:solidFill>
                  <a:srgbClr val="C9D6EE"/>
                </a:solidFill>
                <a:latin typeface="Georgia"/>
              </a:rPr>
              <a:t>From LLMs to Agentic AI — concepts, systems and four live builds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Curated with Dr. Dipasha Sharma, SCMHRD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9663" y="850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9A227"/>
                </a:solidFill>
                <a:latin typeface="Calibr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9663" y="1234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10 AM – 1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Foundations: AI, GenAI,
Agents &amp; Enterprise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9663" y="26517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2 PM – 5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Finance applications,
four live builds +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9663" y="4206240"/>
            <a:ext cx="2286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50" b="0" i="0" spc="150">
                <a:solidFill>
                  <a:srgbClr val="8FA1C4"/>
                </a:solidFill>
                <a:latin typeface="Calibri"/>
              </a:rPr>
              <a:t>LIVE BUILDS SHIPPED
BEFORE 5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WELCOME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One day. Two slots. Zero coding background assumed.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40680" cy="71323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1 · FOUNDATIONS</a:t>
            </a:r>
            <a:r>
              <a:rPr sz="1200" b="0" i="0">
                <a:solidFill>
                  <a:srgbClr val="F5ECD3"/>
                </a:solidFill>
                <a:latin typeface="Calibri"/>
              </a:rPr>
              <a:t>    10 AM – 1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AI, Machine Learning and Generative AI — from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LLMs: how they actually work (no maths needed)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Prompting, context windows and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Hallucinations — the types that hurt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RAG: making AI answer from your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Agents, loops &amp; skills · LangChain · LangGraph ·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Enterprise AI: data protection, token costs,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40680" cy="71323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2 · BUILD &amp; APPLY</a:t>
            </a:r>
            <a:r>
              <a:rPr sz="1200" b="0" i="0">
                <a:solidFill>
                  <a:srgbClr val="FFF7DE"/>
                </a:solidFill>
                <a:latin typeface="Calibri"/>
              </a:rPr>
              <a:t>    2 PM – 5 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1 — Trading algo system (momentum, mean reversion)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2 — Backtesting engine (Sharpe, drawdown)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3 — Earnings-call dashboard with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4 — Portfolio review + Basel report via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Live project — graded group assignment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AI-finance careers, skill stack &amp; placement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Recap, resources +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963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Morning = concepts with finance use cases. Afternoon = you build, in groups, with AI doing the coding for you.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DAY MAP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1 · Foundations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AI → Generative AI → LLMs → Agents → Agentic AI → Enterprise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AI &amp; GenAI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Prompts · context ·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11:15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Hallucinations &amp;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LangChain · LangGraph ·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Recap &amp;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1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is AI? Four nested ideas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4480560"/>
          </a:xfrm>
          <a:prstGeom prst="roundRect">
            <a:avLst>
              <a:gd name="adj" fmla="val 5000"/>
            </a:avLst>
          </a:prstGeom>
          <a:solidFill>
            <a:srgbClr val="E9EFF8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36776"/>
            <a:ext cx="516635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ARTIFICIAL INTELLIGENCE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Any software that mimics human judgement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249424"/>
            <a:ext cx="5065775" cy="3639312"/>
          </a:xfrm>
          <a:prstGeom prst="roundRect">
            <a:avLst>
              <a:gd name="adj" fmla="val 5000"/>
            </a:avLst>
          </a:prstGeom>
          <a:solidFill>
            <a:srgbClr val="D5E1F2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331720"/>
            <a:ext cx="46542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MACHINE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Learns rules from data instead of being programmed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704" y="2944368"/>
            <a:ext cx="4553712" cy="2798064"/>
          </a:xfrm>
          <a:prstGeom prst="roundRect">
            <a:avLst>
              <a:gd name="adj" fmla="val 5000"/>
            </a:avLst>
          </a:prstGeom>
          <a:solidFill>
            <a:srgbClr val="BFD2EC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026663"/>
            <a:ext cx="4142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DEEP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Neural networks — learns from raw text, images, sound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16736" y="3639312"/>
            <a:ext cx="4041648" cy="1956816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36192" y="3721608"/>
            <a:ext cx="363016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Calibri"/>
              </a:rPr>
              <a:t>GENERATIVE AI · LLMs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Creates new text, code and analysis — ChatGPT, Claude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554480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554480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1700784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2084831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The umbrella. Rules, logic, prediction — e.g. a loan-eligibility rule 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706624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706624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2852928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Machine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3236976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Show it 1 lakh past loans; it learns which borrowers default. No rules hand-written.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858768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858768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4005072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4389120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ML with many-layered neural networks. Powers fraud detection, face-KYC, speech.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010912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5010912"/>
            <a:ext cx="64008" cy="10241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5157216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Generative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5541264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Doesn't just score or classify — it writes. Research notes, memos, code, emails.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How machines learn — three flavours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3A5C9E"/>
                </a:solidFill>
                <a:latin typeface="Calibri"/>
              </a:rPr>
              <a:t>LEARN FROM LABELLED HISTORY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Feed it past data with answers attached: loans → defaulted / repaid.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credit scoring, fraud flags, house-price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8F7113"/>
                </a:solidFill>
                <a:latin typeface="Calibri"/>
              </a:rPr>
              <a:t>FIND HIDDEN STRUCTURE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Unsupervised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No answers given. The model groups similar things on its own.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customer segmentation, anomaly detection in 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2F7D5B"/>
                </a:solidFill>
                <a:latin typeface="Calibri"/>
              </a:rPr>
              <a:t>LEARN BY TRIAL &amp; REWARD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Reinforcement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An agent tries actions, gets rewards or penalties, improves over time.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order execution, market-making, dynamic hedging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02352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102352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Key intuition: 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classical ML predicts a number or a label. Generative AI produces language. LLMs are deep learning applied to one task — predicting the next word — at colossal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Predictive AI vs Generative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064240" cy="274320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Predictive (classical)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Generative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A number, score or label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New content — text, tables, code, memos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“Will this borrower default?”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“Draft the credit appraisal note.”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Data needed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Structured (spreadsheets, ledgers)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Unstructured too (filings, calls, news)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Typical desk 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Fraud scores, ratings, forecasts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Research summaries, IC memos, emails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Wrong number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Confident, fluent nonsense (hallucination)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53712"/>
            <a:ext cx="11094415" cy="141732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700016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an MBA should care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Predictive AI automated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calculation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of finance. Generative AI is now automating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language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— memos, research, client letters, compliance drafts — which is most of what analysts produce in their first three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LLM — autocomplete trained on the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8249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C9A227"/>
                </a:solidFill>
                <a:latin typeface="Calibri"/>
              </a:rPr>
              <a:t>ONE JOB: PREDICT THE NEXT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“The RBI raised the repo ____”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587751"/>
            <a:ext cx="2860243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3635" y="25420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971799"/>
            <a:ext cx="124358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7750" y="29260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7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355847"/>
            <a:ext cx="62179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5571" y="331012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133087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Tokens — the model's unit of text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Words are split into chunks (≈ ¾ of a word each). “Derivatives” → deriv + atives. Models read, think and charge per token.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Context windows, API pricing and speed are all quoted in tokens — it's the metre of this world.</a:t>
            </a:r>
          </a:p>
          <a:p>
            <a:pPr algn="l">
              <a:spcBef>
                <a:spcPts val="7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A 200-page annual report ≈ 100,000 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5D6B7E"/>
                </a:solidFill>
                <a:latin typeface="Calibri"/>
              </a:rPr>
              <a:t>HOW IT'S BUILT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4708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84708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195681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Pre-training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Read trillions of words — books, filings, the web. Learn language, facts, reasoning patterns.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887968" y="2889503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12724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12724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23697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Fine-tuning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Teach it to follow instructions: “summarise”, “compare”, “draft”.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887968" y="4169664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40740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40740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451713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Human feedback (RLHF)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Humans rank answers; the model learns to be helpful, honest, harmless.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05856"/>
            <a:ext cx="5212080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5705856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41"/>
                </a:solidFill>
                <a:latin typeface="Calibri"/>
              </a:rPr>
              <a:t>It has no database of truth — </a:t>
            </a:r>
            <a:r>
              <a:rPr sz="1100" b="1" i="0">
                <a:solidFill>
                  <a:srgbClr val="8F7113"/>
                </a:solidFill>
                <a:latin typeface="Calibri"/>
              </a:rPr>
              <a:t>it generates the most plausible next words.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model landscape in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OpenAI — GPT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2763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ChatGPT; strongest brand, broad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276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Everyday analysis, drafting, coding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Anthropic — 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688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Long documents, careful reasoning, agents &amp;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468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Research over filings, agentic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18688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10128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Google —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3101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Native to Workspace; huge context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3101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Teams already on Google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59936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51376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Meta — Llama (open)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1513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Open-weights: run it on your own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15137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Banks needing data to stay in-house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01184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BloombergGPT / FinBERT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Domain models trained on finance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99262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Terminal workflows, sentiment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132588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KNOWN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32588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PICK IT WHEN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97296"/>
            <a:ext cx="11094415" cy="512064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797296"/>
            <a:ext cx="106372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Closed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rented via API, best quality.  </a:t>
            </a:r>
            <a:r>
              <a:rPr sz="1150" b="1" i="0">
                <a:solidFill>
                  <a:srgbClr val="0F2145"/>
                </a:solidFill>
                <a:latin typeface="Calibri"/>
              </a:rPr>
              <a:t>Open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downloaded and self-hosted — banks often choose these for confidential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 — words you'll hear all 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trained “brain” — a giant pattern-matcher built from data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GPT, Claude and Gemini are all models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Training vs inference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Training = building the brain (once, costly). Inference = using it (every chat)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Your ChatGPT question = one inference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dials inside the brain — more dials, more capability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“175B parameters” ≈ brain size, not IQ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unit of text models read and bill by (≈ ¾ of a word)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200-page annual report ≈ 100,000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Text converted into numbers that capture its meaning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“profit fell” and “earnings declined” land side by side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library indexed by meaning, not keywords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Search “margin pressure”, find “pricing headwinds”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creativity dial — low = consistent, high = varied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Compliance drafts at 0.2, brainstorms at 0.9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plug that lets software call a model programmatically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An Excel add-in querying Claude = an API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engineering — the anatomy of a good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8229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1848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61848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Who the AI should be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“You are a sell-side equity analyst…”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4144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23744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523744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Facts it must use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“Here is HDFC Bank's Q3 press release…”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46704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46704"/>
            <a:ext cx="64008" cy="82296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42900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42900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One clear instruction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“Summarise NIM drivers in 5 bullets…”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64008" cy="82296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34256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334256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Shape of the output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“…as a table: metric, QoQ change, driver.”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57216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57216"/>
            <a:ext cx="64008" cy="8229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239512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239512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Show one done right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“Follow the style of this sample memo…”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536192"/>
            <a:ext cx="5239512" cy="4462272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70078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9A227"/>
                </a:solidFill>
                <a:latin typeface="Calibri"/>
              </a:rPr>
              <a:t>A DESK-READY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84831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You are a credit analyst at a large Indian bank.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Using only the attached FY25 annual report of Tata Motors,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assess debt-servicing capacity: leverage, coverage, maturity wall.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Output a one-page credit note: 5 bullets, one ratio table, a stated recommendation.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a number is not in the report, say “not disclosed” — do not estimate.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That last line is a hallucination guardrail — you'll see why in 20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patterns and anti-patterns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40680" cy="60350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Give the source document, then ask 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for the format: table, memo, 5 bullets,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“Think step by step” for calculations &amp;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it to cite the page/section for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Iterate — treat the first answer as a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“If unsure or missing data, say so”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36192"/>
            <a:ext cx="5440680" cy="603504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DON'T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“Tell me about HDFC Bank” — vague, no source, no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Trusting numbers it produces 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giant prompt asking 6 things at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Sharing client PII / MNPI with public chatbots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Assuming it knows events after its training cut-off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Copy-pasting output into an IC deck unreviewed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Context window — the model's working desk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682496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analogy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An analyst can only work with the papers currently on her desk. The context window is that desk: everything the model can “see” right now — your prompt, the documents you pasted, the conversation so far.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Off the desk = invisible. The model does not remember yesterday's chat by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85615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DESK SIZES (TOKENS → ROUGHLY)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416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8K — early GPT-4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earnings press release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88536"/>
            <a:ext cx="64008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64515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128K — GPT-4 class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full annual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92040"/>
            <a:ext cx="237744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486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200K–1M — Claude / Gemini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several annual reports +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95544"/>
            <a:ext cx="5120640" cy="1828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17904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1790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1 — cost &amp;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048255"/>
            <a:ext cx="4855464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Bigger context = more tokens = slower and costlier. Send what matters, not everything.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35808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35808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182112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2 — lost in the middle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566160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Models attend best to the start and end of long context. Put key facts up front.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553712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455371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4700016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3 — it fills 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084064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A quarter's worth of policy documents won't fit. That problem is exactly what RAG solves (2 slides away).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Memory — how AI systems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1600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Short-term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the context window itself. Lives only inside this conversation. Close the chat, it's gone.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499616"/>
            <a:ext cx="64008" cy="1600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Long-term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facts written to an external store (database / notes) and re-inserted into context when relevant. This is engineered, not innate.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WHAT GETS STORED — THREE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Episodic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What happened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“On 12 Mar the client rejected the small-cap tilt.”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Semantic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Facts &amp; preferences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“Client is NRI; conservative; no tobacco stocks.”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Procedural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How to do things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“Always produce reviews in the firm's IPS format.”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11094415" cy="804672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230368"/>
            <a:ext cx="10545775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Wealth-management use case: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an advisory copilot that remembers every client's risk profile, past objections and tax situation across months of conversations — and drafts the next review accordingly.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Hallucination — fluent, confident,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A63D40"/>
                </a:solidFill>
                <a:latin typeface="Georgia"/>
              </a:rPr>
              <a:t>Definition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The model produces content that is plausible-sounding but false or unsupported — invented numbers, fake citations, misread facts.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150" b="1" i="0">
                <a:solidFill>
                  <a:srgbClr val="A63D40"/>
                </a:solidFill>
                <a:latin typeface="Calibri"/>
              </a:rPr>
              <a:t>It is not lying. It is doing its job — predicting likely words — when the truth isn't in its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77639"/>
            <a:ext cx="502920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 real desk example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1B2A41"/>
                </a:solidFill>
                <a:latin typeface="Calibri"/>
              </a:rPr>
              <a:t>“What was Infosys' FY24 attrition rate?”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D6B7E"/>
                </a:solidFill>
                <a:latin typeface="Calibri"/>
              </a:rPr>
              <a:t>Without the report in context, a model may answer “14.6% (Annual Report, p. 83)” — number and page both invented, formatted 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517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517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Trained to continue, not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48255"/>
            <a:ext cx="48554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Its objective is plausibility. There is no built-in fact-checker.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60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60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807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Gaps get papered 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91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If data is missing or after its knowledge cut-off, it fills the gap smoothly.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03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803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3950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Your prompt can push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4334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Leading questions (“confirm that…”) invite agreeable fiction.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46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946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5093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Confidence ≠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477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Tone stays equally assured whether it's right or wrong — that's the danger.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Know your hallucinations — five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819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Factual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581912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States wrong real-world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581912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“SEBI caps mutual-fund expense ratios at 3.5%” — outdated / wrong.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39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39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59735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9735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Contradicts the document you gave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459735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Summary says margin “expanded”; the 10-K says it contracted.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55263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55263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337559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Fabricated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337559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Invents citations, cases, papers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337559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Cites “RBI Circular 2023/114” — no such circular exists.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33087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33087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3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Numeric / reasoning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215383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Right facts, wrong arithmetic or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15383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Adds segment revenues incorrectly; flips a sign in a DCF.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010912"/>
            <a:ext cx="64008" cy="80467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5 · Context confusion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093207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Mixes entities, periods or currencies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93207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Blends FY23 and FY24 figures; confuses Tata Motors with Tata Steel.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07023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5907023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In finance the stakes compound: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 hallucinated covenant, NAV or reg citation can move money and trigger liability. Treat every unsourced number as unverified.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Taming hallucinations — the practical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Ground it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Give the model the actual documents and instruct: answer only from these. The single biggest fix — next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Demand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“Cite page and section for every figure.” Fabricated cites become easy to catch.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Allow “I don't know”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Explicitly permit it to say data is missing. Removes the pressure to invent.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17520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Lower the 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 sampling dial: lower = more conservative, repeatable answers for factual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98848"/>
            <a:ext cx="64008" cy="13716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Verify high-stakes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Human-in-the-loop for anything that faces a client, regulator or trade.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498848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Evaluate continuously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Banks run automated “exam papers” (evals) against known answers before deployment.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Desk rule: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AI drafts, humans sign. The accountability never transfers to the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—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Open-book exam instead of memory test: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fetch the right pages from your library, hand them to the model, and let it answer from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568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1 · INDEX YOUR LIBRARY (DONE ONCE)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Your documents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10-Ks · policies · research · contracts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75887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Chunk &amp; embed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split into passages → convert to number-vectors that capture meaning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87768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Vector database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a searchable index of meaning, not keywords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2 · ANSWER A QUESTION (EVERY QUERY)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2606040" cy="9601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822191"/>
            <a:ext cx="24597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Question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“What are our Basel III disclosure gaps?”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6440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3822191"/>
            <a:ext cx="265176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1" y="3822191"/>
            <a:ext cx="250545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Retrieve top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the 5–10 most relevant chunks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510527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59" y="3822191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68312" y="3822191"/>
            <a:ext cx="22311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+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question and evidence go in together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0" y="3822191"/>
            <a:ext cx="1691640" cy="96012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3822191"/>
            <a:ext cx="15453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Cited answer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with page refs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9000"/>
            </a:avLst>
          </a:prstGeom>
          <a:solidFill>
            <a:srgbClr val="E6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38928"/>
            <a:ext cx="1058235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F7D5B"/>
                </a:solidFill>
                <a:latin typeface="Calibri"/>
              </a:rPr>
              <a:t>Why banks love it:  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answers come from approved internal documents (auditable), stay current without retraining the model, and hallucination drops sharply because the evidence is in the prompt.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on the desks — where it's already deployed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Wealth advisory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Morgan Stanley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GPT-4 over 100,000+ internal research and compliance documents. Advisors get vetted answers in seconds instead of searching portals.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Policy &amp; KYC ops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Universal banks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“Can an NRI open this account with these documents?” — answered from the bank's own policy manual, with clause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Equity research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Buy &amp; sell side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Ask questions across 10 years of annual reports and call transcripts: “Every mention of pricing pressure since FY19, with sources.”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Regulatory &amp; risk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Basel / RBI compliance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RAG over Basel IV texts, RBI master directions and internal capital policy — drafts gap analyses your Build 4 will replicate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Prompting vs RAG vs fine-tuning — which lever when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109960" cy="2852928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94560"/>
                <a:gridCol w="2971800"/>
                <a:gridCol w="297180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What you change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instructions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knowledge it sees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model's weights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Style, format, one-off tasks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Company documents, current facts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Deep domain tone &amp; jargon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Effort / cost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Minutes · free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Days · moderate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Weeks · expensive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Data freshness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Whatever you paste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Always current — re-index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Frozen at training time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“Draft in our IC-memo style”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Q&amp;A over policy manuals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 bank-specific credit-note writer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18304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Rule of thumb: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start with prompting → add RAG when it needs your documents → fine-tune only if the first two genuinely fall short. Most bank use cases stop at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D6B7E"/>
                </a:solidFill>
                <a:latin typeface="Calibri"/>
              </a:rPr>
              <a:t>☕  10-minute break — back at 11:55 for 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From chatbot to agent — answering vs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brain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hands — APIs, code,
search, spreadsheets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notebook — state
across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2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4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Planning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to-do list —
decide, act,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7830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1783080"/>
            <a:ext cx="1865376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AGENT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C4A0E"/>
                </a:solidFill>
                <a:latin typeface="Calibri"/>
              </a:rPr>
              <a:t>works toward a goal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310128"/>
          <a:ext cx="11064240" cy="2560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You ask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“What is Infosys' P/E?”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“Review my portfolio and flag concentration risks.”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It does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Answers from context in one shot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Fetches prices → computes weights → checks limits → drafts memo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Many — it decides the sequence itself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Trust needed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answer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actions — permissions matter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Anatomy of an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74320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2743200"/>
            <a:ext cx="305409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LLM CORE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reasons, plans, decides the next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81328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481328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Goal from user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“Prepare the monthly portfolio review”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conversation state · client facts · past runs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3712463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market-data API · Python · database · email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7735824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961888" y="4169663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645152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645152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 → observe → repeat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loops until the goal is met, then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memory it repeats questions and forgets constraints.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tools it can only talk. Tools are where work happens — and where permissions live.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sentence: </a:t>
            </a:r>
            <a:r>
              <a:rPr sz="1150" b="0" i="1">
                <a:solidFill>
                  <a:srgbClr val="1B2A41"/>
                </a:solidFill>
                <a:latin typeface="Calibri"/>
              </a:rPr>
              <a:t>an agent is an LLM in a loop, with tools, memory and a goal.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 use — how an LLM presses buttons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1907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55448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63677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You ask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“What's HDFC Bank's price move today, and should I worry about my exposure?”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731520" y="226771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72491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249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56032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642615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chooses a tool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It can't know live prices — so it emits a structured call:  get_price(“HDFCBANK”)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731520" y="327355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373075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30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56616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364845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Your system runs it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The API executes and returns data: ₹1,642 · −3.1% today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1520" y="427939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73659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365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457200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65429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answers with real data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“Down 3.1%. Your 18% position breaches the 15% concentration limit — consider trimming.”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6928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The model never touches the market.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 requests; your code executes under your permissions. This boundary is where all enterprise-AI governance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 types — the classic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4533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Simple reflex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IF condition THEN act. No memory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62763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Price alert: “if NIFTY drops 2%, SMS me.”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368296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32303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Model-based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Keeps an internal picture of the world's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14600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Portfolio tracker that knows holdings &amp; cash in real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19" y="3255263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5" y="3319271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Goal-based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Plans a sequence of actions to hit a target.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401568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Rebalancer: “get me to 60/40 with minimum trades.”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4142231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A6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8216" y="420624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Utility-based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Weighs trade-offs; maximises a score, not just a goal.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88536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Execution agent balancing speed vs market impact vs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5029199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5093207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5 · Learning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9D6EE"/>
                </a:solidFill>
                <a:latin typeface="Calibri"/>
              </a:rPr>
              <a:t>Improves its own policy from feedback over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175503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RL market-maker adjusting quotes from filled-order outcomes.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261872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FINANCE EXAMPLE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Climbing the ladder = more autonomy.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 agents typically operate at goal/utility level — and add language as their interface.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Agentic AI — the ReAct loop and the autonomy dial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THE ReAct LOOP — REASON, ACT, OBSERVE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REASON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“I need FY25 debt figures first”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1720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call tool: fetch balance sheet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44568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74336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7488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“debt ₹1.2 lakh cr — now check maturity”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9864" y="2697480"/>
            <a:ext cx="4572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44398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271016" y="2788920"/>
            <a:ext cx="237744" cy="365760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255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F7113"/>
                </a:solidFill>
                <a:latin typeface="Calibri"/>
              </a:rPr>
              <a:t>repeat until the goal is done — then stop and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6126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96512"/>
            <a:ext cx="5760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makes AI “agentic”</a:t>
            </a:r>
          </a:p>
          <a:p>
            <a:pPr algn="l">
              <a:spcBef>
                <a:spcPts val="7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Autonomy — takes multiple steps without being re-prompted each time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Decomposition — breaks “review the portfolio” into sub-tasks itself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Reflection — checks its own output and retries when it finds errors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Persistence — carries state and memory across the whole task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Bounded — permissions and human sign-off still apply at the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26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5D6B7E"/>
                </a:solidFill>
                <a:latin typeface="Calibri"/>
              </a:rPr>
              <a:t>THE AUTONOMY DIAL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783080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78624" y="1874519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Chatbot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answers questions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862072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53512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Copilot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drafts, you approve each step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941063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4032503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completes tasks, you review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020055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5111495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Multi-agent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teams of agents run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Loops — the engine, and the brakes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350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45919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Reflection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Draft → critique own work → improve → repeat. The agent is its own first reviewer.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A memo agent re-reads its draft, catches an uncited number, fixes it before you ever see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9923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99232"/>
            <a:ext cx="64008" cy="1335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0896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Plan–execute–review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Make a plan → run a step → check reality → re-plan if the world changed.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Mid-task, the data vendor is down — the agent switches to the backup source and continues.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6227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462272"/>
            <a:ext cx="64008" cy="133502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57200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Human-in-the-loop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The loop pauses at defined checkpoints and waits for a person to approve.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The rebalancing agent computes trades, then stops: nothing executes until the PM clicks approve.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536192"/>
            <a:ext cx="4983480" cy="274320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1719072"/>
            <a:ext cx="4526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40">
                <a:solidFill>
                  <a:srgbClr val="C9A227"/>
                </a:solidFill>
                <a:latin typeface="Calibri"/>
              </a:rPr>
              <a:t>THE BRAKES — EVERY LOOP NEEDS A STOP RULE</a:t>
            </a:r>
          </a:p>
          <a:p>
            <a:pPr algn="l">
              <a:spcBef>
                <a:spcPts val="10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Max iterations — “try at most 5 times”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Budget cap — stop at a token / cost / time limit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Confidence gate — unsure? stop and ask, don't guess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Escalation — hand unresolved cases to a human, with a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4434840"/>
            <a:ext cx="4983480" cy="160020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2" y="4434840"/>
            <a:ext cx="452628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Georgia"/>
              </a:rPr>
              <a:t>Desk example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A reconciliation agent retries unmatched trades up to 5 times with different matching rules — then escalates the stubborn breaks to ops with a note on what it tried. It never loops forever.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An unbounded loop is an unbounded bill.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 finance, the stop rules are as important as the loop itself.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Multi-agent systems — a deal team of 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PLANNER — EXECUTOR — CRITIC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PLANNER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splits “value this target” into steps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EXECUTOR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runs each step with tools: data, DCF, comps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4727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CRITIC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F5ECD3"/>
                </a:solidFill>
                <a:latin typeface="Calibri"/>
              </a:rPr>
              <a:t>audits output: “re-check WACC — beta looks stale”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7" y="2834640"/>
            <a:ext cx="4572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64207" y="3172968"/>
            <a:ext cx="5806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572768" y="2907792"/>
            <a:ext cx="237744" cy="310896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101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1">
                <a:solidFill>
                  <a:srgbClr val="8F7113"/>
                </a:solidFill>
                <a:latin typeface="Calibri"/>
              </a:rPr>
              <a:t>critic sends work back until it passes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783080"/>
            <a:ext cx="2743200" cy="17373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192024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Why split roles?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Same reason banks do: focus, checks and balances, auditability.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5020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SPECIALIST TEAM — IC MEMO IN AN AFTERNOON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Research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screens filings, news, transcripts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892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Valuation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builds DCF and comps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7550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Risk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stress-tests, checks limits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6948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Compliance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flags restricted names, MNPI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Writer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assembles the IC memo, cited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8F7113"/>
                </a:solidFill>
                <a:latin typeface="Calibri"/>
              </a:rPr>
              <a:t>Agentic design patterns to remember: </a:t>
            </a:r>
            <a:r>
              <a:rPr sz="1100" b="0" i="0">
                <a:solidFill>
                  <a:srgbClr val="1B2A41"/>
                </a:solidFill>
                <a:latin typeface="Calibri"/>
              </a:rPr>
              <a:t>reflection · tool use · planning · multi-agent collaboration.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Skills — handing the agent your desk manual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77240"/>
          </a:xfrm>
          <a:prstGeom prst="roundRect">
            <a:avLst>
              <a:gd name="adj" fmla="val 9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A skill = a packaged playbook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— instructions, house templates, worked examples and quality checks — that the agent loads only when a task calls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Tools = what it CAN do.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Fetch a price, run Python, query a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395728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395728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Skills = HOW your firm does it.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The house way to write a credit note, section by section.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IC-memo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House format, section order, the tone the committee expects, two gold-standard past memos as examples.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Basel-disclosure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Reg templates, required tables, standard citations, a checklist the output must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Client-review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 structure, compliance-approved phrases, the firm's rules on performance claims.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577840"/>
            <a:ext cx="10582351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onboarding: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tools give the new analyst a Bloomberg login; skills hand them the desk manual. Same agent + better skills = your firm's judgement at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LangChain — the Lego kit for LLM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An open-source framework of pre-built blocks, so developers don't rebuild prompts, retrieval, memory and tool-wiring from scratch every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Models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plug in GPT, Claude, Gemini interchangeably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Prompts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reusable templates with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Retrievers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RAG machinery, ready-made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search, code, APIs, databases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conversation &amp; entity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Chains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glue steps into 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A MINIMAL CHAIN — EARNINGS SUMMARISER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Load transcript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concall PDF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944368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01568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Prompt template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“summarise guidance changes…”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797296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45262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526280"/>
            <a:ext cx="186537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/ GPT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375904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33104" y="452628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526280"/>
            <a:ext cx="26426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Parser → output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clean table for your dashboard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MBA takeaway: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chains are fixed pipelines — great when the steps are known in advance. When the AI must decide the path, you need a graph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LangGraph — when workflows need loops and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From the LangChain team: model your agent as a graph — boxes are steps, arrows are routes, and the system can branch, loop and pause for human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Application 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8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036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Extract 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257800" y="1984248"/>
            <a:ext cx="1554480" cy="118872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258568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2145"/>
                </a:solidFill>
                <a:latin typeface="Calibri"/>
              </a:rPr>
              <a:t>Credit score ≥ cut-off?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0372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33488" y="2148840"/>
            <a:ext cx="196596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181965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Draft sanction letter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02367" y="2148840"/>
            <a:ext cx="192024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19" y="2148840"/>
            <a:ext cx="177393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 approves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pause for sign-off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16712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43600" y="3209544"/>
            <a:ext cx="201168" cy="36576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461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666744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666744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Request documents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then retry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76472" y="4005072"/>
            <a:ext cx="1252728" cy="4572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3675887" y="3108960"/>
            <a:ext cx="237744" cy="941832"/>
          </a:xfrm>
          <a:prstGeom prst="up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4892040"/>
          <a:ext cx="11155680" cy="1499616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3931920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LangChain (chains)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LangGraph (graphs)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Fixed, linear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Branches, loops, retries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Human sign-off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Bolted 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Built-in pause points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Use when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Summarise → format → send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Credit approvals, research agents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Planning an agentic workflow — design before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0078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Map the human workflow first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Shadow the desk: who does what today, where the hours actually go. Automate what you understand.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170078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Define done + the metric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“Drafts the review in 10 min with ≥95% citation accuracy” — not “use AI for portfolios”.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16382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Choose the autonomy level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Draft-only → approve-each-step → auto-run with review. Start low; earn autonomy with track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55080" y="316382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Give it tools &amp; data — least privilege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Only the MCP connectors and documents this task needs. Nothing more.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462686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Add checkpoints &amp; stop rules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Human sign-offs where money or clients are touched; eval gates; loop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62686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Pilot → measure → widen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One desk, four weeks, side-by-side against the human baseline. Scale only what wins.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Golden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workflow is the product; the model is a component. Plan the workflow, then pick the AI.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Putting it together — enterprise AI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72768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8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USERS &amp; WORKFLOW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analyst chat · dashboards · approval queues</a:t>
            </a:r>
          </a:p>
        </p:txBody>
      </p:sp>
      <p:sp>
        <p:nvSpPr>
          <p:cNvPr id="7" name="Up-Down Arrow 6"/>
          <p:cNvSpPr/>
          <p:nvPr/>
        </p:nvSpPr>
        <p:spPr>
          <a:xfrm>
            <a:off x="4663440" y="2368296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05456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96896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AGENT / ORCHESTRATION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LangChain · LangGraph — planning, tools, memory, routing</a:t>
            </a:r>
          </a:p>
        </p:txBody>
      </p:sp>
      <p:sp>
        <p:nvSpPr>
          <p:cNvPr id="10" name="Up-Down Arrow 9"/>
          <p:cNvSpPr/>
          <p:nvPr/>
        </p:nvSpPr>
        <p:spPr>
          <a:xfrm>
            <a:off x="4663440" y="3300984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438144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529584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Claude / GPT / Gemini via API · open models in-house</a:t>
            </a:r>
          </a:p>
        </p:txBody>
      </p:sp>
      <p:sp>
        <p:nvSpPr>
          <p:cNvPr id="13" name="Up-Down Arrow 12"/>
          <p:cNvSpPr/>
          <p:nvPr/>
        </p:nvSpPr>
        <p:spPr>
          <a:xfrm>
            <a:off x="4663440" y="4233672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370832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KNOWLEDGE &amp; TOOLS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RAG: vector DB over filings &amp; policies · market-data APIs · MCP connectors</a:t>
            </a:r>
          </a:p>
        </p:txBody>
      </p:sp>
      <p:sp>
        <p:nvSpPr>
          <p:cNvPr id="16" name="Up-Down Arrow 15"/>
          <p:cNvSpPr/>
          <p:nvPr/>
        </p:nvSpPr>
        <p:spPr>
          <a:xfrm>
            <a:off x="4663440" y="5166360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394960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DATA SOURCES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core banking · risk systems · Bloomberg/Refinitiv · document stores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1572768"/>
            <a:ext cx="2212848" cy="448056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1737360"/>
            <a:ext cx="1828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8F7113"/>
                </a:solidFill>
                <a:latin typeface="Calibri"/>
              </a:rPr>
              <a:t>GOVERNANCE</a:t>
            </a:r>
          </a:p>
          <a:p>
            <a:pPr algn="l">
              <a:spcBef>
                <a:spcPts val="200"/>
              </a:spcBef>
            </a:pPr>
            <a:r>
              <a:rPr sz="900" b="0" i="1">
                <a:solidFill>
                  <a:srgbClr val="5D6B7E"/>
                </a:solidFill>
                <a:latin typeface="Calibri"/>
              </a:rPr>
              <a:t>runs across every layer</a:t>
            </a:r>
          </a:p>
          <a:p>
            <a:pPr algn="l">
              <a:spcBef>
                <a:spcPts val="10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Access control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PII &amp; data privacy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Model risk (SR 11-7)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Audit trails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Human sign-off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Evals &amp;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— Model Context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F7113"/>
                </a:solidFill>
                <a:latin typeface="Georgia"/>
              </a:rPr>
              <a:t>“USB-C for AI.”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open standard so any AI app can plug into any data source or tool — no custom cable per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Open standard introduced by Anthropic (2024), now industry-wide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An MCP server wraps a system (database, CRM, market data) and exposes safe, described actions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AI app (host) discovers what's available and calls it — with your permissions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Servers expose three things: tools (actions), resources (data), prompts (templates)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55448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5472" y="1554480"/>
            <a:ext cx="341985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HOST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· ChatGPT · your agent app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995160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Market-data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prices · curves · news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42248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56448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Internal-DB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positions · limits · P&amp;L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689336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03536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6688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CRM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clients · KYC ·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D6B7E"/>
                </a:solidFill>
                <a:latin typeface="Calibri"/>
              </a:rPr>
              <a:t>the same protocol on every wire — one integration, many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Before MCP: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AI app needed a custom integration to every system (N × M problem). After: build one server per system, use it from every AI app.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in a bank — one analyst agent, every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9:02 AM — you ask:  </a:t>
            </a:r>
            <a:r>
              <a:rPr sz="1200" b="0" i="1">
                <a:solidFill>
                  <a:srgbClr val="FFFFFF"/>
                </a:solidFill>
                <a:latin typeface="Calibri"/>
              </a:rPr>
              <a:t>“Which of my clients are over-exposed to IT stocks after yesterday's fall, and draft the alert emails.”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1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Market-data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pulls yesterday's sector moves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3008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2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Portfolio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scans all client holdings for IT weight &gt; limit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8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37376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3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CRM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fetches affected clients' contacts &amp; mandates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89136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4624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4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Email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drafts personalised alerts — for your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2452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1B2A41"/>
                </a:solidFill>
                <a:latin typeface="Calibri"/>
              </a:rPr>
              <a:t>One conversation. Four systems. Zero copy-paste. The agent orchestrates; every action is logged and the email waits for a human click.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Auditability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every tool call is a logged, permissioned event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Reusability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same servers power every future AI app the bank builds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Safety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gets narrow, described actions — not raw database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Enterprise guardrails — what banks add before go-live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privacy &amp; PII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 data never leaves approved environments; public chatbots are blocked on desks.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29844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Model risk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Fed SR 11-7 / RBI expectations: validate, document and monitor models — LLMs included.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Agents act under the user's entitlements. No agent can see what you can't.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962656"/>
            <a:ext cx="64008" cy="1298448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Human-in-the-loop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Client-facing and money-moving actions require explicit human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Audit trails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Every prompt, retrieval and tool call is logged for compliance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389120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Continuous evals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Automated test suites re-check accuracy and bias every time anything changes.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70448"/>
            <a:ext cx="11094415" cy="530352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870448"/>
            <a:ext cx="10637215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Career note: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“AI governance” roles — model validation, AI risk, AI audit — are among the fastest-growing finance jobs. Your MBA + this vocabulary is the entry ticket.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Where does your data go? The protection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Your document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the confidential filing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84448" y="155448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25054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Encrypted in transit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TLS — unreadable on the wire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45936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03136" y="15544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554480"/>
            <a:ext cx="2688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Bank's private AI tenant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Azure OpenAI · Bedrock · on-prem 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47504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04704" y="15544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56" y="1554480"/>
            <a:ext cx="13167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Answer back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processed in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…and what does NOT happen: your data is not used to train the model, not stored beyond the call, not visible to any other customer (zero-data-retention contracts).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Contract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Zero-data-retention and no-training clauses, data-processing agreements, liability terms — negotiated before a single token flows.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06324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Network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Private endpoints inside the bank's own cloud tenant. Traffic never touches the public internet or the consumer chatbot.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71416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Encryption at rest and in transit; PII masked or redacted before the model ever sees it (“Client A”, not the client's name).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471416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oversight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inherits your entitlements — no more. DLP rules block leaks; every call is logged for audit.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This is why your office blocks public ChatGPT but ships an internal copilot: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same models — different plumbing and paperwork.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Token economics — doing more with fewer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4206240" cy="44805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00784"/>
            <a:ext cx="3703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20">
                <a:solidFill>
                  <a:srgbClr val="C9A227"/>
                </a:solidFill>
                <a:latin typeface="Calibri"/>
              </a:rPr>
              <a:t>THE BILL = TOKENS IN + TOKENS OUT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Naive approach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FFFFFF"/>
                </a:solidFill>
                <a:latin typeface="Georgia"/>
              </a:rPr>
              <a:t>100,000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pasting the full annual report every time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With RAG (retrieve 5 chunks)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C9A227"/>
                </a:solidFill>
                <a:latin typeface="Georgia"/>
              </a:rPr>
              <a:t>3,000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≈ 97% cheaper, and faster to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517904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Retrieve, don't paste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RAG sends only the relevant passages, not the whole library.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94192" y="1517904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Cache the static part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Prompt caching: the unchanging instructions are billed once, cheaply.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3035808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Route by difficulty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Small, cheap model for routine tasks; the big model only for hard 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94192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4192" y="3035808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Summarise once, reuse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Distil the 300-page report one time; query the summary all quarter.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4553712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Cap the output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Ask for 5 bullets, not an essay. Output tokens cost more than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4553712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Batch the non-urgent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Overnight batch processing runs at roughly half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144768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Token optimisation is the new working-capital optimisation — same instinct, different balance sheet.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Evals — the exam papers every AI must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5577840" cy="23774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What's in an eval suite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 golden dataset — 100–1,000 questions with known correct answers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Scoring rules — exact match, rubric, or a second AI as examiner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Pass thresholds — “≥95% accuracy, 100% valid citations”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Run on every change — new model, new prompt, new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41648"/>
            <a:ext cx="5577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41648"/>
            <a:ext cx="6400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041648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Desk example — credit-note agent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200 past credit notes become the answer key. Before any release the agent must score ≥95% on ratio accuracy and 100% on citation validity — or it doesn't 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THE EVAL GATE — HOW AI GOES 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38528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38528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145"/>
                </a:solidFill>
                <a:latin typeface="Calibri"/>
              </a:rPr>
              <a:t>Build / change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new prompt, model, data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75904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8686800" y="1801368"/>
            <a:ext cx="1280160" cy="109728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075688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Eval gate</a:t>
            </a:r>
          </a:p>
          <a:p>
            <a:pPr algn="ctr"/>
            <a:r>
              <a:rPr sz="850" b="0" i="0">
                <a:solidFill>
                  <a:srgbClr val="5C4A0E"/>
                </a:solidFill>
                <a:latin typeface="Calibri"/>
              </a:rPr>
              <a:t>pass?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003536" y="2240280"/>
            <a:ext cx="274320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8" y="192024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14432" y="1938528"/>
            <a:ext cx="132588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87584" y="1938528"/>
            <a:ext cx="117957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Deploy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to the desk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235440" y="2926080"/>
            <a:ext cx="182880" cy="32004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29626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3310128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3310128"/>
            <a:ext cx="177393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Fix &amp; retry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never reaches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14432" y="3310128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3310128"/>
            <a:ext cx="117957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live answers sampled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24528"/>
            <a:ext cx="5212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Failures found in production are added to the golden set — the exam gets harder every quarter.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5138928"/>
            <a:ext cx="5148072" cy="7315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51389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8F7113"/>
                </a:solidFill>
                <a:latin typeface="Calibri"/>
              </a:rPr>
              <a:t>MBA angle: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designing evals is a judgement job, not a coding job — it's model risk &amp; AI governance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6035040"/>
            <a:ext cx="11094415" cy="402336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035040"/>
            <a:ext cx="106372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House rule: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no eval, no deploy — the AI equivalent of “no audit, no accounts.”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the street is building —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JPMorgan Chase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$17B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AI spend, 2025. LLM Suite live for 200K+ employees; IndexGPT research; AI on FICC desks.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17904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Morgan Stanley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100K+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documents behind its GPT-4 advisor copilot — the flagship RAG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95%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of PE firms expected to use AI by 2026; internal coding agents already on the floor.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BloombergGPT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363B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finance tokens trained on — the proof that domain LLMs are worth building.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3785615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Kotak · HDFC · Axis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India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bots, KYC automation, regional-language FinBERT, credit underwriting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Citi · Deutsche · UBS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Basel IV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FRTB capital, SA-CVA and Pillar 3 disclosure pipelines going agentic.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project map — who's building what, by name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60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  <a:gridCol w="580644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JPMorgan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Internal ChatGPT for 200K+ staff; AI-built thematic investment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AI @ MS · Debrief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RAG copilot over research library; meeting notes auto-drafted into the CRM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GS AI Assistant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Firmwide copilot for drafting, summarising and code on the trading floor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Aladdin Copilot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Natural-language layer over the world's largest risk platform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Citi Assist · Stylus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Policy navigator for staff; document summarisation at bank scale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Bloomberg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BloombergGPT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50B-parameter finance-trained LLM inside Terminal workflows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Mastercard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Decision Intelligence Pro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GenAI transaction scoring — fraud detection lifted up to ~300%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HDFC · Kotak · Axis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India AI stack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KYC automation, wealth bots, vernacular FinBERT, credit underwriting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72784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Pattern to notice: every project is a copilot, a RAG library or an agent — exactly the three shapes you learned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II — systems words, now that you know them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846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977639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System prompt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standing instructions a builder gives the 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“You are a credit analyst; never estimate missing data”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Extra training on your own examples to specialise a model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model tuned on 10,000 past credit notes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Fetch the relevant documents, answer only from them,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Policy Q&amp;A over RBI master directions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Fluent, confident, wrong — unsupported output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invented “RBI Circular 2023/114”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+ tools + memory + planning, looping toward a goal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Portfolio-review bot: fetch → compute → draft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traffic control sequencing models, tools and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LangChain chains · LangGraph graphs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standard plug connecting AI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protocol: market data + CRM + risk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hard rule enforced around the model, not by it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“No email leaves without human approval”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Eval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exam paper you run on the AI before and after changes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 known Q&amp;As, scored on every release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Session 1 in nine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GenAI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AI that writes, not just scores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LLM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next-word prediction at colossal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Context window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model's desk — what it can see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Memory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engineered recall across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Hallucination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fluent, confident, wrong — five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RAG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open-book answers from your documents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LLM + tools + memory + planning, in a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5968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LangChain / LangGraph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pipelines vs decision-graphs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MCP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USB-C: one protocol to plug AI into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32120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Lunch · 1 PM — 2 PM.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Return with your laptop charged: at 2 PM sharp we start building.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2 · Build &amp; Apply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Four live builds, one graded group project — AI writes the code, you supply the finance judgement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1 · Trading algos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2 · Backtesting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3:20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3 · Earnings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4 · Portfolio + Basel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Live project briefing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Careers &amp;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2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Trading algo system — momentum &amp; mean reversion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Momentum: what has been rising tends to keep rising — buy strength. Mean reversion: what has stretched too far from its average tends to snap back — fade extremes. Two opposite philosophies; both reduce to precise, testable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Define the rules in plain English (“buy when 20-day return is top decile…”)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 the AI to translate the rules into Python signals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Run on real NIFTY-stock price history in Google Colab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Inspect the trades it would have taken — argue with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working two-strategy signal engine on Indian equities — built from a plain-English prompt, no coding background.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Security Analysis &amp; PM (Sem 2): factor investing, momentum literature, technical vs fundamental debate.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Backtesting — does the strategy actually work?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 backtest replays your rules over history and scores them. Three numbers matter: Sharpe ratio (return per unit of risk), max drawdown (worst peak-to-trough pain), turnover (how much trading — and cost — the strategy needs).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Feed Build 1's signals into a backtest engine the AI writes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Compute Sharpe, max drawdown, turnover, hit rate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Add transaction costs — watch the edge shrink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Torture test: change the period. Does it survive?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backtest report card for both strategies — with an honest verdict on whether you'd fund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Financial Derivatives &amp; Risk Management: risk-adjusted returns, path dependency, why in-sample success lies (overfitting).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Earnings dashboard — reading the concall for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Every quarter, hundreds of pages of earnings calls and press releases land at once. An LLM can read all of it, extract guidance changes, flag tone shifts (FinBERT-style sentiment) and assemble a one-screen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real earnings-call transcript (Indian large-cap)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Prompt: extract guidance, margin drivers, capex, one-liners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Score management tone — positive / cautious / evasive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Assemble an HTML dashboard the AI builds for you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live earnings dashboard for one NIFTY company — transcript to insight in 30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Equity Research (Sem 3): earnings quality, guidance analysis, behavioural finance signals in management language.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Portfolio review + Basel report — RAG goes to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The morning's RAG concept, applied twice: (a) review a model portfolio against an Investment Policy Statement, and (b) draft a Basel-style capital disclosure section from regulation text. Both answer only from the supplied documents, with citations.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sample IPS + portfolio holdings file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 checks allocation, concentration and mandate breaches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Basel III/IV excerpts; prompt a disclosure gap-draft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claim must carry a clause citation — we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An auto-drafted portfolio review memo and a cited Basel disclosure draft — the exact pattern global banks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Wealth Management + Risk Management (Sem 3): IPS discipline, Basel IV / FRTB context, compliance drafting.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GRADED · GROUP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live project — your desk for two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20840" cy="13716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91056"/>
            <a:ext cx="6263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20">
                <a:solidFill>
                  <a:srgbClr val="C9A227"/>
                </a:solidFill>
                <a:latin typeface="Calibri"/>
              </a:rPr>
              <a:t>THE BRIEF</a:t>
            </a:r>
          </a:p>
          <a:p>
            <a:pPr algn="l">
              <a:lnSpc>
                <a:spcPct val="122000"/>
              </a:lnSpc>
              <a:spcBef>
                <a:spcPts val="500"/>
              </a:spcBef>
            </a:pPr>
            <a:r>
              <a:rPr sz="1150" b="0" i="0">
                <a:solidFill>
                  <a:srgbClr val="FFFFFF"/>
                </a:solidFill>
                <a:latin typeface="Calibri"/>
              </a:rPr>
              <a:t>In teams of 4–5, build one AI-powered finance workflow end-to-end and defend it like an IC pitch: problem → build → demo → what broke → what you'd need to deploy it in a real bank.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0906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0 —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09067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Form teams, pick a project from the menu (next slide), get repo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85615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8587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858768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One-page scope note: user, problem, data source, success 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53712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53712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626864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626864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Working demo + 5 test questions it must answer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21807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321807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394959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94959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15-min pitch: live demo, failure analysis, governance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630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GRADING RUBRIC · 100 MARKS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81051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810512"/>
            <a:ext cx="144018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59" y="188366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Working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88366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54203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542032"/>
            <a:ext cx="120015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59" y="261518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Finance judgement &amp;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1518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27355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3273552"/>
            <a:ext cx="96011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59" y="334670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Hallucination &amp; risk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34670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400507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4005072"/>
            <a:ext cx="72009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59" y="407822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Business case &amp; pitch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407822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473659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4736592"/>
            <a:ext cx="48005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59" y="48097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Teamwork &amp; documentation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480974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5504688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59" y="5504688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1B2A41"/>
                </a:solidFill>
                <a:latin typeface="Calibri"/>
              </a:rPr>
              <a:t>Counts toward SCMHRD internal evaluation. Using AI to build is required, not cheating — documenting where it failed earns marks.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PICK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Live project menu — six desks, choose yours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Equity research copilot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3 years of one company's filings + calls; answers with citations; drafts a one-page initiation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EQUITY 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1790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Credit appraisal agent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Reads a borrower's financials, computes ratios, drafts the credit note with covenants and a recommendation.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CORPORATE FINANCE / BANKING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7238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Wealth advisory assistant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IPS-aware chatbot: remembers client profile, checks portfolio drift, drafts the quarterly review letter.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WEALTH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238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Regulatory gap analyser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an RBI master direction vs a bank's policy doc; produces a cited compliance gap table.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RISK /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Deal screener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Agent screens M&amp;A targets on filters, builds comps, drafts a first-cut synergy memo with sources.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M&amp;A &amp; RESTRUCTURING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Treasury FX monitor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Daily agent: pulls FX moves, flags exposures beyond policy bands, drafts the hedging desk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TREASURY &amp; FOREX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217920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19963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Templates, datasets and starter prompts for all six: github.com/tejasgjadhav/SCMHRD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Your toolkit — nothing to install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64207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ChatGPT /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64207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Your reasoning engine. Free tiers are enough for the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19" y="1664207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chat.openai.com ·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33472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33472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32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Google Colab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7432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Python in the browser — the AI writes code, Colab runs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7432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colab.research.google.com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12463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12463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Course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822191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Slides, prompts, datasets, project templates, submission links.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822191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91455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91455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3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Data 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01183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NSE bhavcopy, screener.in exports, company filings, RBI/Basel texts — all public.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901183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House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public data only. No client information, no MNPI, nothing from your internships goes into any AI tool.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AI × Finance careers for an MBA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 Product Manager — banking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Owns an AI product (advisor copilot, credit agent). Translates desk needs into model requirements.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Today's vocabulary is the job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Model risk &amp; AI governance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Validates and audits AI systems for regulators. Scarce, senior-tracked, rising demand.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Hallucination types + SR 11-7 slide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3075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AI-augmented analyst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Equity/credit analyst who ships 3× output using RAG and agents. The near-term default.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Everything you build this afternoon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3075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Fintech / vendor strategy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Builds or sells AI tooling to institutions — solutions, partnerships, product strategy.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MCP &amp; architecture literacy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 stack → placement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BUILD THIS STACK IN THE NEXT 6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37943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Prompt fluency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Use AI daily for coursework — it compounds like any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79191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shipped RAG project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Your live project is exactly this — finish it, host it, demo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3814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38144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2043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Python-with-AI comfort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Not coding from scratch — directing AI in Colab and reading its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7939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79392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61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Governance vocabulary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Model risk, evals, hallucination types, SR 11-7 — interview gold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202936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Demo storytelling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 2-minute pitch of your build: problem, demo, what broke,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2646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WHO HIRES IN INDIA — AND FOR WHAT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55648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755648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1847088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Global bank GCCs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JPMC, GS, MS, Citi, DB in Pune / Bengaluru / Mumbai — AI product, risk analytics, model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798063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798063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0256" y="2889503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Big-4 &amp; consulting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Deloitte, EY, PwC, KPMG, Accenture — AI-in-finance advisory and implementation squads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840479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840479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3931919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Indian banks &amp; NBFCs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Digital units of HDFC, ICICI, Kotak, Axis, Bajaj — copilots, credit agents, wealth bots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82895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882895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4974335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Fintechs &amp; vendors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Zerodha to Bloomberg — product, strategy and customer-facing AI roles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61888"/>
            <a:ext cx="11094415" cy="420624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5961888"/>
            <a:ext cx="1063721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In the interview, don't say “I know AI.”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Say: “I built a RAG compliance checker — here's the demo, here's where it hallucinated, here's how I fixed it.”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PLACEMENTS · 2026 SEASON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 campus at SCMHRD — recruiters and their AI bets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109960" cy="477774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423160"/>
                <a:gridCol w="3154680"/>
                <a:gridCol w="55321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Campus recruiter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JPMorgan Chase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Internal GPT for 200K+ staff; AI research and thematic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GS AI Assistant · Devin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Firmwide copilot; autonomous coding agents on the floor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Barclays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Colleague AI (Copilot)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100,000-seat AI assistant rollout across the bank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HSBC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Markets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analytics powering FX and rates execution for clients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Standard Chartered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SC 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In-house GPT rolled out to staff across its markets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DBS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DBS-GPT · CSO Assistant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Asia's AI-first bank — hundreds of models, firmwide GenAI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HDFC Bank · Kotak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EVA · Kai + credit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Customer bots, KYC automation, AI-assisted underwriting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CRISIL · CareEdge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GenAI research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AI-assisted ratings notes, sector research and analytics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NPCI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UPI fraud AI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Real-time fraud scoring across billions of UPI transactions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Bain · Big-4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Sage · Zora · EYQ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AI consulting squads — among the largest MBA hirers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110+ companies came to campus in the 2026 season. Every finance name on this list has a live AI programme — walk in able to talk about theirs.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KEEP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After today — a 30-day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645920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Re-run all four builds solo. Change one assumption in each; watch what breaks.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688336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688336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Ship your project scope note. Read one bank AI case study (Morgan Stanley RAG is the classic).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39311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639311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730751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730751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Working demo. Add one guardrail: citations, “I don't know”, or a human-approval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81727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81727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773167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73167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Pitch. Then put the demo on your CV with metrics — “built a RAG compliance tool, 90% citation accuracy”.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155448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155448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220">
                <a:solidFill>
                  <a:srgbClr val="C9A227"/>
                </a:solidFill>
                <a:latin typeface="Calibri"/>
              </a:rPr>
              <a:t>READING LIST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Anthropic — “Building effective agents”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DeepLearning.AI — short courses on RAG &amp; LangChain (free)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BloombergGPT paper — skim the use cases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Morgan Stanley × OpenAI case study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RBI &amp; BIS papers on AI in banking</a:t>
            </a:r>
          </a:p>
          <a:p>
            <a:pPr algn="l">
              <a:spcBef>
                <a:spcPts val="16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All linked in the course repo.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AI IN FINANCE INTENSIVE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Build the thing. Question the output.</a:t>
            </a:r>
          </a:p>
          <a:p>
            <a:pPr algn="l">
              <a:spcBef>
                <a:spcPts val="1000"/>
              </a:spcBef>
            </a:pPr>
            <a:r>
              <a:rPr sz="1500" b="0" i="1">
                <a:solidFill>
                  <a:srgbClr val="C9D6EE"/>
                </a:solidFill>
                <a:latin typeface="Calibri"/>
              </a:rPr>
              <a:t>AI won't replace finance professionals — finance professionals who use AI will replace those who don't.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49377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5943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AI in Finance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Slides, prompts, datasets &amp; project templates live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0624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C9A227"/>
                </a:solidFill>
                <a:latin typeface="Calibri"/>
              </a:rPr>
              <a:t>YOUR NEXT STEP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Form your team before you leave the room. Scope note due Day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CLOSE  · 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