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1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57055" y="0"/>
            <a:ext cx="2834640" cy="6858000"/>
          </a:xfrm>
          <a:prstGeom prst="rect">
            <a:avLst/>
          </a:prstGeom>
          <a:solidFill>
            <a:srgbClr val="0B1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57055" y="0"/>
            <a:ext cx="41148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C9A227"/>
                </a:solidFill>
                <a:latin typeface="Calibri"/>
              </a:rPr>
              <a:t>SCMHRD · MBA FINANCE · SEMESTER 3 · ONE-DAY INTENSIVE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5953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Georgia"/>
              </a:rPr>
              <a:t>AI in Finance</a:t>
            </a:r>
          </a:p>
          <a:p>
            <a:pPr algn="l">
              <a:spcBef>
                <a:spcPts val="1000"/>
              </a:spcBef>
            </a:pPr>
            <a:r>
              <a:rPr sz="1900" b="0" i="1">
                <a:solidFill>
                  <a:srgbClr val="C9D6EE"/>
                </a:solidFill>
                <a:latin typeface="Georgia"/>
              </a:rPr>
              <a:t>From LLMs to Agentic AI — concepts, systems and four live builds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13632"/>
            <a:ext cx="4023360" cy="10972"/>
          </a:xfrm>
          <a:prstGeom prst="rect">
            <a:avLst/>
          </a:prstGeom>
          <a:solidFill>
            <a:srgbClr val="335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33087"/>
            <a:ext cx="8229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Tejas Jadhav, CFA, FRM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8FA1C4"/>
                </a:solidFill>
                <a:latin typeface="Calibri"/>
              </a:rPr>
              <a:t>Guest Faculty · Curated with Dr. Dipasha Sharma, SCMHRD</a:t>
            </a:r>
          </a:p>
          <a:p>
            <a:pPr algn="l">
              <a:spcBef>
                <a:spcPts val="1000"/>
              </a:spcBef>
            </a:pPr>
            <a:r>
              <a:rPr sz="1200" b="1" i="0">
                <a:solidFill>
                  <a:srgbClr val="C9A227"/>
                </a:solidFill>
                <a:latin typeface="Calibri"/>
              </a:rPr>
              <a:t>github.com/tejasgjadhav/SCMHRD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9663" y="85039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C9A227"/>
                </a:solidFill>
                <a:latin typeface="Calibri"/>
              </a:rPr>
              <a:t>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9663" y="1234440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10 AM – 1 PM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50" b="0" i="0">
                <a:solidFill>
                  <a:srgbClr val="8FA1C4"/>
                </a:solidFill>
                <a:latin typeface="Calibri"/>
              </a:rPr>
              <a:t>Foundations: AI, GenAI,
Agents &amp; Enterprise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9663" y="2651760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2 PM – 5 PM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50" b="0" i="0">
                <a:solidFill>
                  <a:srgbClr val="8FA1C4"/>
                </a:solidFill>
                <a:latin typeface="Calibri"/>
              </a:rPr>
              <a:t>Finance applications,
four live builds +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9663" y="4206240"/>
            <a:ext cx="22860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C9A227"/>
                </a:solidFill>
                <a:latin typeface="Georgia"/>
              </a:rPr>
              <a:t>4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50" b="0" i="0" spc="150">
                <a:solidFill>
                  <a:srgbClr val="8FA1C4"/>
                </a:solidFill>
                <a:latin typeface="Calibri"/>
              </a:rPr>
              <a:t>LIVE BUILDS SHIPPED
BEFORE 5 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8FA1C4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8FA1C4"/>
                </a:solidFill>
                <a:latin typeface="Calibri"/>
              </a:rPr>
              <a:t>WELCOME  ·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50">
                <a:solidFill>
                  <a:srgbClr val="C9A227"/>
                </a:solidFill>
                <a:latin typeface="Calibri"/>
              </a:rPr>
              <a:t>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F2145"/>
                </a:solidFill>
                <a:latin typeface="Georgia"/>
              </a:rPr>
              <a:t>One day. Two slots. Zero coding background assumed.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5440680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5440680" cy="713232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50">
                <a:solidFill>
                  <a:srgbClr val="FFFFFF"/>
                </a:solidFill>
                <a:latin typeface="Calibri"/>
              </a:rPr>
              <a:t>SLOT 1 · FOUNDATIONS</a:t>
            </a:r>
            <a:r>
              <a:rPr sz="1200" b="0" i="0">
                <a:solidFill>
                  <a:srgbClr val="F5ECD3"/>
                </a:solidFill>
                <a:latin typeface="Calibri"/>
              </a:rPr>
              <a:t>    10 AM – 1 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414016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2145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1B2A41"/>
                </a:solidFill>
                <a:latin typeface="Calibri"/>
              </a:rPr>
              <a:t>AI, Machine Learning and Generative AI — from zero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980944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2145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1B2A41"/>
                </a:solidFill>
                <a:latin typeface="Calibri"/>
              </a:rPr>
              <a:t>LLMs: how they actually work (no maths needed)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547872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2145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1B2A41"/>
                </a:solidFill>
                <a:latin typeface="Calibri"/>
              </a:rPr>
              <a:t>Prompting, context windows and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411480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2145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1B2A41"/>
                </a:solidFill>
                <a:latin typeface="Calibri"/>
              </a:rPr>
              <a:t>Hallucinations — the types that hurt in finance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681728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2145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1B2A41"/>
                </a:solidFill>
                <a:latin typeface="Calibri"/>
              </a:rPr>
              <a:t>RAG: making AI answer from your documents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248656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2145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1B2A41"/>
                </a:solidFill>
                <a:latin typeface="Calibri"/>
              </a:rPr>
              <a:t>Agents &amp; Agentic AI · LangChain · LangGraph · MCP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481328"/>
            <a:ext cx="5440680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81328"/>
            <a:ext cx="5440680" cy="713232"/>
          </a:xfrm>
          <a:prstGeom prst="rect">
            <a:avLst/>
          </a:prstGeom>
          <a:solidFill>
            <a:srgbClr val="8F7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1591056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50">
                <a:solidFill>
                  <a:srgbClr val="FFFFFF"/>
                </a:solidFill>
                <a:latin typeface="Calibri"/>
              </a:rPr>
              <a:t>SLOT 2 · BUILD &amp; APPLY</a:t>
            </a:r>
            <a:r>
              <a:rPr sz="1200" b="0" i="0">
                <a:solidFill>
                  <a:srgbClr val="FFF7DE"/>
                </a:solidFill>
                <a:latin typeface="Calibri"/>
              </a:rPr>
              <a:t>    2 PM – 5 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414016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1B2A41"/>
                </a:solidFill>
                <a:latin typeface="Calibri"/>
              </a:rPr>
              <a:t>Build 1 — Trading algo system (momentum, mean reversion)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980944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1B2A41"/>
                </a:solidFill>
                <a:latin typeface="Calibri"/>
              </a:rPr>
              <a:t>Build 2 — Backtesting engine (Sharpe, drawdown)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547872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1B2A41"/>
                </a:solidFill>
                <a:latin typeface="Calibri"/>
              </a:rPr>
              <a:t>Build 3 — Earnings-call dashboard with sentiment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411480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1B2A41"/>
                </a:solidFill>
                <a:latin typeface="Calibri"/>
              </a:rPr>
              <a:t>Build 4 — Portfolio review + Basel report via RAG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4681728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1B2A41"/>
                </a:solidFill>
                <a:latin typeface="Calibri"/>
              </a:rPr>
              <a:t>Live project — graded group assignment briefing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5248656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1B2A41"/>
                </a:solidFill>
                <a:latin typeface="Calibri"/>
              </a:rPr>
              <a:t>AI-finance careers + Q&amp;A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9963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1">
                <a:solidFill>
                  <a:srgbClr val="5D6B7E"/>
                </a:solidFill>
                <a:latin typeface="Calibri"/>
              </a:rPr>
              <a:t>Morning = concepts with finance use cases. Afternoon = you build, in groups, with AI doing the coding for you.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D6B7E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5D6B7E"/>
                </a:solidFill>
                <a:latin typeface="Calibri"/>
              </a:rPr>
              <a:t>DAY MAP  ·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1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143000"/>
            <a:ext cx="29260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 i="0">
                <a:solidFill>
                  <a:srgbClr val="C9A227"/>
                </a:solidFill>
                <a:latin typeface="Georg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8892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Session 1 · Foundations</a:t>
            </a:r>
          </a:p>
          <a:p>
            <a:pPr algn="l">
              <a:spcBef>
                <a:spcPts val="800"/>
              </a:spcBef>
            </a:pPr>
            <a:r>
              <a:rPr sz="1600" b="0" i="0">
                <a:solidFill>
                  <a:srgbClr val="C9D6EE"/>
                </a:solidFill>
                <a:latin typeface="Calibri"/>
              </a:rPr>
              <a:t>AI → Generative AI → LLMs → Agents → Agentic AI → Enterprise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343400"/>
            <a:ext cx="10058400" cy="10972"/>
          </a:xfrm>
          <a:prstGeom prst="rect">
            <a:avLst/>
          </a:prstGeom>
          <a:solidFill>
            <a:srgbClr val="335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61772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10:00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000" b="0" i="0">
                <a:solidFill>
                  <a:srgbClr val="8FA1C4"/>
                </a:solidFill>
                <a:latin typeface="Calibri"/>
              </a:rPr>
              <a:t>AI &amp; GenAI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5728" y="461772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10:45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000" b="0" i="0">
                <a:solidFill>
                  <a:srgbClr val="8FA1C4"/>
                </a:solidFill>
                <a:latin typeface="Calibri"/>
              </a:rPr>
              <a:t>Prompts · context ·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2816" y="461772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11:15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000" b="0" i="0">
                <a:solidFill>
                  <a:srgbClr val="8FA1C4"/>
                </a:solidFill>
                <a:latin typeface="Calibri"/>
              </a:rPr>
              <a:t>Hallucinations &amp; 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9904" y="461772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11:55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000" b="0" i="0">
                <a:solidFill>
                  <a:srgbClr val="8FA1C4"/>
                </a:solidFill>
                <a:latin typeface="Calibri"/>
              </a:rPr>
              <a:t>Agents &amp; Agentic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36992" y="461772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12:30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000" b="0" i="0">
                <a:solidFill>
                  <a:srgbClr val="8FA1C4"/>
                </a:solidFill>
                <a:latin typeface="Calibri"/>
              </a:rPr>
              <a:t>LangChain · LangGraph · MCP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461772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12:50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000" b="0" i="0">
                <a:solidFill>
                  <a:srgbClr val="8FA1C4"/>
                </a:solidFill>
                <a:latin typeface="Calibri"/>
              </a:rPr>
              <a:t>Recap &amp; live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8FA1C4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8FA1C4"/>
                </a:solidFill>
                <a:latin typeface="Calibri"/>
              </a:rPr>
              <a:t>SESSION 1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50">
                <a:solidFill>
                  <a:srgbClr val="C9A227"/>
                </a:solidFill>
                <a:latin typeface="Calibri"/>
              </a:rPr>
              <a:t>BLOCK A ·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F2145"/>
                </a:solidFill>
                <a:latin typeface="Georgia"/>
              </a:rPr>
              <a:t>What is AI? Four nested ideas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577840" cy="4480560"/>
          </a:xfrm>
          <a:prstGeom prst="roundRect">
            <a:avLst>
              <a:gd name="adj" fmla="val 5000"/>
            </a:avLst>
          </a:prstGeom>
          <a:solidFill>
            <a:srgbClr val="E9EFF8"/>
          </a:solidFill>
          <a:ln w="9525">
            <a:solidFill>
              <a:srgbClr val="3A5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36776"/>
            <a:ext cx="5166359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0F2145"/>
                </a:solidFill>
                <a:latin typeface="Calibri"/>
              </a:rPr>
              <a:t>ARTIFICIAL INTELLIGENCE</a:t>
            </a:r>
          </a:p>
          <a:p>
            <a:pPr algn="l">
              <a:spcBef>
                <a:spcPts val="100"/>
              </a:spcBef>
            </a:pPr>
            <a:r>
              <a:rPr sz="950" b="0" i="0">
                <a:solidFill>
                  <a:srgbClr val="5D6B7E"/>
                </a:solidFill>
                <a:latin typeface="Calibri"/>
              </a:rPr>
              <a:t>Any software that mimics human judgement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2249424"/>
            <a:ext cx="5065775" cy="3639312"/>
          </a:xfrm>
          <a:prstGeom prst="roundRect">
            <a:avLst>
              <a:gd name="adj" fmla="val 5000"/>
            </a:avLst>
          </a:prstGeom>
          <a:solidFill>
            <a:srgbClr val="D5E1F2"/>
          </a:solidFill>
          <a:ln w="9525">
            <a:solidFill>
              <a:srgbClr val="3A5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331720"/>
            <a:ext cx="4654295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0F2145"/>
                </a:solidFill>
                <a:latin typeface="Calibri"/>
              </a:rPr>
              <a:t>MACHINE LEARNING</a:t>
            </a:r>
          </a:p>
          <a:p>
            <a:pPr algn="l">
              <a:spcBef>
                <a:spcPts val="100"/>
              </a:spcBef>
            </a:pPr>
            <a:r>
              <a:rPr sz="950" b="0" i="0">
                <a:solidFill>
                  <a:srgbClr val="5D6B7E"/>
                </a:solidFill>
                <a:latin typeface="Calibri"/>
              </a:rPr>
              <a:t>Learns rules from data instead of being programmed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0704" y="2944368"/>
            <a:ext cx="4553712" cy="2798064"/>
          </a:xfrm>
          <a:prstGeom prst="roundRect">
            <a:avLst>
              <a:gd name="adj" fmla="val 5000"/>
            </a:avLst>
          </a:prstGeom>
          <a:solidFill>
            <a:srgbClr val="BFD2EC"/>
          </a:solidFill>
          <a:ln w="9525">
            <a:solidFill>
              <a:srgbClr val="3A5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026663"/>
            <a:ext cx="4142231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0F2145"/>
                </a:solidFill>
                <a:latin typeface="Calibri"/>
              </a:rPr>
              <a:t>DEEP LEARNING</a:t>
            </a:r>
          </a:p>
          <a:p>
            <a:pPr algn="l">
              <a:spcBef>
                <a:spcPts val="100"/>
              </a:spcBef>
            </a:pPr>
            <a:r>
              <a:rPr sz="950" b="0" i="0">
                <a:solidFill>
                  <a:srgbClr val="5D6B7E"/>
                </a:solidFill>
                <a:latin typeface="Calibri"/>
              </a:rPr>
              <a:t>Neural networks — learns from raw text, images, sound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16736" y="3639312"/>
            <a:ext cx="4041648" cy="1956816"/>
          </a:xfrm>
          <a:prstGeom prst="roundRect">
            <a:avLst>
              <a:gd name="adj" fmla="val 5000"/>
            </a:avLst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36192" y="3721608"/>
            <a:ext cx="363016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FFFFFF"/>
                </a:solidFill>
                <a:latin typeface="Calibri"/>
              </a:rPr>
              <a:t>GENERATIVE AI · LLMs</a:t>
            </a:r>
          </a:p>
          <a:p>
            <a:pPr algn="l">
              <a:spcBef>
                <a:spcPts val="100"/>
              </a:spcBef>
            </a:pPr>
            <a:r>
              <a:rPr sz="950" b="0" i="0">
                <a:solidFill>
                  <a:srgbClr val="C9D6EE"/>
                </a:solidFill>
                <a:latin typeface="Calibri"/>
              </a:rPr>
              <a:t>Creates new text, code and analysis — ChatGPT, Claude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554480"/>
            <a:ext cx="512064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1554480"/>
            <a:ext cx="64008" cy="1024128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11696" y="1700784"/>
            <a:ext cx="4754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Georgia"/>
              </a:rPr>
              <a:t>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1696" y="2084831"/>
            <a:ext cx="473659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D6B7E"/>
                </a:solidFill>
                <a:latin typeface="Calibri"/>
              </a:rPr>
              <a:t>The umbrella. Rules, logic, prediction — e.g. a loan-eligibility rule engine.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706624"/>
            <a:ext cx="512064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2706624"/>
            <a:ext cx="64008" cy="1024128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11696" y="2852928"/>
            <a:ext cx="4754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Georgia"/>
              </a:rPr>
              <a:t>Machine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1696" y="3236976"/>
            <a:ext cx="4736592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D6B7E"/>
                </a:solidFill>
                <a:latin typeface="Calibri"/>
              </a:rPr>
              <a:t>Show it 1 lakh past loans; it learns which borrowers default. No rules hand-written.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858768"/>
            <a:ext cx="512064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92240" y="3858768"/>
            <a:ext cx="64008" cy="1024128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4005072"/>
            <a:ext cx="4754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Georgia"/>
              </a:rPr>
              <a:t>Deep 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1696" y="4389120"/>
            <a:ext cx="4736592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D6B7E"/>
                </a:solidFill>
                <a:latin typeface="Calibri"/>
              </a:rPr>
              <a:t>ML with many-layered neural networks. Powers fraud detection, face-KYC, speech.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5010912"/>
            <a:ext cx="512064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92240" y="5010912"/>
            <a:ext cx="64008" cy="10241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11696" y="5157216"/>
            <a:ext cx="4754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Georgia"/>
              </a:rPr>
              <a:t>Generative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11696" y="5541264"/>
            <a:ext cx="4736592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D6B7E"/>
                </a:solidFill>
                <a:latin typeface="Calibri"/>
              </a:rPr>
              <a:t>Doesn't just score or classify — it writes. Research notes, memos, code, emails.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D6B7E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5D6B7E"/>
                </a:solidFill>
                <a:latin typeface="Calibri"/>
              </a:rPr>
              <a:t>SESSION 1  ·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50">
                <a:solidFill>
                  <a:srgbClr val="C9A227"/>
                </a:solidFill>
                <a:latin typeface="Calibri"/>
              </a:rPr>
              <a:t>BLOCK A ·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F2145"/>
                </a:solidFill>
                <a:latin typeface="Georgia"/>
              </a:rPr>
              <a:t>How machines learn — three flavours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36118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611880" cy="8229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810512"/>
            <a:ext cx="315468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80">
                <a:solidFill>
                  <a:srgbClr val="3A5C9E"/>
                </a:solidFill>
                <a:latin typeface="Calibri"/>
              </a:rPr>
              <a:t>LEARN FROM LABELLED HISTORY</a:t>
            </a:r>
          </a:p>
          <a:p>
            <a:pPr algn="l">
              <a:spcBef>
                <a:spcPts val="600"/>
              </a:spcBef>
            </a:pPr>
            <a:r>
              <a:rPr sz="1700" b="1" i="0">
                <a:solidFill>
                  <a:srgbClr val="0F2145"/>
                </a:solidFill>
                <a:latin typeface="Georgia"/>
              </a:rPr>
              <a:t>Supervised learning</a:t>
            </a:r>
          </a:p>
          <a:p>
            <a:pPr algn="l">
              <a:lnSpc>
                <a:spcPct val="128000"/>
              </a:lnSpc>
              <a:spcBef>
                <a:spcPts val="1400"/>
              </a:spcBef>
            </a:pPr>
            <a:r>
              <a:rPr sz="1250" b="0" i="0">
                <a:solidFill>
                  <a:srgbClr val="1B2A41"/>
                </a:solidFill>
                <a:latin typeface="Calibri"/>
              </a:rPr>
              <a:t>Feed it past data with answers attached: loans → defaulted / repaid.</a:t>
            </a:r>
          </a:p>
          <a:p>
            <a:pPr algn="l">
              <a:lnSpc>
                <a:spcPct val="128000"/>
              </a:lnSpc>
              <a:spcBef>
                <a:spcPts val="1600"/>
              </a:spcBef>
            </a:pPr>
            <a:r>
              <a:rPr sz="1200" b="0" i="1">
                <a:solidFill>
                  <a:srgbClr val="5D6B7E"/>
                </a:solidFill>
                <a:latin typeface="Calibri"/>
              </a:rPr>
              <a:t>Finance: credit scoring, fraud flags, house-price models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5968" y="1554480"/>
            <a:ext cx="36118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15968" y="1554480"/>
            <a:ext cx="361188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810512"/>
            <a:ext cx="315468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80">
                <a:solidFill>
                  <a:srgbClr val="8F7113"/>
                </a:solidFill>
                <a:latin typeface="Calibri"/>
              </a:rPr>
              <a:t>FIND HIDDEN STRUCTURE</a:t>
            </a:r>
          </a:p>
          <a:p>
            <a:pPr algn="l">
              <a:spcBef>
                <a:spcPts val="600"/>
              </a:spcBef>
            </a:pPr>
            <a:r>
              <a:rPr sz="1700" b="1" i="0">
                <a:solidFill>
                  <a:srgbClr val="0F2145"/>
                </a:solidFill>
                <a:latin typeface="Georgia"/>
              </a:rPr>
              <a:t>Unsupervised learning</a:t>
            </a:r>
          </a:p>
          <a:p>
            <a:pPr algn="l">
              <a:lnSpc>
                <a:spcPct val="128000"/>
              </a:lnSpc>
              <a:spcBef>
                <a:spcPts val="1400"/>
              </a:spcBef>
            </a:pPr>
            <a:r>
              <a:rPr sz="1250" b="0" i="0">
                <a:solidFill>
                  <a:srgbClr val="1B2A41"/>
                </a:solidFill>
                <a:latin typeface="Calibri"/>
              </a:rPr>
              <a:t>No answers given. The model groups similar things on its own.</a:t>
            </a:r>
          </a:p>
          <a:p>
            <a:pPr algn="l">
              <a:lnSpc>
                <a:spcPct val="128000"/>
              </a:lnSpc>
              <a:spcBef>
                <a:spcPts val="1600"/>
              </a:spcBef>
            </a:pPr>
            <a:r>
              <a:rPr sz="1200" b="0" i="1">
                <a:solidFill>
                  <a:srgbClr val="5D6B7E"/>
                </a:solidFill>
                <a:latin typeface="Calibri"/>
              </a:rPr>
              <a:t>Finance: customer segmentation, anomaly detection in transactions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83296" y="1554480"/>
            <a:ext cx="36118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83296" y="1554480"/>
            <a:ext cx="3611880" cy="82296"/>
          </a:xfrm>
          <a:prstGeom prst="rect">
            <a:avLst/>
          </a:prstGeom>
          <a:solidFill>
            <a:srgbClr val="2F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810512"/>
            <a:ext cx="315468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80">
                <a:solidFill>
                  <a:srgbClr val="2F7D5B"/>
                </a:solidFill>
                <a:latin typeface="Calibri"/>
              </a:rPr>
              <a:t>LEARN BY TRIAL &amp; REWARD</a:t>
            </a:r>
          </a:p>
          <a:p>
            <a:pPr algn="l">
              <a:spcBef>
                <a:spcPts val="600"/>
              </a:spcBef>
            </a:pPr>
            <a:r>
              <a:rPr sz="1700" b="1" i="0">
                <a:solidFill>
                  <a:srgbClr val="0F2145"/>
                </a:solidFill>
                <a:latin typeface="Georgia"/>
              </a:rPr>
              <a:t>Reinforcement learning</a:t>
            </a:r>
          </a:p>
          <a:p>
            <a:pPr algn="l">
              <a:lnSpc>
                <a:spcPct val="128000"/>
              </a:lnSpc>
              <a:spcBef>
                <a:spcPts val="1400"/>
              </a:spcBef>
            </a:pPr>
            <a:r>
              <a:rPr sz="1250" b="0" i="0">
                <a:solidFill>
                  <a:srgbClr val="1B2A41"/>
                </a:solidFill>
                <a:latin typeface="Calibri"/>
              </a:rPr>
              <a:t>An agent tries actions, gets rewards or penalties, improves over time.</a:t>
            </a:r>
          </a:p>
          <a:p>
            <a:pPr algn="l">
              <a:lnSpc>
                <a:spcPct val="128000"/>
              </a:lnSpc>
              <a:spcBef>
                <a:spcPts val="1600"/>
              </a:spcBef>
            </a:pPr>
            <a:r>
              <a:rPr sz="1200" b="0" i="1">
                <a:solidFill>
                  <a:srgbClr val="5D6B7E"/>
                </a:solidFill>
                <a:latin typeface="Calibri"/>
              </a:rPr>
              <a:t>Finance: order execution, market-making, dynamic hedging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102352"/>
            <a:ext cx="11094415" cy="868680"/>
          </a:xfrm>
          <a:prstGeom prst="roundRect">
            <a:avLst>
              <a:gd name="adj" fmla="val 12000"/>
            </a:avLst>
          </a:prstGeom>
          <a:solidFill>
            <a:srgbClr val="F5E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5102352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8F7113"/>
                </a:solidFill>
                <a:latin typeface="Calibri"/>
              </a:rPr>
              <a:t>Key intuition:  </a:t>
            </a:r>
            <a:r>
              <a:rPr sz="1250" b="0" i="0">
                <a:solidFill>
                  <a:srgbClr val="1B2A41"/>
                </a:solidFill>
                <a:latin typeface="Calibri"/>
              </a:rPr>
              <a:t>classical ML predicts a number or a label. Generative AI produces language. LLMs are deep learning applied to one task — predicting the next word — at colossal scale.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D6B7E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5D6B7E"/>
                </a:solidFill>
                <a:latin typeface="Calibri"/>
              </a:rPr>
              <a:t>SESSION 1  ·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50">
                <a:solidFill>
                  <a:srgbClr val="C9A227"/>
                </a:solidFill>
                <a:latin typeface="Calibri"/>
              </a:rPr>
              <a:t>BLOCK A ·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F2145"/>
                </a:solidFill>
                <a:latin typeface="Georgia"/>
              </a:rPr>
              <a:t>Predictive AI vs Generative AI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72768"/>
          <a:ext cx="11064240" cy="2743200"/>
        </p:xfrm>
        <a:graphic>
          <a:graphicData uri="http://schemas.openxmlformats.org/drawingml/2006/table">
            <a:tbl firstRow="1" bandRow="0">
              <a:tblPr firstRow="1" bandRow="1">
                <a:tableStyleId>{5C22544A-7EE6-4342-B048-85BDC9FD1C3A}</a:tableStyleId>
              </a:tblPr>
              <a:tblGrid>
                <a:gridCol w="2286000"/>
                <a:gridCol w="4389120"/>
                <a:gridCol w="43891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73152" marT="36576" marB="36576" anchor="ctr">
                    <a:solidFill>
                      <a:srgbClr val="0F21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Predictive (classical) AI</a:t>
                      </a:r>
                    </a:p>
                  </a:txBody>
                  <a:tcPr marL="91440" marR="73152" marT="36576" marB="36576" anchor="ctr">
                    <a:solidFill>
                      <a:srgbClr val="0F21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Generative AI</a:t>
                      </a:r>
                    </a:p>
                  </a:txBody>
                  <a:tcPr marL="91440" marR="73152" marT="36576" marB="36576" anchor="ctr">
                    <a:solidFill>
                      <a:srgbClr val="0F21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2145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B2A41"/>
                          </a:solidFill>
                          <a:latin typeface="Calibri"/>
                        </a:rPr>
                        <a:t>A number, score or label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B2A41"/>
                          </a:solidFill>
                          <a:latin typeface="Calibri"/>
                        </a:rPr>
                        <a:t>New content — text, tables, code, memos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2145"/>
                          </a:solidFill>
                          <a:latin typeface="Calibri"/>
                        </a:rPr>
                        <a:t>Question it answers</a:t>
                      </a:r>
                    </a:p>
                  </a:txBody>
                  <a:tcPr marL="91440" marR="73152" marT="36576" marB="36576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B2A41"/>
                          </a:solidFill>
                          <a:latin typeface="Calibri"/>
                        </a:rPr>
                        <a:t>“Will this borrower default?”</a:t>
                      </a:r>
                    </a:p>
                  </a:txBody>
                  <a:tcPr marL="91440" marR="73152" marT="36576" marB="36576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B2A41"/>
                          </a:solidFill>
                          <a:latin typeface="Calibri"/>
                        </a:rPr>
                        <a:t>“Draft the credit appraisal note.”</a:t>
                      </a:r>
                    </a:p>
                  </a:txBody>
                  <a:tcPr marL="91440" marR="73152" marT="36576" marB="36576" anchor="ctr">
                    <a:solidFill>
                      <a:srgbClr val="F1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2145"/>
                          </a:solidFill>
                          <a:latin typeface="Calibri"/>
                        </a:rPr>
                        <a:t>Data needed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B2A41"/>
                          </a:solidFill>
                          <a:latin typeface="Calibri"/>
                        </a:rPr>
                        <a:t>Structured (spreadsheets, ledgers)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B2A41"/>
                          </a:solidFill>
                          <a:latin typeface="Calibri"/>
                        </a:rPr>
                        <a:t>Unstructured too (filings, calls, news)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2145"/>
                          </a:solidFill>
                          <a:latin typeface="Calibri"/>
                        </a:rPr>
                        <a:t>Typical desk use</a:t>
                      </a:r>
                    </a:p>
                  </a:txBody>
                  <a:tcPr marL="91440" marR="73152" marT="36576" marB="36576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B2A41"/>
                          </a:solidFill>
                          <a:latin typeface="Calibri"/>
                        </a:rPr>
                        <a:t>Fraud scores, ratings, forecasts</a:t>
                      </a:r>
                    </a:p>
                  </a:txBody>
                  <a:tcPr marL="91440" marR="73152" marT="36576" marB="36576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B2A41"/>
                          </a:solidFill>
                          <a:latin typeface="Calibri"/>
                        </a:rPr>
                        <a:t>Research summaries, IC memos, emails</a:t>
                      </a:r>
                    </a:p>
                  </a:txBody>
                  <a:tcPr marL="91440" marR="73152" marT="36576" marB="36576" anchor="ctr">
                    <a:solidFill>
                      <a:srgbClr val="F1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2145"/>
                          </a:solidFill>
                          <a:latin typeface="Calibri"/>
                        </a:rPr>
                        <a:t>Failure mode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B2A41"/>
                          </a:solidFill>
                          <a:latin typeface="Calibri"/>
                        </a:rPr>
                        <a:t>Wrong number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B2A41"/>
                          </a:solidFill>
                          <a:latin typeface="Calibri"/>
                        </a:rPr>
                        <a:t>Confident, fluent nonsense (hallucination)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553712"/>
            <a:ext cx="11094415" cy="1417320"/>
          </a:xfrm>
          <a:prstGeom prst="roundRect">
            <a:avLst>
              <a:gd name="adj" fmla="val 9000"/>
            </a:avLst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4700016"/>
            <a:ext cx="1054577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Georgia"/>
              </a:rPr>
              <a:t>Why an MBA should care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1150" b="0" i="0">
                <a:solidFill>
                  <a:srgbClr val="1B2A41"/>
                </a:solidFill>
                <a:latin typeface="Calibri"/>
              </a:rPr>
              <a:t>Predictive AI automated the </a:t>
            </a:r>
            <a:r>
              <a:rPr sz="1150" b="1" i="0">
                <a:solidFill>
                  <a:srgbClr val="1B2A41"/>
                </a:solidFill>
                <a:latin typeface="Calibri"/>
              </a:rPr>
              <a:t>calculation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 layer of finance. Generative AI is now automating the </a:t>
            </a:r>
            <a:r>
              <a:rPr sz="1150" b="1" i="0">
                <a:solidFill>
                  <a:srgbClr val="1B2A41"/>
                </a:solidFill>
                <a:latin typeface="Calibri"/>
              </a:rPr>
              <a:t>language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 layer — memos, research, client letters, compliance drafts — which is most of what analysts produce in their first three years.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D6B7E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5D6B7E"/>
                </a:solidFill>
                <a:latin typeface="Calibri"/>
              </a:rPr>
              <a:t>SESSION 1  ·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50">
                <a:solidFill>
                  <a:srgbClr val="C9A227"/>
                </a:solidFill>
                <a:latin typeface="Calibri"/>
              </a:rPr>
              <a:t>BLOCK A ·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F2145"/>
                </a:solidFill>
                <a:latin typeface="Georgia"/>
              </a:rPr>
              <a:t>The LLM — autocomplete trained on the internet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17904"/>
            <a:ext cx="5486400" cy="2286000"/>
          </a:xfrm>
          <a:prstGeom prst="roundRect">
            <a:avLst>
              <a:gd name="adj" fmla="val 7000"/>
            </a:avLst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82496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80">
                <a:solidFill>
                  <a:srgbClr val="C9A227"/>
                </a:solidFill>
                <a:latin typeface="Calibri"/>
              </a:rPr>
              <a:t>ONE JOB: PREDICT THE NEXT WORD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01168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“The RBI raised the repo ____”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420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C9D6EE"/>
                </a:solidFill>
                <a:latin typeface="Calibri"/>
              </a:rPr>
              <a:t>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2587751"/>
            <a:ext cx="2860243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53635" y="254203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FA1C4"/>
                </a:solidFill>
                <a:latin typeface="Calibri"/>
              </a:rPr>
              <a:t>92%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26079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C9D6EE"/>
                </a:solidFill>
                <a:latin typeface="Calibri"/>
              </a:rPr>
              <a:t>rating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2971799"/>
            <a:ext cx="124358" cy="164592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17750" y="2926079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FA1C4"/>
                </a:solidFill>
                <a:latin typeface="Calibri"/>
              </a:rPr>
              <a:t>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310127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C9D6EE"/>
                </a:solidFill>
                <a:latin typeface="Calibri"/>
              </a:rPr>
              <a:t>report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0240" y="3355847"/>
            <a:ext cx="62179" cy="164592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55571" y="3310127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FA1C4"/>
                </a:solidFill>
                <a:latin typeface="Calibri"/>
              </a:rPr>
              <a:t>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86784"/>
            <a:ext cx="54864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133087"/>
            <a:ext cx="5029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2145"/>
                </a:solidFill>
                <a:latin typeface="Georgia"/>
              </a:rPr>
              <a:t>Tokens — the model's unit of text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00" b="0" i="0">
                <a:solidFill>
                  <a:srgbClr val="5D6B7E"/>
                </a:solidFill>
                <a:latin typeface="Calibri"/>
              </a:rPr>
              <a:t>Words are split into chunks (≈ ¾ of a word each). “Derivatives” → deriv + atives. Models read, think and charge per token.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00" b="0" i="0">
                <a:solidFill>
                  <a:srgbClr val="5D6B7E"/>
                </a:solidFill>
                <a:latin typeface="Calibri"/>
              </a:rPr>
              <a:t>Context windows, API pricing and speed are all quoted in tokens — it's the metre of this world.</a:t>
            </a:r>
          </a:p>
          <a:p>
            <a:pPr algn="l">
              <a:spcBef>
                <a:spcPts val="700"/>
              </a:spcBef>
            </a:pPr>
            <a:r>
              <a:rPr sz="1100" b="1" i="0">
                <a:solidFill>
                  <a:srgbClr val="8F7113"/>
                </a:solidFill>
                <a:latin typeface="Calibri"/>
              </a:rPr>
              <a:t>A 200-page annual report ≈ 100,000 tokens.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517904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5D6B7E"/>
                </a:solidFill>
                <a:latin typeface="Calibri"/>
              </a:rPr>
              <a:t>HOW IT'S BUILT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847088"/>
            <a:ext cx="521208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847088"/>
            <a:ext cx="64008" cy="1060704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1956816"/>
            <a:ext cx="48463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Calibri"/>
              </a:rPr>
              <a:t>1 · Pre-training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50" b="0" i="0">
                <a:solidFill>
                  <a:srgbClr val="5D6B7E"/>
                </a:solidFill>
                <a:latin typeface="Calibri"/>
              </a:rPr>
              <a:t>Read trillions of words — books, filings, the web. Learn language, facts, reasoning patterns.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8887968" y="2889503"/>
            <a:ext cx="201168" cy="237744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3127248"/>
            <a:ext cx="521208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3127248"/>
            <a:ext cx="64008" cy="1060704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0256" y="3236976"/>
            <a:ext cx="48463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Calibri"/>
              </a:rPr>
              <a:t>2 · Fine-tuning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50" b="0" i="0">
                <a:solidFill>
                  <a:srgbClr val="5D6B7E"/>
                </a:solidFill>
                <a:latin typeface="Calibri"/>
              </a:rPr>
              <a:t>Teach it to follow instructions: “summarise”, “compare”, “draft”.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8887968" y="4169664"/>
            <a:ext cx="201168" cy="237744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4407408"/>
            <a:ext cx="521208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4407408"/>
            <a:ext cx="64008" cy="1060704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0256" y="4517136"/>
            <a:ext cx="48463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Calibri"/>
              </a:rPr>
              <a:t>3 · Human feedback (RLHF)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50" b="0" i="0">
                <a:solidFill>
                  <a:srgbClr val="5D6B7E"/>
                </a:solidFill>
                <a:latin typeface="Calibri"/>
              </a:rPr>
              <a:t>Humans rank answers; the model learns to be helpful, honest, harmless.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5705856"/>
            <a:ext cx="5212080" cy="566928"/>
          </a:xfrm>
          <a:prstGeom prst="roundRect">
            <a:avLst>
              <a:gd name="adj" fmla="val 14000"/>
            </a:avLst>
          </a:prstGeom>
          <a:solidFill>
            <a:srgbClr val="F5E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0256" y="5705856"/>
            <a:ext cx="4846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B2A41"/>
                </a:solidFill>
                <a:latin typeface="Calibri"/>
              </a:rPr>
              <a:t>It has no database of truth — </a:t>
            </a:r>
            <a:r>
              <a:rPr sz="1100" b="1" i="0">
                <a:solidFill>
                  <a:srgbClr val="8F7113"/>
                </a:solidFill>
                <a:latin typeface="Calibri"/>
              </a:rPr>
              <a:t>it generates the most plausible next words.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D6B7E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5D6B7E"/>
                </a:solidFill>
                <a:latin typeface="Calibri"/>
              </a:rPr>
              <a:t>SESSION 1  ·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50">
                <a:solidFill>
                  <a:srgbClr val="C9A227"/>
                </a:solidFill>
                <a:latin typeface="Calibri"/>
              </a:rPr>
              <a:t>BLOCK A ·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F2145"/>
                </a:solidFill>
                <a:latin typeface="Georgia"/>
              </a:rPr>
              <a:t>The model landscape in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36192"/>
            <a:ext cx="11094415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27632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Calibri"/>
              </a:rPr>
              <a:t>OpenAI — GPT family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627632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B2A41"/>
                </a:solidFill>
                <a:latin typeface="Calibri"/>
              </a:rPr>
              <a:t>ChatGPT; strongest brand, broad ecosystem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627632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5D6B7E"/>
                </a:solidFill>
                <a:latin typeface="Calibri"/>
              </a:rPr>
              <a:t>Everyday analysis, drafting, coding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11094415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4688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Calibri"/>
              </a:rPr>
              <a:t>Anthropic — Claude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46888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B2A41"/>
                </a:solidFill>
                <a:latin typeface="Calibri"/>
              </a:rPr>
              <a:t>Long documents, careful reasoning, agents &amp; coding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46888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5D6B7E"/>
                </a:solidFill>
                <a:latin typeface="Calibri"/>
              </a:rPr>
              <a:t>Research over filings, agentic workflows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18688"/>
            <a:ext cx="11094415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3310128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Calibri"/>
              </a:rPr>
              <a:t>Google — Gemini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31012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B2A41"/>
                </a:solidFill>
                <a:latin typeface="Calibri"/>
              </a:rPr>
              <a:t>Native to Workspace; huge context windows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310128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5D6B7E"/>
                </a:solidFill>
                <a:latin typeface="Calibri"/>
              </a:rPr>
              <a:t>Teams already on Google stack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59936"/>
            <a:ext cx="11094415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4151376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Calibri"/>
              </a:rPr>
              <a:t>Meta — Llama (open)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4151376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B2A41"/>
                </a:solidFill>
                <a:latin typeface="Calibri"/>
              </a:rPr>
              <a:t>Open-weights: run it on your own servers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4151376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5D6B7E"/>
                </a:solidFill>
                <a:latin typeface="Calibri"/>
              </a:rPr>
              <a:t>Banks needing data to stay in-house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901184"/>
            <a:ext cx="11094415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4992624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Calibri"/>
              </a:rPr>
              <a:t>BloombergGPT / FinBERT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992624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B2A41"/>
                </a:solidFill>
                <a:latin typeface="Calibri"/>
              </a:rPr>
              <a:t>Domain models trained on finance 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4992624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5D6B7E"/>
                </a:solidFill>
                <a:latin typeface="Calibri"/>
              </a:rPr>
              <a:t>Terminal workflows, sentiment scoring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1325880"/>
            <a:ext cx="4206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200">
                <a:solidFill>
                  <a:srgbClr val="5D6B7E"/>
                </a:solidFill>
                <a:latin typeface="Calibri"/>
              </a:rPr>
              <a:t>KNOWN FOR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1325880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200">
                <a:solidFill>
                  <a:srgbClr val="5D6B7E"/>
                </a:solidFill>
                <a:latin typeface="Calibri"/>
              </a:rPr>
              <a:t>PICK IT WHEN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797296"/>
            <a:ext cx="11094415" cy="512064"/>
          </a:xfrm>
          <a:prstGeom prst="roundRect">
            <a:avLst>
              <a:gd name="adj" fmla="val 14000"/>
            </a:avLst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5797296"/>
            <a:ext cx="10637215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0F2145"/>
                </a:solidFill>
                <a:latin typeface="Calibri"/>
              </a:rPr>
              <a:t>Closed models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= rented via API, best quality.  </a:t>
            </a:r>
            <a:r>
              <a:rPr sz="1150" b="1" i="0">
                <a:solidFill>
                  <a:srgbClr val="0F2145"/>
                </a:solidFill>
                <a:latin typeface="Calibri"/>
              </a:rPr>
              <a:t>Open models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= downloaded and self-hosted — banks often choose these for confidential data.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D6B7E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5D6B7E"/>
                </a:solidFill>
                <a:latin typeface="Calibri"/>
              </a:rPr>
              <a:t>SESSION 1  ·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50">
                <a:solidFill>
                  <a:srgbClr val="C9A227"/>
                </a:solidFill>
                <a:latin typeface="Calibri"/>
              </a:rPr>
              <a:t>BLOCK B · WORKING WITH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F2145"/>
                </a:solidFill>
                <a:latin typeface="Georgia"/>
              </a:rPr>
              <a:t>Prompt engineering — the anatomy of a good 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36192"/>
            <a:ext cx="55778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36192"/>
            <a:ext cx="64008" cy="82296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18488"/>
            <a:ext cx="1234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 spc="100">
                <a:solidFill>
                  <a:srgbClr val="0F2145"/>
                </a:solidFill>
                <a:latin typeface="Calibri"/>
              </a:rPr>
              <a:t>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29968" y="1618488"/>
            <a:ext cx="397763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B2A41"/>
                </a:solidFill>
                <a:latin typeface="Calibri"/>
              </a:rPr>
              <a:t>Who the AI should be</a:t>
            </a:r>
          </a:p>
          <a:p>
            <a:pPr algn="l">
              <a:spcBef>
                <a:spcPts val="100"/>
              </a:spcBef>
            </a:pPr>
            <a:r>
              <a:rPr sz="950" b="0" i="1">
                <a:solidFill>
                  <a:srgbClr val="5D6B7E"/>
                </a:solidFill>
                <a:latin typeface="Calibri"/>
              </a:rPr>
              <a:t>“You are a sell-side equity analyst…”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41448"/>
            <a:ext cx="55778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441448"/>
            <a:ext cx="64008" cy="8229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523744"/>
            <a:ext cx="1234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 spc="100">
                <a:solidFill>
                  <a:srgbClr val="0F2145"/>
                </a:solidFill>
                <a:latin typeface="Calibri"/>
              </a:rPr>
              <a:t>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2523744"/>
            <a:ext cx="397763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B2A41"/>
                </a:solidFill>
                <a:latin typeface="Calibri"/>
              </a:rPr>
              <a:t>Facts it must use</a:t>
            </a:r>
          </a:p>
          <a:p>
            <a:pPr algn="l">
              <a:spcBef>
                <a:spcPts val="100"/>
              </a:spcBef>
            </a:pPr>
            <a:r>
              <a:rPr sz="950" b="0" i="1">
                <a:solidFill>
                  <a:srgbClr val="5D6B7E"/>
                </a:solidFill>
                <a:latin typeface="Calibri"/>
              </a:rPr>
              <a:t>“Here is HDFC Bank's Q3 press release…”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46704"/>
            <a:ext cx="55778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346704"/>
            <a:ext cx="64008" cy="822960"/>
          </a:xfrm>
          <a:prstGeom prst="rect">
            <a:avLst/>
          </a:prstGeom>
          <a:solidFill>
            <a:srgbClr val="2F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429000"/>
            <a:ext cx="1234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 spc="100">
                <a:solidFill>
                  <a:srgbClr val="0F2145"/>
                </a:solidFill>
                <a:latin typeface="Calibri"/>
              </a:rPr>
              <a:t>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9968" y="3429000"/>
            <a:ext cx="397763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B2A41"/>
                </a:solidFill>
                <a:latin typeface="Calibri"/>
              </a:rPr>
              <a:t>One clear instruction</a:t>
            </a:r>
          </a:p>
          <a:p>
            <a:pPr algn="l">
              <a:spcBef>
                <a:spcPts val="100"/>
              </a:spcBef>
            </a:pPr>
            <a:r>
              <a:rPr sz="950" b="0" i="1">
                <a:solidFill>
                  <a:srgbClr val="5D6B7E"/>
                </a:solidFill>
                <a:latin typeface="Calibri"/>
              </a:rPr>
              <a:t>“Summarise NIM drivers in 5 bullets…”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51960"/>
            <a:ext cx="55778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251960"/>
            <a:ext cx="64008" cy="822960"/>
          </a:xfrm>
          <a:prstGeom prst="rect">
            <a:avLst/>
          </a:prstGeom>
          <a:solidFill>
            <a:srgbClr val="A6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334256"/>
            <a:ext cx="1234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 spc="100">
                <a:solidFill>
                  <a:srgbClr val="0F2145"/>
                </a:solidFill>
                <a:latin typeface="Calibri"/>
              </a:rPr>
              <a:t>FORMAT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9968" y="4334256"/>
            <a:ext cx="397763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B2A41"/>
                </a:solidFill>
                <a:latin typeface="Calibri"/>
              </a:rPr>
              <a:t>Shape of the output</a:t>
            </a:r>
          </a:p>
          <a:p>
            <a:pPr algn="l">
              <a:spcBef>
                <a:spcPts val="100"/>
              </a:spcBef>
            </a:pPr>
            <a:r>
              <a:rPr sz="950" b="0" i="1">
                <a:solidFill>
                  <a:srgbClr val="5D6B7E"/>
                </a:solidFill>
                <a:latin typeface="Calibri"/>
              </a:rPr>
              <a:t>“…as a table: metric, QoQ change, driver.”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157216"/>
            <a:ext cx="55778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157216"/>
            <a:ext cx="64008" cy="82296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5239512"/>
            <a:ext cx="1234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 spc="100">
                <a:solidFill>
                  <a:srgbClr val="0F2145"/>
                </a:solidFill>
                <a:latin typeface="Calibri"/>
              </a:rPr>
              <a:t>EXAMPLE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29968" y="5239512"/>
            <a:ext cx="397763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B2A41"/>
                </a:solidFill>
                <a:latin typeface="Calibri"/>
              </a:rPr>
              <a:t>Show one done right</a:t>
            </a:r>
          </a:p>
          <a:p>
            <a:pPr algn="l">
              <a:spcBef>
                <a:spcPts val="100"/>
              </a:spcBef>
            </a:pPr>
            <a:r>
              <a:rPr sz="950" b="0" i="1">
                <a:solidFill>
                  <a:srgbClr val="5D6B7E"/>
                </a:solidFill>
                <a:latin typeface="Calibri"/>
              </a:rPr>
              <a:t>“Follow the style of this sample memo…”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536192"/>
            <a:ext cx="5239512" cy="4462272"/>
          </a:xfrm>
          <a:prstGeom prst="roundRect">
            <a:avLst>
              <a:gd name="adj" fmla="val 5000"/>
            </a:avLst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1700784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C9A227"/>
                </a:solidFill>
                <a:latin typeface="Calibri"/>
              </a:rPr>
              <a:t>A DESK-READY PROMPT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084831"/>
            <a:ext cx="475488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You are a credit analyst at a large Indian bank.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200" b="0" i="0">
                <a:solidFill>
                  <a:srgbClr val="F2DFA0"/>
                </a:solidFill>
                <a:latin typeface="Calibri"/>
              </a:rPr>
              <a:t>Using only the attached FY25 annual report of Tata Motors,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assess debt-servicing capacity: leverage, coverage, maturity wall.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200" b="0" i="0">
                <a:solidFill>
                  <a:srgbClr val="F2DFA0"/>
                </a:solidFill>
                <a:latin typeface="Calibri"/>
              </a:rPr>
              <a:t>Output a one-page credit note: 5 bullets, one ratio table, a stated recommendation.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If a number is not in the report, say “not disclosed” — do not estimate.</a:t>
            </a:r>
          </a:p>
          <a:p>
            <a:pPr algn="l">
              <a:lnSpc>
                <a:spcPct val="125000"/>
              </a:lnSpc>
              <a:spcBef>
                <a:spcPts val="1800"/>
              </a:spcBef>
            </a:pPr>
            <a:r>
              <a:rPr sz="1050" b="0" i="1">
                <a:solidFill>
                  <a:srgbClr val="8FA1C4"/>
                </a:solidFill>
                <a:latin typeface="Calibri"/>
              </a:rPr>
              <a:t>That last line is a hallucination guardrail — you'll see why in 20 minutes.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D6B7E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5D6B7E"/>
                </a:solidFill>
                <a:latin typeface="Calibri"/>
              </a:rPr>
              <a:t>SESSION 1  ·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50">
                <a:solidFill>
                  <a:srgbClr val="C9A227"/>
                </a:solidFill>
                <a:latin typeface="Calibri"/>
              </a:rPr>
              <a:t>BLOCK B · WORKING WITH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F2145"/>
                </a:solidFill>
                <a:latin typeface="Georgia"/>
              </a:rPr>
              <a:t>Prompt patterns and anti-patterns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36192"/>
            <a:ext cx="544068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36192"/>
            <a:ext cx="5440680" cy="603504"/>
          </a:xfrm>
          <a:prstGeom prst="rect">
            <a:avLst/>
          </a:prstGeom>
          <a:solidFill>
            <a:srgbClr val="2F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36192"/>
            <a:ext cx="48463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 spc="250">
                <a:solidFill>
                  <a:srgbClr val="FFFFFF"/>
                </a:solidFill>
                <a:latin typeface="Calibri"/>
              </a:rPr>
              <a:t>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340864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 i="0">
                <a:solidFill>
                  <a:srgbClr val="2F7D5B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Give the source document, then ask the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926080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 i="0">
                <a:solidFill>
                  <a:srgbClr val="2F7D5B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Ask for the format: table, memo, 5 bullets,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511296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 i="0">
                <a:solidFill>
                  <a:srgbClr val="2F7D5B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“Think step by step” for calculations &amp;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4096512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 i="0">
                <a:solidFill>
                  <a:srgbClr val="2F7D5B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Ask it to cite the page/section for every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681728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 i="0">
                <a:solidFill>
                  <a:srgbClr val="2F7D5B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Iterate — treat the first answer as a draft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266944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 i="0">
                <a:solidFill>
                  <a:srgbClr val="2F7D5B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“If unsure or missing data, say so”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536192"/>
            <a:ext cx="544068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536192"/>
            <a:ext cx="5440680" cy="603504"/>
          </a:xfrm>
          <a:prstGeom prst="rect">
            <a:avLst/>
          </a:prstGeom>
          <a:solidFill>
            <a:srgbClr val="A6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1536192"/>
            <a:ext cx="48463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 spc="250">
                <a:solidFill>
                  <a:srgbClr val="FFFFFF"/>
                </a:solidFill>
                <a:latin typeface="Calibri"/>
              </a:rPr>
              <a:t>DON'T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340864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 i="0">
                <a:solidFill>
                  <a:srgbClr val="A63D40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“Tell me about HDFC Bank” — vague, no source, no task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926080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 i="0">
                <a:solidFill>
                  <a:srgbClr val="A63D40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Trusting numbers it produces from 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511296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 i="0">
                <a:solidFill>
                  <a:srgbClr val="A63D40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One giant prompt asking 6 things at once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4096512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 i="0">
                <a:solidFill>
                  <a:srgbClr val="A63D40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Sharing client PII / MNPI with public chatbots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4681728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 i="0">
                <a:solidFill>
                  <a:srgbClr val="A63D40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Assuming it knows events after its training cut-off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5266944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 i="0">
                <a:solidFill>
                  <a:srgbClr val="A63D40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Copy-pasting output into an IC deck unreviewed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D6B7E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5D6B7E"/>
                </a:solidFill>
                <a:latin typeface="Calibri"/>
              </a:rPr>
              <a:t>SESSION 1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50">
                <a:solidFill>
                  <a:srgbClr val="C9A227"/>
                </a:solidFill>
                <a:latin typeface="Calibri"/>
              </a:rPr>
              <a:t>BLOCK B · WORKING WITH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F2145"/>
                </a:solidFill>
                <a:latin typeface="Georgia"/>
              </a:rPr>
              <a:t>Context window — the model's working desk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17904"/>
            <a:ext cx="5394960" cy="2148840"/>
          </a:xfrm>
          <a:prstGeom prst="roundRect">
            <a:avLst>
              <a:gd name="adj" fmla="val 7000"/>
            </a:avLst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682496"/>
            <a:ext cx="48920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2145"/>
                </a:solidFill>
                <a:latin typeface="Georgia"/>
              </a:rPr>
              <a:t>The analogy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1B2A41"/>
                </a:solidFill>
                <a:latin typeface="Calibri"/>
              </a:rPr>
              <a:t>An analyst can only work with the papers currently on her desk. The context window is that desk: everything the model can “see” right now — your prompt, the documents you pasted, the conversation so far.</a:t>
            </a:r>
          </a:p>
          <a:p>
            <a:pPr algn="l">
              <a:spcBef>
                <a:spcPts val="800"/>
              </a:spcBef>
            </a:pPr>
            <a:r>
              <a:rPr sz="1100" b="1" i="0">
                <a:solidFill>
                  <a:srgbClr val="8F7113"/>
                </a:solidFill>
                <a:latin typeface="Calibri"/>
              </a:rPr>
              <a:t>Off the desk = invisible. The model does not remember yesterday's chat by itself.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85615"/>
            <a:ext cx="5394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80">
                <a:solidFill>
                  <a:srgbClr val="5D6B7E"/>
                </a:solidFill>
                <a:latin typeface="Calibri"/>
              </a:rPr>
              <a:t>DESK SIZES (TOKENS → ROUGHLY)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41648"/>
            <a:ext cx="5394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2145"/>
                </a:solidFill>
                <a:latin typeface="Calibri"/>
              </a:rPr>
              <a:t>8K — early GPT-4</a:t>
            </a:r>
            <a:r>
              <a:rPr sz="1000" b="0" i="1">
                <a:solidFill>
                  <a:srgbClr val="5D6B7E"/>
                </a:solidFill>
                <a:latin typeface="Calibri"/>
              </a:rPr>
              <a:t>   ≈ one earnings press release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288536"/>
            <a:ext cx="640080" cy="18288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645152"/>
            <a:ext cx="5394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2145"/>
                </a:solidFill>
                <a:latin typeface="Calibri"/>
              </a:rPr>
              <a:t>128K — GPT-4 class</a:t>
            </a:r>
            <a:r>
              <a:rPr sz="1000" b="0" i="1">
                <a:solidFill>
                  <a:srgbClr val="5D6B7E"/>
                </a:solidFill>
                <a:latin typeface="Calibri"/>
              </a:rPr>
              <a:t>   ≈ one full annual report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892040"/>
            <a:ext cx="2377440" cy="18288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248656"/>
            <a:ext cx="5394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2145"/>
                </a:solidFill>
                <a:latin typeface="Calibri"/>
              </a:rPr>
              <a:t>200K–1M — Claude / Gemini</a:t>
            </a:r>
            <a:r>
              <a:rPr sz="1000" b="0" i="1">
                <a:solidFill>
                  <a:srgbClr val="5D6B7E"/>
                </a:solidFill>
                <a:latin typeface="Calibri"/>
              </a:rPr>
              <a:t>   ≈ several annual reports + models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495544"/>
            <a:ext cx="5120640" cy="18288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517904"/>
            <a:ext cx="523951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51790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0256" y="1664207"/>
            <a:ext cx="4873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Georgia"/>
              </a:rPr>
              <a:t>Why you care 1 — cost &amp; speed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0256" y="2048255"/>
            <a:ext cx="4855464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5D6B7E"/>
                </a:solidFill>
                <a:latin typeface="Calibri"/>
              </a:rPr>
              <a:t>Bigger context = more tokens = slower and costlier. Send what matters, not everything.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035808"/>
            <a:ext cx="523951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3035808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0256" y="3182112"/>
            <a:ext cx="4873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Georgia"/>
              </a:rPr>
              <a:t>Why you care 2 — lost in the middle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3566160"/>
            <a:ext cx="4855464" cy="768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5D6B7E"/>
                </a:solidFill>
                <a:latin typeface="Calibri"/>
              </a:rPr>
              <a:t>Models attend best to the start and end of long context. Put key facts up front.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553712"/>
            <a:ext cx="523951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4553712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0256" y="4700016"/>
            <a:ext cx="4873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Georgia"/>
              </a:rPr>
              <a:t>Why you care 3 — it fills 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0256" y="5084064"/>
            <a:ext cx="4855464" cy="768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5D6B7E"/>
                </a:solidFill>
                <a:latin typeface="Calibri"/>
              </a:rPr>
              <a:t>A quarter's worth of policy documents won't fit. That problem is exactly what RAG solves (2 slides away).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D6B7E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5D6B7E"/>
                </a:solidFill>
                <a:latin typeface="Calibri"/>
              </a:rPr>
              <a:t>SESSION 1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50">
                <a:solidFill>
                  <a:srgbClr val="C9A227"/>
                </a:solidFill>
                <a:latin typeface="Calibri"/>
              </a:rPr>
              <a:t>BLOCK B · WORKING WITH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F2145"/>
                </a:solidFill>
                <a:latin typeface="Georgia"/>
              </a:rPr>
              <a:t>Memory — how AI systems remember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99616"/>
            <a:ext cx="54406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99616"/>
            <a:ext cx="64008" cy="160020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45920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0F2145"/>
                </a:solidFill>
                <a:latin typeface="Georgia"/>
              </a:rPr>
              <a:t>Short-term memory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1100" b="0" i="0">
                <a:solidFill>
                  <a:srgbClr val="5D6B7E"/>
                </a:solidFill>
                <a:latin typeface="Calibri"/>
              </a:rPr>
              <a:t>= the context window itself. Lives only inside this conversation. Close the chat, it's gone.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9632" y="1499616"/>
            <a:ext cx="54406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499616"/>
            <a:ext cx="64008" cy="1600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1645920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0F2145"/>
                </a:solidFill>
                <a:latin typeface="Georgia"/>
              </a:rPr>
              <a:t>Long-term memory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1100" b="0" i="0">
                <a:solidFill>
                  <a:srgbClr val="5D6B7E"/>
                </a:solidFill>
                <a:latin typeface="Calibri"/>
              </a:rPr>
              <a:t>= facts written to an external store (database / notes) and re-inserted into context when relevant. This is engineered, not innate.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5526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80">
                <a:solidFill>
                  <a:srgbClr val="5D6B7E"/>
                </a:solidFill>
                <a:latin typeface="Calibri"/>
              </a:rPr>
              <a:t>WHAT GETS STORED — THREE TYPES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29584"/>
            <a:ext cx="3611880" cy="1481328"/>
          </a:xfrm>
          <a:prstGeom prst="roundRect">
            <a:avLst>
              <a:gd name="adj" fmla="val 8000"/>
            </a:avLst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365760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2145"/>
                </a:solidFill>
                <a:latin typeface="Georgia"/>
              </a:rPr>
              <a:t>Episodic  </a:t>
            </a:r>
            <a:r>
              <a:rPr sz="1050" b="0" i="0">
                <a:solidFill>
                  <a:srgbClr val="5D6B7E"/>
                </a:solidFill>
                <a:latin typeface="Calibri"/>
              </a:rPr>
              <a:t>· What happened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050" b="0" i="1">
                <a:solidFill>
                  <a:srgbClr val="1B2A41"/>
                </a:solidFill>
                <a:latin typeface="Calibri"/>
              </a:rPr>
              <a:t>“On 12 Mar the client rejected the small-cap tilt.”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3529584"/>
            <a:ext cx="3611880" cy="1481328"/>
          </a:xfrm>
          <a:prstGeom prst="roundRect">
            <a:avLst>
              <a:gd name="adj" fmla="val 8000"/>
            </a:avLst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365760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2145"/>
                </a:solidFill>
                <a:latin typeface="Georgia"/>
              </a:rPr>
              <a:t>Semantic  </a:t>
            </a:r>
            <a:r>
              <a:rPr sz="1050" b="0" i="0">
                <a:solidFill>
                  <a:srgbClr val="5D6B7E"/>
                </a:solidFill>
                <a:latin typeface="Calibri"/>
              </a:rPr>
              <a:t>· Facts &amp; preferences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050" b="0" i="1">
                <a:solidFill>
                  <a:srgbClr val="1B2A41"/>
                </a:solidFill>
                <a:latin typeface="Calibri"/>
              </a:rPr>
              <a:t>“Client is NRI; conservative; no tobacco stocks.”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3529584"/>
            <a:ext cx="3611880" cy="1481328"/>
          </a:xfrm>
          <a:prstGeom prst="roundRect">
            <a:avLst>
              <a:gd name="adj" fmla="val 8000"/>
            </a:avLst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365760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2145"/>
                </a:solidFill>
                <a:latin typeface="Georgia"/>
              </a:rPr>
              <a:t>Procedural  </a:t>
            </a:r>
            <a:r>
              <a:rPr sz="1050" b="0" i="0">
                <a:solidFill>
                  <a:srgbClr val="5D6B7E"/>
                </a:solidFill>
                <a:latin typeface="Calibri"/>
              </a:rPr>
              <a:t>· How to do things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050" b="0" i="1">
                <a:solidFill>
                  <a:srgbClr val="1B2A41"/>
                </a:solidFill>
                <a:latin typeface="Calibri"/>
              </a:rPr>
              <a:t>“Always produce reviews in the firm's IPS format.”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230368"/>
            <a:ext cx="11094415" cy="804672"/>
          </a:xfrm>
          <a:prstGeom prst="roundRect">
            <a:avLst>
              <a:gd name="adj" fmla="val 9000"/>
            </a:avLst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230368"/>
            <a:ext cx="10545775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9A227"/>
                </a:solidFill>
                <a:latin typeface="Calibri"/>
              </a:rPr>
              <a:t>Wealth-management use case: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an advisory copilot that remembers every client's risk profile, past objections and tax situation across months of conversations — and drafts the next review accordingly.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D6B7E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5D6B7E"/>
                </a:solidFill>
                <a:latin typeface="Calibri"/>
              </a:rPr>
              <a:t>SESSION 1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50">
                <a:solidFill>
                  <a:srgbClr val="C9A227"/>
                </a:solidFill>
                <a:latin typeface="Calibri"/>
              </a:rPr>
              <a:t>BLOCK C ·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F2145"/>
                </a:solidFill>
                <a:latin typeface="Georgia"/>
              </a:rPr>
              <a:t>Hallucination — fluent, confident, wrong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17904"/>
            <a:ext cx="5486400" cy="2286000"/>
          </a:xfrm>
          <a:prstGeom prst="roundRect">
            <a:avLst>
              <a:gd name="adj" fmla="val 7000"/>
            </a:avLst>
          </a:prstGeom>
          <a:solidFill>
            <a:srgbClr val="F6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17904"/>
            <a:ext cx="50292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A63D40"/>
                </a:solidFill>
                <a:latin typeface="Georgia"/>
              </a:rPr>
              <a:t>Definition</a:t>
            </a:r>
          </a:p>
          <a:p>
            <a:pPr algn="l">
              <a:lnSpc>
                <a:spcPct val="128000"/>
              </a:lnSpc>
              <a:spcBef>
                <a:spcPts val="700"/>
              </a:spcBef>
            </a:pPr>
            <a:r>
              <a:rPr sz="1200" b="0" i="0">
                <a:solidFill>
                  <a:srgbClr val="1B2A41"/>
                </a:solidFill>
                <a:latin typeface="Calibri"/>
              </a:rPr>
              <a:t>The model produces content that is plausible-sounding but false or unsupported — invented numbers, fake citations, misread facts.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150" b="1" i="0">
                <a:solidFill>
                  <a:srgbClr val="A63D40"/>
                </a:solidFill>
                <a:latin typeface="Calibri"/>
              </a:rPr>
              <a:t>It is not lying. It is doing its job — predicting likely words — when the truth isn't in its context.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77639"/>
            <a:ext cx="54864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3977639"/>
            <a:ext cx="5029200" cy="2057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2145"/>
                </a:solidFill>
                <a:latin typeface="Georgia"/>
              </a:rPr>
              <a:t>A real desk example</a:t>
            </a:r>
          </a:p>
          <a:p>
            <a:pPr algn="l">
              <a:spcBef>
                <a:spcPts val="600"/>
              </a:spcBef>
            </a:pPr>
            <a:r>
              <a:rPr sz="1150" b="0" i="1">
                <a:solidFill>
                  <a:srgbClr val="1B2A41"/>
                </a:solidFill>
                <a:latin typeface="Calibri"/>
              </a:rPr>
              <a:t>“What was Infosys' FY24 attrition rate?”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5D6B7E"/>
                </a:solidFill>
                <a:latin typeface="Calibri"/>
              </a:rPr>
              <a:t>Without the report in context, a model may answer “14.6% (Annual Report, p. 83)” — number and page both invented, formatted perfectly.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517904"/>
            <a:ext cx="5239512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517904"/>
            <a:ext cx="64008" cy="1024128"/>
          </a:xfrm>
          <a:prstGeom prst="rect">
            <a:avLst/>
          </a:prstGeom>
          <a:solidFill>
            <a:srgbClr val="A6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6" y="1664207"/>
            <a:ext cx="4873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2145"/>
                </a:solidFill>
                <a:latin typeface="Georgia"/>
              </a:rPr>
              <a:t>Trained to continue, not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0256" y="2048255"/>
            <a:ext cx="485546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D6B7E"/>
                </a:solidFill>
                <a:latin typeface="Calibri"/>
              </a:rPr>
              <a:t>Its objective is plausibility. There is no built-in fact-checker.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660904"/>
            <a:ext cx="5239512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660904"/>
            <a:ext cx="64008" cy="1024128"/>
          </a:xfrm>
          <a:prstGeom prst="rect">
            <a:avLst/>
          </a:prstGeom>
          <a:solidFill>
            <a:srgbClr val="A6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0256" y="2807208"/>
            <a:ext cx="4873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2145"/>
                </a:solidFill>
                <a:latin typeface="Georgia"/>
              </a:rPr>
              <a:t>Gaps get papered 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0256" y="3191256"/>
            <a:ext cx="4855464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D6B7E"/>
                </a:solidFill>
                <a:latin typeface="Calibri"/>
              </a:rPr>
              <a:t>If data is missing or after its knowledge cut-off, it fills the gap smoothly.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803904"/>
            <a:ext cx="5239512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803904"/>
            <a:ext cx="64008" cy="1024128"/>
          </a:xfrm>
          <a:prstGeom prst="rect">
            <a:avLst/>
          </a:prstGeom>
          <a:solidFill>
            <a:srgbClr val="A6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0256" y="3950208"/>
            <a:ext cx="4873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2145"/>
                </a:solidFill>
                <a:latin typeface="Georgia"/>
              </a:rPr>
              <a:t>Your prompt can push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0256" y="4334256"/>
            <a:ext cx="4855464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D6B7E"/>
                </a:solidFill>
                <a:latin typeface="Calibri"/>
              </a:rPr>
              <a:t>Leading questions (“confirm that…”) invite agreeable fiction.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946904"/>
            <a:ext cx="5239512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946904"/>
            <a:ext cx="64008" cy="1024128"/>
          </a:xfrm>
          <a:prstGeom prst="rect">
            <a:avLst/>
          </a:prstGeom>
          <a:solidFill>
            <a:srgbClr val="A6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0256" y="5093208"/>
            <a:ext cx="4873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2145"/>
                </a:solidFill>
                <a:latin typeface="Georgia"/>
              </a:rPr>
              <a:t>Confidence ≠ 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0256" y="5477256"/>
            <a:ext cx="4855464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D6B7E"/>
                </a:solidFill>
                <a:latin typeface="Calibri"/>
              </a:rPr>
              <a:t>Tone stays equally assured whether it's right or wrong — that's the danger.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D6B7E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5D6B7E"/>
                </a:solidFill>
                <a:latin typeface="Calibri"/>
              </a:rPr>
              <a:t>SESSION 1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50">
                <a:solidFill>
                  <a:srgbClr val="C9A227"/>
                </a:solidFill>
                <a:latin typeface="Calibri"/>
              </a:rPr>
              <a:t>BLOCK C ·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F2145"/>
                </a:solidFill>
                <a:latin typeface="Georgia"/>
              </a:rPr>
              <a:t>Know your hallucinations — five 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99616"/>
            <a:ext cx="11094415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99616"/>
            <a:ext cx="64008" cy="804672"/>
          </a:xfrm>
          <a:prstGeom prst="rect">
            <a:avLst/>
          </a:prstGeom>
          <a:solidFill>
            <a:srgbClr val="A6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581912"/>
            <a:ext cx="30632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Calibri"/>
              </a:rPr>
              <a:t>1 · Factual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1581912"/>
            <a:ext cx="35661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B2A41"/>
                </a:solidFill>
                <a:latin typeface="Calibri"/>
              </a:rPr>
              <a:t>States wrong real-world facts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1581912"/>
            <a:ext cx="3840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1">
                <a:solidFill>
                  <a:srgbClr val="5D6B7E"/>
                </a:solidFill>
                <a:latin typeface="Calibri"/>
              </a:rPr>
              <a:t>“SEBI caps mutual-fund expense ratios at 3.5%” — outdated / wrong.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77439"/>
            <a:ext cx="11094415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77439"/>
            <a:ext cx="64008" cy="804672"/>
          </a:xfrm>
          <a:prstGeom prst="rect">
            <a:avLst/>
          </a:prstGeom>
          <a:solidFill>
            <a:srgbClr val="A6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459735"/>
            <a:ext cx="30632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Calibri"/>
              </a:rPr>
              <a:t>2 · Faithfulness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2459735"/>
            <a:ext cx="35661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B2A41"/>
                </a:solidFill>
                <a:latin typeface="Calibri"/>
              </a:rPr>
              <a:t>Contradicts the document you gave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2459735"/>
            <a:ext cx="3840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1">
                <a:solidFill>
                  <a:srgbClr val="5D6B7E"/>
                </a:solidFill>
                <a:latin typeface="Calibri"/>
              </a:rPr>
              <a:t>Summary says margin “expanded”; the 10-K says it contracted.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55263"/>
            <a:ext cx="11094415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55263"/>
            <a:ext cx="64008" cy="804672"/>
          </a:xfrm>
          <a:prstGeom prst="rect">
            <a:avLst/>
          </a:prstGeom>
          <a:solidFill>
            <a:srgbClr val="8F7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337559"/>
            <a:ext cx="30632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Calibri"/>
              </a:rPr>
              <a:t>3 · Fabricated 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3337559"/>
            <a:ext cx="35661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B2A41"/>
                </a:solidFill>
                <a:latin typeface="Calibri"/>
              </a:rPr>
              <a:t>Invents citations, cases, papers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3337559"/>
            <a:ext cx="3840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1">
                <a:solidFill>
                  <a:srgbClr val="5D6B7E"/>
                </a:solidFill>
                <a:latin typeface="Calibri"/>
              </a:rPr>
              <a:t>Cites “RBI Circular 2023/114” — no such circular exists.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133087"/>
            <a:ext cx="11094415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133087"/>
            <a:ext cx="64008" cy="804672"/>
          </a:xfrm>
          <a:prstGeom prst="rect">
            <a:avLst/>
          </a:prstGeom>
          <a:solidFill>
            <a:srgbClr val="8F7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215383"/>
            <a:ext cx="30632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Calibri"/>
              </a:rPr>
              <a:t>4 · Numeric / reasoning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4215383"/>
            <a:ext cx="35661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B2A41"/>
                </a:solidFill>
                <a:latin typeface="Calibri"/>
              </a:rPr>
              <a:t>Right facts, wrong arithmetic or logic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4215383"/>
            <a:ext cx="3840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1">
                <a:solidFill>
                  <a:srgbClr val="5D6B7E"/>
                </a:solidFill>
                <a:latin typeface="Calibri"/>
              </a:rPr>
              <a:t>Adds segment revenues incorrectly; flips a sign in a DCF.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010912"/>
            <a:ext cx="11094415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010912"/>
            <a:ext cx="64008" cy="804672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5093207"/>
            <a:ext cx="30632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Calibri"/>
              </a:rPr>
              <a:t>5 · Context confusion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5093207"/>
            <a:ext cx="35661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B2A41"/>
                </a:solidFill>
                <a:latin typeface="Calibri"/>
              </a:rPr>
              <a:t>Mixes entities, periods or currencies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5093207"/>
            <a:ext cx="3840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1">
                <a:solidFill>
                  <a:srgbClr val="5D6B7E"/>
                </a:solidFill>
                <a:latin typeface="Calibri"/>
              </a:rPr>
              <a:t>Blends FY23 and FY24 figures; confuses Tata Motors with Tata Steel.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907023"/>
            <a:ext cx="11094415" cy="566928"/>
          </a:xfrm>
          <a:prstGeom prst="roundRect">
            <a:avLst>
              <a:gd name="adj" fmla="val 14000"/>
            </a:avLst>
          </a:prstGeom>
          <a:solidFill>
            <a:srgbClr val="F6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5907023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A63D40"/>
                </a:solidFill>
                <a:latin typeface="Calibri"/>
              </a:rPr>
              <a:t>In finance the stakes compound: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a hallucinated covenant, NAV or reg citation can move money and trigger liability. Treat every unsourced number as unverified.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D6B7E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5D6B7E"/>
                </a:solidFill>
                <a:latin typeface="Calibri"/>
              </a:rPr>
              <a:t>SESSION 1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50">
                <a:solidFill>
                  <a:srgbClr val="C9A227"/>
                </a:solidFill>
                <a:latin typeface="Calibri"/>
              </a:rPr>
              <a:t>BLOCK C ·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F2145"/>
                </a:solidFill>
                <a:latin typeface="Georgia"/>
              </a:rPr>
              <a:t>Taming hallucinations — the practical toolkit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36192"/>
            <a:ext cx="54864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36192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682495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2145"/>
                </a:solidFill>
                <a:latin typeface="Georgia"/>
              </a:rPr>
              <a:t>Ground it (RAG)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066543"/>
            <a:ext cx="5102352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D6B7E"/>
                </a:solidFill>
                <a:latin typeface="Calibri"/>
              </a:rPr>
              <a:t>Give the model the actual documents and instruct: answer only from these. The single biggest fix — next slide.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36192"/>
            <a:ext cx="54864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536192"/>
            <a:ext cx="64008" cy="137160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1656" y="1682495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2145"/>
                </a:solidFill>
                <a:latin typeface="Georgia"/>
              </a:rPr>
              <a:t>Demand citations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1656" y="2066543"/>
            <a:ext cx="5102352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D6B7E"/>
                </a:solidFill>
                <a:latin typeface="Calibri"/>
              </a:rPr>
              <a:t>“Cite page and section for every figure.” Fabricated cites become easy to catch.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54864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017520"/>
            <a:ext cx="64008" cy="1371600"/>
          </a:xfrm>
          <a:prstGeom prst="rect">
            <a:avLst/>
          </a:prstGeom>
          <a:solidFill>
            <a:srgbClr val="2F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3163824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2145"/>
                </a:solidFill>
                <a:latin typeface="Georgia"/>
              </a:rPr>
              <a:t>Allow “I don't know”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547872"/>
            <a:ext cx="5102352" cy="768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D6B7E"/>
                </a:solidFill>
                <a:latin typeface="Calibri"/>
              </a:rPr>
              <a:t>Explicitly permit it to say data is missing. Removes the pressure to invent.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017520"/>
            <a:ext cx="54864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017520"/>
            <a:ext cx="64008" cy="137160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6" y="3163824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2145"/>
                </a:solidFill>
                <a:latin typeface="Georgia"/>
              </a:rPr>
              <a:t>Lower the temperature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3547872"/>
            <a:ext cx="5102352" cy="768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D6B7E"/>
                </a:solidFill>
                <a:latin typeface="Calibri"/>
              </a:rPr>
              <a:t>A sampling dial: lower = more conservative, repeatable answers for factual work.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498848"/>
            <a:ext cx="54864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498848"/>
            <a:ext cx="64008" cy="1371600"/>
          </a:xfrm>
          <a:prstGeom prst="rect">
            <a:avLst/>
          </a:prstGeom>
          <a:solidFill>
            <a:srgbClr val="A6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464515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2145"/>
                </a:solidFill>
                <a:latin typeface="Georgia"/>
              </a:rPr>
              <a:t>Verify high-stakes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5029200"/>
            <a:ext cx="5102352" cy="768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D6B7E"/>
                </a:solidFill>
                <a:latin typeface="Calibri"/>
              </a:rPr>
              <a:t>Human-in-the-loop for anything that faces a client, regulator or trade.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4498848"/>
            <a:ext cx="54864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4498848"/>
            <a:ext cx="64008" cy="1371600"/>
          </a:xfrm>
          <a:prstGeom prst="rect">
            <a:avLst/>
          </a:prstGeom>
          <a:solidFill>
            <a:srgbClr val="2F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1656" y="464515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2145"/>
                </a:solidFill>
                <a:latin typeface="Georgia"/>
              </a:rPr>
              <a:t>Evaluate continuously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5029200"/>
            <a:ext cx="5102352" cy="768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D6B7E"/>
                </a:solidFill>
                <a:latin typeface="Calibri"/>
              </a:rPr>
              <a:t>Banks run automated “exam papers” (evals) against known answers before deployment.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94360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594360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C9A227"/>
                </a:solidFill>
                <a:latin typeface="Calibri"/>
              </a:rPr>
              <a:t>Desk rule: 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AI drafts, humans sign. The accountability never transfers to the model.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D6B7E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5D6B7E"/>
                </a:solidFill>
                <a:latin typeface="Calibri"/>
              </a:rPr>
              <a:t>SESSION 1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50">
                <a:solidFill>
                  <a:srgbClr val="C9A227"/>
                </a:solidFill>
                <a:latin typeface="Calibri"/>
              </a:rPr>
              <a:t>BLOCK C ·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F2145"/>
                </a:solidFill>
                <a:latin typeface="Georgia"/>
              </a:rPr>
              <a:t>RAG — Retrieval-Augmented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8F7113"/>
                </a:solidFill>
                <a:latin typeface="Calibri"/>
              </a:rPr>
              <a:t>Open-book exam instead of memory test: </a:t>
            </a:r>
            <a:r>
              <a:rPr sz="1250" b="0" i="0">
                <a:solidFill>
                  <a:srgbClr val="1B2A41"/>
                </a:solidFill>
                <a:latin typeface="Calibri"/>
              </a:rPr>
              <a:t>fetch the right pages from your library, hand them to the model, and let it answer from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5681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60">
                <a:solidFill>
                  <a:srgbClr val="5D6B7E"/>
                </a:solidFill>
                <a:latin typeface="Calibri"/>
              </a:rPr>
              <a:t>STEP 1 · INDEX YOUR LIBRARY (DONE ONCE)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49424"/>
            <a:ext cx="3017520" cy="960120"/>
          </a:xfrm>
          <a:prstGeom prst="roundRect">
            <a:avLst>
              <a:gd name="adj" fmla="val 10000"/>
            </a:avLst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249424"/>
            <a:ext cx="287121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0F2145"/>
                </a:solidFill>
                <a:latin typeface="Calibri"/>
              </a:rPr>
              <a:t>Your documents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5D6B7E"/>
                </a:solidFill>
                <a:latin typeface="Calibri"/>
              </a:rPr>
              <a:t>10-Ks · policies · research · contracts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675887" y="2606040"/>
            <a:ext cx="365760" cy="23774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60520" y="2249424"/>
            <a:ext cx="3017520" cy="960120"/>
          </a:xfrm>
          <a:prstGeom prst="roundRect">
            <a:avLst>
              <a:gd name="adj" fmla="val 10000"/>
            </a:avLst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33672" y="2249424"/>
            <a:ext cx="287121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0F2145"/>
                </a:solidFill>
                <a:latin typeface="Calibri"/>
              </a:rPr>
              <a:t>Chunk &amp; embed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5D6B7E"/>
                </a:solidFill>
                <a:latin typeface="Calibri"/>
              </a:rPr>
              <a:t>split into passages → convert to number-vectors that capture meaning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287768" y="2606040"/>
            <a:ext cx="365760" cy="23774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0" y="2249424"/>
            <a:ext cx="3017520" cy="960120"/>
          </a:xfrm>
          <a:prstGeom prst="roundRect">
            <a:avLst>
              <a:gd name="adj" fmla="val 10000"/>
            </a:avLst>
          </a:prstGeom>
          <a:solidFill>
            <a:srgbClr val="244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45552" y="2249424"/>
            <a:ext cx="287121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Vector database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C9D6EE"/>
                </a:solidFill>
                <a:latin typeface="Calibri"/>
              </a:rPr>
              <a:t>a searchable index of meaning, not keywords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29584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60">
                <a:solidFill>
                  <a:srgbClr val="5D6B7E"/>
                </a:solidFill>
                <a:latin typeface="Calibri"/>
              </a:rPr>
              <a:t>STEP 2 · ANSWER A QUESTION (EVERY QUERY)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22191"/>
            <a:ext cx="2606040" cy="960120"/>
          </a:xfrm>
          <a:prstGeom prst="roundRect">
            <a:avLst>
              <a:gd name="adj" fmla="val 10000"/>
            </a:avLst>
          </a:prstGeom>
          <a:solidFill>
            <a:srgbClr val="F5E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822191"/>
            <a:ext cx="2459736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8F7113"/>
                </a:solidFill>
                <a:latin typeface="Calibri"/>
              </a:rPr>
              <a:t>Question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5D6B7E"/>
                </a:solidFill>
                <a:latin typeface="Calibri"/>
              </a:rPr>
              <a:t>“What are our Basel III disclosure gaps?”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264408" y="4178807"/>
            <a:ext cx="365760" cy="23774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749039" y="3822191"/>
            <a:ext cx="2651760" cy="960120"/>
          </a:xfrm>
          <a:prstGeom prst="roundRect">
            <a:avLst>
              <a:gd name="adj" fmla="val 10000"/>
            </a:avLst>
          </a:prstGeom>
          <a:solidFill>
            <a:srgbClr val="244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22191" y="3822191"/>
            <a:ext cx="2505456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Retrieve top passages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C9D6EE"/>
                </a:solidFill>
                <a:latin typeface="Calibri"/>
              </a:rPr>
              <a:t>the 5–10 most relevant chunks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510527" y="4178807"/>
            <a:ext cx="365760" cy="23774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95159" y="3822191"/>
            <a:ext cx="2377440" cy="960120"/>
          </a:xfrm>
          <a:prstGeom prst="roundRect">
            <a:avLst>
              <a:gd name="adj" fmla="val 10000"/>
            </a:avLst>
          </a:prstGeom>
          <a:solidFill>
            <a:srgbClr val="244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68312" y="3822191"/>
            <a:ext cx="2231136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LLM + passages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C9D6EE"/>
                </a:solidFill>
                <a:latin typeface="Calibri"/>
              </a:rPr>
              <a:t>question and evidence go in together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482328" y="4178807"/>
            <a:ext cx="365760" cy="23774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966960" y="3822191"/>
            <a:ext cx="1691640" cy="960120"/>
          </a:xfrm>
          <a:prstGeom prst="roundRect">
            <a:avLst>
              <a:gd name="adj" fmla="val 10000"/>
            </a:avLst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40112" y="3822191"/>
            <a:ext cx="1545336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Cited answer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C9D6EE"/>
                </a:solidFill>
                <a:latin typeface="Calibri"/>
              </a:rPr>
              <a:t>with page refs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138928"/>
            <a:ext cx="11094415" cy="896112"/>
          </a:xfrm>
          <a:prstGeom prst="roundRect">
            <a:avLst>
              <a:gd name="adj" fmla="val 9000"/>
            </a:avLst>
          </a:prstGeom>
          <a:solidFill>
            <a:srgbClr val="E6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5138928"/>
            <a:ext cx="10582351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F7D5B"/>
                </a:solidFill>
                <a:latin typeface="Calibri"/>
              </a:rPr>
              <a:t>Why banks love it:  </a:t>
            </a:r>
            <a:r>
              <a:rPr sz="1200" b="0" i="0">
                <a:solidFill>
                  <a:srgbClr val="1B2A41"/>
                </a:solidFill>
                <a:latin typeface="Calibri"/>
              </a:rPr>
              <a:t>answers come from approved internal documents (auditable), stay current without retraining the model, and hallucination drops sharply because the evidence is in the prompt.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D6B7E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5D6B7E"/>
                </a:solidFill>
                <a:latin typeface="Calibri"/>
              </a:rPr>
              <a:t>SESSION 1  ·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50">
                <a:solidFill>
                  <a:srgbClr val="C9A227"/>
                </a:solidFill>
                <a:latin typeface="Calibri"/>
              </a:rPr>
              <a:t>BLOCK C ·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F2145"/>
                </a:solidFill>
                <a:latin typeface="Georgia"/>
              </a:rPr>
              <a:t>RAG on the desks — where it's already deployed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36192"/>
            <a:ext cx="5486400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36192"/>
            <a:ext cx="64008" cy="2084831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719072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0F2145"/>
                </a:solidFill>
                <a:latin typeface="Georgia"/>
              </a:rPr>
              <a:t>Wealth advisory</a:t>
            </a:r>
            <a:r>
              <a:rPr sz="1100" b="0" i="1">
                <a:solidFill>
                  <a:srgbClr val="8F7113"/>
                </a:solidFill>
                <a:latin typeface="Calibri"/>
              </a:rPr>
              <a:t>   · Morgan Stanley</a:t>
            </a:r>
          </a:p>
          <a:p>
            <a:pPr algn="l">
              <a:lnSpc>
                <a:spcPct val="132000"/>
              </a:lnSpc>
              <a:spcBef>
                <a:spcPts val="900"/>
              </a:spcBef>
            </a:pPr>
            <a:r>
              <a:rPr sz="1200" b="0" i="0">
                <a:solidFill>
                  <a:srgbClr val="5D6B7E"/>
                </a:solidFill>
                <a:latin typeface="Calibri"/>
              </a:rPr>
              <a:t>GPT-4 over 100,000+ internal research and compliance documents. Advisors get vetted answers in seconds instead of searching portals.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536192"/>
            <a:ext cx="5486400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536192"/>
            <a:ext cx="64008" cy="2084831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9944" y="1719072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0F2145"/>
                </a:solidFill>
                <a:latin typeface="Georgia"/>
              </a:rPr>
              <a:t>Policy &amp; KYC ops</a:t>
            </a:r>
            <a:r>
              <a:rPr sz="1100" b="0" i="1">
                <a:solidFill>
                  <a:srgbClr val="8F7113"/>
                </a:solidFill>
                <a:latin typeface="Calibri"/>
              </a:rPr>
              <a:t>   · Universal banks</a:t>
            </a:r>
          </a:p>
          <a:p>
            <a:pPr algn="l">
              <a:lnSpc>
                <a:spcPct val="132000"/>
              </a:lnSpc>
              <a:spcBef>
                <a:spcPts val="900"/>
              </a:spcBef>
            </a:pPr>
            <a:r>
              <a:rPr sz="1200" b="0" i="0">
                <a:solidFill>
                  <a:srgbClr val="5D6B7E"/>
                </a:solidFill>
                <a:latin typeface="Calibri"/>
              </a:rPr>
              <a:t>“Can an NRI open this account with these documents?” — answered from the bank's own policy manual, with clause citations.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5486400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749039"/>
            <a:ext cx="64008" cy="2084831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93192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0F2145"/>
                </a:solidFill>
                <a:latin typeface="Georgia"/>
              </a:rPr>
              <a:t>Equity research</a:t>
            </a:r>
            <a:r>
              <a:rPr sz="1100" b="0" i="1">
                <a:solidFill>
                  <a:srgbClr val="8F7113"/>
                </a:solidFill>
                <a:latin typeface="Calibri"/>
              </a:rPr>
              <a:t>   · Buy &amp; sell side</a:t>
            </a:r>
          </a:p>
          <a:p>
            <a:pPr algn="l">
              <a:lnSpc>
                <a:spcPct val="132000"/>
              </a:lnSpc>
              <a:spcBef>
                <a:spcPts val="900"/>
              </a:spcBef>
            </a:pPr>
            <a:r>
              <a:rPr sz="1200" b="0" i="0">
                <a:solidFill>
                  <a:srgbClr val="5D6B7E"/>
                </a:solidFill>
                <a:latin typeface="Calibri"/>
              </a:rPr>
              <a:t>Ask questions across 10 years of annual reports and call transcripts: “Every mention of pricing pressure since FY19, with sources.”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749039"/>
            <a:ext cx="5486400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749039"/>
            <a:ext cx="64008" cy="2084831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393192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0F2145"/>
                </a:solidFill>
                <a:latin typeface="Georgia"/>
              </a:rPr>
              <a:t>Regulatory &amp; risk</a:t>
            </a:r>
            <a:r>
              <a:rPr sz="1100" b="0" i="1">
                <a:solidFill>
                  <a:srgbClr val="8F7113"/>
                </a:solidFill>
                <a:latin typeface="Calibri"/>
              </a:rPr>
              <a:t>   · Basel / RBI compliance</a:t>
            </a:r>
          </a:p>
          <a:p>
            <a:pPr algn="l">
              <a:lnSpc>
                <a:spcPct val="132000"/>
              </a:lnSpc>
              <a:spcBef>
                <a:spcPts val="900"/>
              </a:spcBef>
            </a:pPr>
            <a:r>
              <a:rPr sz="1200" b="0" i="0">
                <a:solidFill>
                  <a:srgbClr val="5D6B7E"/>
                </a:solidFill>
                <a:latin typeface="Calibri"/>
              </a:rPr>
              <a:t>RAG over Basel IV texts, RBI master directions and internal capital policy — drafts gap analyses your Build 4 will replicate today.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D6B7E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5D6B7E"/>
                </a:solidFill>
                <a:latin typeface="Calibri"/>
              </a:rPr>
              <a:t>SESSION 1  ·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50">
                <a:solidFill>
                  <a:srgbClr val="C9A227"/>
                </a:solidFill>
                <a:latin typeface="Calibri"/>
              </a:rPr>
              <a:t>BLOCK C ·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F2145"/>
                </a:solidFill>
                <a:latin typeface="Georgia"/>
              </a:rPr>
              <a:t>Prompting vs RAG vs fine-tuning — which lever when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72768"/>
          <a:ext cx="11109960" cy="2852928"/>
        </p:xfrm>
        <a:graphic>
          <a:graphicData uri="http://schemas.openxmlformats.org/drawingml/2006/table">
            <a:tbl firstRow="1" bandRow="0">
              <a:tblPr firstRow="1" bandRow="1">
                <a:tableStyleId>{5C22544A-7EE6-4342-B048-85BDC9FD1C3A}</a:tableStyleId>
              </a:tblPr>
              <a:tblGrid>
                <a:gridCol w="2194560"/>
                <a:gridCol w="2971800"/>
                <a:gridCol w="2971800"/>
                <a:gridCol w="297180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73152" marT="36576" marB="36576" anchor="ctr">
                    <a:solidFill>
                      <a:srgbClr val="0F21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Prompting</a:t>
                      </a:r>
                    </a:p>
                  </a:txBody>
                  <a:tcPr marL="91440" marR="73152" marT="36576" marB="36576" anchor="ctr">
                    <a:solidFill>
                      <a:srgbClr val="0F21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RAG</a:t>
                      </a:r>
                    </a:p>
                  </a:txBody>
                  <a:tcPr marL="91440" marR="73152" marT="36576" marB="36576" anchor="ctr">
                    <a:solidFill>
                      <a:srgbClr val="0F21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Fine-tuning</a:t>
                      </a:r>
                    </a:p>
                  </a:txBody>
                  <a:tcPr marL="91440" marR="73152" marT="36576" marB="36576" anchor="ctr">
                    <a:solidFill>
                      <a:srgbClr val="0F214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145"/>
                          </a:solidFill>
                          <a:latin typeface="Calibri"/>
                        </a:rPr>
                        <a:t>What you change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The instructions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The knowledge it sees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The model's weights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145"/>
                          </a:solidFill>
                          <a:latin typeface="Calibri"/>
                        </a:rPr>
                        <a:t>Best for</a:t>
                      </a:r>
                    </a:p>
                  </a:txBody>
                  <a:tcPr marL="91440" marR="73152" marT="36576" marB="36576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Style, format, one-off tasks</a:t>
                      </a:r>
                    </a:p>
                  </a:txBody>
                  <a:tcPr marL="91440" marR="73152" marT="36576" marB="36576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Company documents, current facts</a:t>
                      </a:r>
                    </a:p>
                  </a:txBody>
                  <a:tcPr marL="91440" marR="73152" marT="36576" marB="36576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Deep domain tone &amp; jargon</a:t>
                      </a:r>
                    </a:p>
                  </a:txBody>
                  <a:tcPr marL="91440" marR="73152" marT="36576" marB="36576" anchor="ctr">
                    <a:solidFill>
                      <a:srgbClr val="F1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145"/>
                          </a:solidFill>
                          <a:latin typeface="Calibri"/>
                        </a:rPr>
                        <a:t>Effort / cost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Minutes · free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Days · moderate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Weeks · expensive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145"/>
                          </a:solidFill>
                          <a:latin typeface="Calibri"/>
                        </a:rPr>
                        <a:t>Data freshness</a:t>
                      </a:r>
                    </a:p>
                  </a:txBody>
                  <a:tcPr marL="91440" marR="73152" marT="36576" marB="36576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Whatever you paste</a:t>
                      </a:r>
                    </a:p>
                  </a:txBody>
                  <a:tcPr marL="91440" marR="73152" marT="36576" marB="36576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Always current — re-index</a:t>
                      </a:r>
                    </a:p>
                  </a:txBody>
                  <a:tcPr marL="91440" marR="73152" marT="36576" marB="36576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Frozen at training time</a:t>
                      </a:r>
                    </a:p>
                  </a:txBody>
                  <a:tcPr marL="91440" marR="73152" marT="36576" marB="36576" anchor="ctr">
                    <a:solidFill>
                      <a:srgbClr val="F1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145"/>
                          </a:solidFill>
                          <a:latin typeface="Calibri"/>
                        </a:rPr>
                        <a:t>Finance example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“Draft in our IC-memo style”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Q&amp;A over policy manuals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A bank-specific credit-note writer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718304"/>
            <a:ext cx="11094415" cy="566928"/>
          </a:xfrm>
          <a:prstGeom prst="roundRect">
            <a:avLst>
              <a:gd name="adj" fmla="val 14000"/>
            </a:avLst>
          </a:prstGeom>
          <a:solidFill>
            <a:srgbClr val="F5E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4718304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8F7113"/>
                </a:solidFill>
                <a:latin typeface="Calibri"/>
              </a:rPr>
              <a:t>Rule of thumb: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start with prompting → add RAG when it needs your documents → fine-tune only if the first two genuinely fall short. Most bank use cases stop at RAG.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3212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5D6B7E"/>
                </a:solidFill>
                <a:latin typeface="Calibri"/>
              </a:rPr>
              <a:t>☕  10-minute break — back at 11:55 for Agents &amp; Agentic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D6B7E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5D6B7E"/>
                </a:solidFill>
                <a:latin typeface="Calibri"/>
              </a:rPr>
              <a:t>SESSION 1  ·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50">
                <a:solidFill>
                  <a:srgbClr val="C9A227"/>
                </a:solidFill>
                <a:latin typeface="Calibri"/>
              </a:rPr>
              <a:t>BLOCK D ·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F2145"/>
                </a:solidFill>
                <a:latin typeface="Georgia"/>
              </a:rPr>
              <a:t>From chatbot to agent — answering vs doing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883664" cy="1143000"/>
          </a:xfrm>
          <a:prstGeom prst="roundRect">
            <a:avLst>
              <a:gd name="adj" fmla="val 10000"/>
            </a:avLst>
          </a:prstGeom>
          <a:solidFill>
            <a:srgbClr val="244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783080"/>
            <a:ext cx="173736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LLM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C9D6EE"/>
                </a:solidFill>
                <a:latin typeface="Calibri"/>
              </a:rPr>
              <a:t>the brain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87168" y="2011680"/>
            <a:ext cx="384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5D6B7E"/>
                </a:solidFill>
                <a:latin typeface="Calibri"/>
              </a:rPr>
              <a:t>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9504" y="1783080"/>
            <a:ext cx="1883664" cy="1143000"/>
          </a:xfrm>
          <a:prstGeom prst="roundRect">
            <a:avLst>
              <a:gd name="adj" fmla="val 10000"/>
            </a:avLst>
          </a:prstGeom>
          <a:solidFill>
            <a:srgbClr val="244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1783080"/>
            <a:ext cx="173736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Tools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C9D6EE"/>
                </a:solidFill>
                <a:latin typeface="Calibri"/>
              </a:rPr>
              <a:t>hands — APIs, code,
search, spreadsheets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8032" y="2011680"/>
            <a:ext cx="384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5D6B7E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30368" y="1783080"/>
            <a:ext cx="1883664" cy="1143000"/>
          </a:xfrm>
          <a:prstGeom prst="roundRect">
            <a:avLst>
              <a:gd name="adj" fmla="val 10000"/>
            </a:avLst>
          </a:prstGeom>
          <a:solidFill>
            <a:srgbClr val="244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783080"/>
            <a:ext cx="173736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Memory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C9D6EE"/>
                </a:solidFill>
                <a:latin typeface="Calibri"/>
              </a:rPr>
              <a:t>notebook — state
across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68896" y="2011680"/>
            <a:ext cx="384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5D6B7E"/>
                </a:solidFill>
                <a:latin typeface="Calibri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71232" y="1783080"/>
            <a:ext cx="1883664" cy="1143000"/>
          </a:xfrm>
          <a:prstGeom prst="roundRect">
            <a:avLst>
              <a:gd name="adj" fmla="val 10000"/>
            </a:avLst>
          </a:prstGeom>
          <a:solidFill>
            <a:srgbClr val="244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44384" y="1783080"/>
            <a:ext cx="173736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Planning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C9D6EE"/>
                </a:solidFill>
                <a:latin typeface="Calibri"/>
              </a:rPr>
              <a:t>the to-do list —
decide, act,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2011680"/>
            <a:ext cx="3840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5D6B7E"/>
                </a:solidFill>
                <a:latin typeface="Calibri"/>
              </a:rPr>
              <a:t>=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12096" y="1783080"/>
            <a:ext cx="2011680" cy="1143000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85248" y="1783080"/>
            <a:ext cx="1865376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F2145"/>
                </a:solidFill>
                <a:latin typeface="Calibri"/>
              </a:rPr>
              <a:t>AGENT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5C4A0E"/>
                </a:solidFill>
                <a:latin typeface="Calibri"/>
              </a:rPr>
              <a:t>works toward a goal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48640" y="3310128"/>
          <a:ext cx="11064240" cy="2560320"/>
        </p:xfrm>
        <a:graphic>
          <a:graphicData uri="http://schemas.openxmlformats.org/drawingml/2006/table">
            <a:tbl firstRow="1" bandRow="0">
              <a:tblPr firstRow="1" bandRow="1">
                <a:tableStyleId>{5C22544A-7EE6-4342-B048-85BDC9FD1C3A}</a:tableStyleId>
              </a:tblPr>
              <a:tblGrid>
                <a:gridCol w="2103120"/>
                <a:gridCol w="4480560"/>
                <a:gridCol w="4480560"/>
              </a:tblGrid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73152" marT="36576" marB="36576" anchor="ctr">
                    <a:solidFill>
                      <a:srgbClr val="0F21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Chatbot</a:t>
                      </a:r>
                    </a:p>
                  </a:txBody>
                  <a:tcPr marL="91440" marR="73152" marT="36576" marB="36576" anchor="ctr">
                    <a:solidFill>
                      <a:srgbClr val="0F21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 marL="91440" marR="73152" marT="36576" marB="36576" anchor="ctr">
                    <a:solidFill>
                      <a:srgbClr val="0F214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145"/>
                          </a:solidFill>
                          <a:latin typeface="Calibri"/>
                        </a:rPr>
                        <a:t>You ask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“What is Infosys' P/E?”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“Review my portfolio and flag concentration risks.”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145"/>
                          </a:solidFill>
                          <a:latin typeface="Calibri"/>
                        </a:rPr>
                        <a:t>It does</a:t>
                      </a:r>
                    </a:p>
                  </a:txBody>
                  <a:tcPr marL="91440" marR="73152" marT="36576" marB="36576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Answers from context in one shot</a:t>
                      </a:r>
                    </a:p>
                  </a:txBody>
                  <a:tcPr marL="91440" marR="73152" marT="36576" marB="36576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Fetches prices → computes weights → checks limits → drafts memo</a:t>
                      </a:r>
                    </a:p>
                  </a:txBody>
                  <a:tcPr marL="91440" marR="73152" marT="36576" marB="36576" anchor="ctr">
                    <a:solidFill>
                      <a:srgbClr val="F1F4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145"/>
                          </a:solidFill>
                          <a:latin typeface="Calibri"/>
                        </a:rPr>
                        <a:t>Steps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One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Many — it decides the sequence itself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145"/>
                          </a:solidFill>
                          <a:latin typeface="Calibri"/>
                        </a:rPr>
                        <a:t>Trust needed</a:t>
                      </a:r>
                    </a:p>
                  </a:txBody>
                  <a:tcPr marL="91440" marR="73152" marT="36576" marB="36576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Verify the answer</a:t>
                      </a:r>
                    </a:p>
                  </a:txBody>
                  <a:tcPr marL="91440" marR="73152" marT="36576" marB="36576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Verify the actions — permissions matter</a:t>
                      </a:r>
                    </a:p>
                  </a:txBody>
                  <a:tcPr marL="91440" marR="73152" marT="36576" marB="36576" anchor="ctr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D6B7E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5D6B7E"/>
                </a:solidFill>
                <a:latin typeface="Calibri"/>
              </a:rPr>
              <a:t>SESSION 1  ·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50">
                <a:solidFill>
                  <a:srgbClr val="C9A227"/>
                </a:solidFill>
                <a:latin typeface="Calibri"/>
              </a:rPr>
              <a:t>BLOCK D ·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F2145"/>
                </a:solidFill>
                <a:latin typeface="Georgia"/>
              </a:rPr>
              <a:t>Anatomy of an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2743200"/>
            <a:ext cx="3200400" cy="1371600"/>
          </a:xfrm>
          <a:prstGeom prst="roundRect">
            <a:avLst>
              <a:gd name="adj" fmla="val 10000"/>
            </a:avLst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53712" y="2743200"/>
            <a:ext cx="3054096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LLM CORE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C9D6EE"/>
                </a:solidFill>
                <a:latin typeface="Calibri"/>
              </a:rPr>
              <a:t>reasons, plans, decides the next step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81328"/>
            <a:ext cx="3200400" cy="777240"/>
          </a:xfrm>
          <a:prstGeom prst="roundRect">
            <a:avLst>
              <a:gd name="adj" fmla="val 10000"/>
            </a:avLst>
          </a:prstGeom>
          <a:solidFill>
            <a:srgbClr val="F5E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481328"/>
            <a:ext cx="305409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8F7113"/>
                </a:solidFill>
                <a:latin typeface="Calibri"/>
              </a:rPr>
              <a:t>Goal from user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5D6B7E"/>
                </a:solidFill>
                <a:latin typeface="Calibri"/>
              </a:rPr>
              <a:t>“Prepare the monthly portfolio review”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61888" y="2286000"/>
            <a:ext cx="219456" cy="420624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743200"/>
            <a:ext cx="3017520" cy="1371600"/>
          </a:xfrm>
          <a:prstGeom prst="roundRect">
            <a:avLst>
              <a:gd name="adj" fmla="val 10000"/>
            </a:avLst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1" y="2743200"/>
            <a:ext cx="287121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0F2145"/>
                </a:solidFill>
                <a:latin typeface="Calibri"/>
              </a:rPr>
              <a:t>Memory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5D6B7E"/>
                </a:solidFill>
                <a:latin typeface="Calibri"/>
              </a:rPr>
              <a:t>conversation state · client facts · past runs</a:t>
            </a:r>
          </a:p>
        </p:txBody>
      </p:sp>
      <p:sp>
        <p:nvSpPr>
          <p:cNvPr id="12" name="Left-Right Arrow 11"/>
          <p:cNvSpPr/>
          <p:nvPr/>
        </p:nvSpPr>
        <p:spPr>
          <a:xfrm>
            <a:off x="3712463" y="3310128"/>
            <a:ext cx="713232" cy="237744"/>
          </a:xfrm>
          <a:prstGeom prst="left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03920" y="2743200"/>
            <a:ext cx="3017520" cy="1371600"/>
          </a:xfrm>
          <a:prstGeom prst="roundRect">
            <a:avLst>
              <a:gd name="adj" fmla="val 10000"/>
            </a:avLst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743200"/>
            <a:ext cx="287121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0F2145"/>
                </a:solidFill>
                <a:latin typeface="Calibri"/>
              </a:rPr>
              <a:t>Tools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5D6B7E"/>
                </a:solidFill>
                <a:latin typeface="Calibri"/>
              </a:rPr>
              <a:t>market-data API · Python · database · email</a:t>
            </a:r>
          </a:p>
        </p:txBody>
      </p:sp>
      <p:sp>
        <p:nvSpPr>
          <p:cNvPr id="15" name="Left-Right Arrow 14"/>
          <p:cNvSpPr/>
          <p:nvPr/>
        </p:nvSpPr>
        <p:spPr>
          <a:xfrm>
            <a:off x="7735824" y="3310128"/>
            <a:ext cx="713232" cy="237744"/>
          </a:xfrm>
          <a:prstGeom prst="left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5961888" y="4169663"/>
            <a:ext cx="219456" cy="420624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80560" y="4645152"/>
            <a:ext cx="3200400" cy="777240"/>
          </a:xfrm>
          <a:prstGeom prst="roundRect">
            <a:avLst>
              <a:gd name="adj" fmla="val 10000"/>
            </a:avLst>
          </a:prstGeom>
          <a:solidFill>
            <a:srgbClr val="244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4645152"/>
            <a:ext cx="305409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Act → observe → repeat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C9D6EE"/>
                </a:solidFill>
                <a:latin typeface="Calibri"/>
              </a:rPr>
              <a:t>loops until the goal is met, then 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315968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D6B7E"/>
                </a:solidFill>
                <a:latin typeface="Calibri"/>
              </a:rPr>
              <a:t>Without memory it repeats questions and forgets constraints.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315968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D6B7E"/>
                </a:solidFill>
                <a:latin typeface="Calibri"/>
              </a:rPr>
              <a:t>Without tools it can only talk. Tools are where work happens — and where permissions live.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742432"/>
            <a:ext cx="11094415" cy="502920"/>
          </a:xfrm>
          <a:prstGeom prst="roundRect">
            <a:avLst>
              <a:gd name="adj" fmla="val 14000"/>
            </a:avLst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574243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0F2145"/>
                </a:solidFill>
                <a:latin typeface="Calibri"/>
              </a:rPr>
              <a:t>One sentence: </a:t>
            </a:r>
            <a:r>
              <a:rPr sz="1150" b="0" i="1">
                <a:solidFill>
                  <a:srgbClr val="1B2A41"/>
                </a:solidFill>
                <a:latin typeface="Calibri"/>
              </a:rPr>
              <a:t>an agent is an LLM in a loop, with tools, memory and a goal.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D6B7E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5D6B7E"/>
                </a:solidFill>
                <a:latin typeface="Calibri"/>
              </a:rPr>
              <a:t>SESSION 1  ·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50">
                <a:solidFill>
                  <a:srgbClr val="C9A227"/>
                </a:solidFill>
                <a:latin typeface="Calibri"/>
              </a:rPr>
              <a:t>BLOCK D ·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F2145"/>
                </a:solidFill>
                <a:latin typeface="Georgia"/>
              </a:rPr>
              <a:t>Tool use — how an LLM presses buttons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719072"/>
            <a:ext cx="475488" cy="47548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1907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F2145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1554480"/>
            <a:ext cx="10378440" cy="841248"/>
          </a:xfrm>
          <a:prstGeom prst="roundRect">
            <a:avLst>
              <a:gd name="adj" fmla="val 10000"/>
            </a:avLst>
          </a:prstGeom>
          <a:solidFill>
            <a:srgbClr val="F5E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1636776"/>
            <a:ext cx="9875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8F7113"/>
                </a:solidFill>
                <a:latin typeface="Calibri"/>
              </a:rPr>
              <a:t>You ask   </a:t>
            </a:r>
            <a:r>
              <a:rPr sz="1150" b="0" i="0">
                <a:solidFill>
                  <a:srgbClr val="5D6B7E"/>
                </a:solidFill>
                <a:latin typeface="Calibri"/>
              </a:rPr>
              <a:t>“What's HDFC Bank's price move today, and should I worry about my exposure?”</a:t>
            </a:r>
          </a:p>
        </p:txBody>
      </p:sp>
      <p:sp>
        <p:nvSpPr>
          <p:cNvPr id="9" name="Down Arrow 8"/>
          <p:cNvSpPr/>
          <p:nvPr/>
        </p:nvSpPr>
        <p:spPr>
          <a:xfrm>
            <a:off x="731520" y="2267712"/>
            <a:ext cx="128016" cy="274320"/>
          </a:xfrm>
          <a:prstGeom prst="downArrow">
            <a:avLst/>
          </a:prstGeom>
          <a:solidFill>
            <a:srgbClr val="D9D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" y="2724912"/>
            <a:ext cx="475488" cy="47548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2491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F2145"/>
                </a:solidFill>
                <a:latin typeface="Calibr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34440" y="2560320"/>
            <a:ext cx="10378440" cy="841248"/>
          </a:xfrm>
          <a:prstGeom prst="roundRect">
            <a:avLst>
              <a:gd name="adj" fmla="val 10000"/>
            </a:avLst>
          </a:prstGeom>
          <a:solidFill>
            <a:srgbClr val="244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642615"/>
            <a:ext cx="9875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Model chooses a tool   </a:t>
            </a:r>
            <a:r>
              <a:rPr sz="1150" b="0" i="0">
                <a:solidFill>
                  <a:srgbClr val="C9D6EE"/>
                </a:solidFill>
                <a:latin typeface="Calibri"/>
              </a:rPr>
              <a:t>It can't know live prices — so it emits a structured call:  get_price(“HDFCBANK”)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731520" y="3273552"/>
            <a:ext cx="128016" cy="274320"/>
          </a:xfrm>
          <a:prstGeom prst="downArrow">
            <a:avLst/>
          </a:prstGeom>
          <a:solidFill>
            <a:srgbClr val="D9D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8640" y="3730752"/>
            <a:ext cx="475488" cy="47548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73075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F2145"/>
                </a:solidFill>
                <a:latin typeface="Calibri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34440" y="3566160"/>
            <a:ext cx="10378440" cy="841248"/>
          </a:xfrm>
          <a:prstGeom prst="roundRect">
            <a:avLst>
              <a:gd name="adj" fmla="val 10000"/>
            </a:avLst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3648456"/>
            <a:ext cx="9875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Calibri"/>
              </a:rPr>
              <a:t>Your system runs it   </a:t>
            </a:r>
            <a:r>
              <a:rPr sz="1150" b="0" i="0">
                <a:solidFill>
                  <a:srgbClr val="5D6B7E"/>
                </a:solidFill>
                <a:latin typeface="Calibri"/>
              </a:rPr>
              <a:t>The API executes and returns data: ₹1,642 · −3.1% today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731520" y="4279392"/>
            <a:ext cx="128016" cy="274320"/>
          </a:xfrm>
          <a:prstGeom prst="downArrow">
            <a:avLst/>
          </a:prstGeom>
          <a:solidFill>
            <a:srgbClr val="D9D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8640" y="4736592"/>
            <a:ext cx="475488" cy="47548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73659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F2145"/>
                </a:solidFill>
                <a:latin typeface="Calibri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4572000"/>
            <a:ext cx="10378440" cy="841248"/>
          </a:xfrm>
          <a:prstGeom prst="roundRect">
            <a:avLst>
              <a:gd name="adj" fmla="val 10000"/>
            </a:avLst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08760" y="4654296"/>
            <a:ext cx="9875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Model answers with real data   </a:t>
            </a:r>
            <a:r>
              <a:rPr sz="1150" b="0" i="0">
                <a:solidFill>
                  <a:srgbClr val="C9D6EE"/>
                </a:solidFill>
                <a:latin typeface="Calibri"/>
              </a:rPr>
              <a:t>“Down 3.1%. Your 18% position breaches the 15% concentration limit — consider trimming.”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669280"/>
            <a:ext cx="11094415" cy="566928"/>
          </a:xfrm>
          <a:prstGeom prst="roundRect">
            <a:avLst>
              <a:gd name="adj" fmla="val 14000"/>
            </a:avLst>
          </a:prstGeom>
          <a:solidFill>
            <a:srgbClr val="F5E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5669280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8F7113"/>
                </a:solidFill>
                <a:latin typeface="Calibri"/>
              </a:rPr>
              <a:t>The model never touches the market.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It requests; your code executes under your permissions. This boundary is where all enterprise-AI governance lives.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D6B7E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5D6B7E"/>
                </a:solidFill>
                <a:latin typeface="Calibri"/>
              </a:rPr>
              <a:t>SESSION 1  ·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50">
                <a:solidFill>
                  <a:srgbClr val="C9A227"/>
                </a:solidFill>
                <a:latin typeface="Calibri"/>
              </a:rPr>
              <a:t>BLOCK D ·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F2145"/>
                </a:solidFill>
                <a:latin typeface="Georgia"/>
              </a:rPr>
              <a:t>Agent types — the classic ladder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4846320" cy="804672"/>
          </a:xfrm>
          <a:prstGeom prst="roundRect">
            <a:avLst>
              <a:gd name="adj" fmla="val 10000"/>
            </a:avLst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545336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Calibri"/>
              </a:rPr>
              <a:t>1 · Simple reflex   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D6B7E"/>
                </a:solidFill>
                <a:latin typeface="Calibri"/>
              </a:rPr>
              <a:t>IF condition THEN act. No memory of the world.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627632"/>
            <a:ext cx="46634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5D6B7E"/>
                </a:solidFill>
                <a:latin typeface="Calibri"/>
              </a:rPr>
              <a:t>Price alert: “if NIFTY drops 2%, SMS me.”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368296"/>
            <a:ext cx="4846320" cy="804672"/>
          </a:xfrm>
          <a:prstGeom prst="roundRect">
            <a:avLst>
              <a:gd name="adj" fmla="val 10000"/>
            </a:avLst>
          </a:prstGeom>
          <a:solidFill>
            <a:srgbClr val="D5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2432303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Calibri"/>
              </a:rPr>
              <a:t>2 · Model-based   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D6B7E"/>
                </a:solidFill>
                <a:latin typeface="Calibri"/>
              </a:rPr>
              <a:t>Keeps an internal picture of the world's state.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514600"/>
            <a:ext cx="46634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5D6B7E"/>
                </a:solidFill>
                <a:latin typeface="Calibri"/>
              </a:rPr>
              <a:t>Portfolio tracker that knows holdings &amp; cash in real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19" y="3255263"/>
            <a:ext cx="4846320" cy="804672"/>
          </a:xfrm>
          <a:prstGeom prst="roundRect">
            <a:avLst>
              <a:gd name="adj" fmla="val 10000"/>
            </a:avLst>
          </a:prstGeom>
          <a:solidFill>
            <a:srgbClr val="BFD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8175" y="3319271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Calibri"/>
              </a:rPr>
              <a:t>3 · Goal-based   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D6B7E"/>
                </a:solidFill>
                <a:latin typeface="Calibri"/>
              </a:rPr>
              <a:t>Plans a sequence of actions to hit a target.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401568"/>
            <a:ext cx="46634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5D6B7E"/>
                </a:solidFill>
                <a:latin typeface="Calibri"/>
              </a:rPr>
              <a:t>Rebalancer: “get me to 60/40 with minimum trades.”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08760" y="4142231"/>
            <a:ext cx="4846320" cy="804672"/>
          </a:xfrm>
          <a:prstGeom prst="roundRect">
            <a:avLst>
              <a:gd name="adj" fmla="val 10000"/>
            </a:avLst>
          </a:prstGeom>
          <a:solidFill>
            <a:srgbClr val="A6B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28216" y="4206240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Calibri"/>
              </a:rPr>
              <a:t>4 · Utility-based   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D6B7E"/>
                </a:solidFill>
                <a:latin typeface="Calibri"/>
              </a:rPr>
              <a:t>Weighs trade-offs; maximises a score, not just a goal.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4288536"/>
            <a:ext cx="46634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5D6B7E"/>
                </a:solidFill>
                <a:latin typeface="Calibri"/>
              </a:rPr>
              <a:t>Execution agent balancing speed vs market impact vs cost.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5029199"/>
            <a:ext cx="4846320" cy="804672"/>
          </a:xfrm>
          <a:prstGeom prst="roundRect">
            <a:avLst>
              <a:gd name="adj" fmla="val 10000"/>
            </a:avLst>
          </a:prstGeom>
          <a:solidFill>
            <a:srgbClr val="244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48256" y="5093207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5 · Learning   </a:t>
            </a:r>
          </a:p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C9D6EE"/>
                </a:solidFill>
                <a:latin typeface="Calibri"/>
              </a:rPr>
              <a:t>Improves its own policy from feedback over time.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5175503"/>
            <a:ext cx="46634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5D6B7E"/>
                </a:solidFill>
                <a:latin typeface="Calibri"/>
              </a:rPr>
              <a:t>RL market-maker adjusting quotes from filled-order outcomes.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1261872"/>
            <a:ext cx="4663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200">
                <a:solidFill>
                  <a:srgbClr val="5D6B7E"/>
                </a:solidFill>
                <a:latin typeface="Calibri"/>
              </a:rPr>
              <a:t>FINANCE EXAMPLE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897880"/>
            <a:ext cx="11094415" cy="475488"/>
          </a:xfrm>
          <a:prstGeom prst="roundRect">
            <a:avLst>
              <a:gd name="adj" fmla="val 14000"/>
            </a:avLst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5897880"/>
            <a:ext cx="10637215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0F2145"/>
                </a:solidFill>
                <a:latin typeface="Calibri"/>
              </a:rPr>
              <a:t>Climbing the ladder = more autonomy.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LLM agents typically operate at goal/utility level — and add language as their interface.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D6B7E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5D6B7E"/>
                </a:solidFill>
                <a:latin typeface="Calibri"/>
              </a:rPr>
              <a:t>SESSION 1  ·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50">
                <a:solidFill>
                  <a:srgbClr val="C9A227"/>
                </a:solidFill>
                <a:latin typeface="Calibri"/>
              </a:rPr>
              <a:t>BLOCK D ·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F2145"/>
                </a:solidFill>
                <a:latin typeface="Georgia"/>
              </a:rPr>
              <a:t>Agentic AI — the ReAct loop and the autonomy dial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26464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60">
                <a:solidFill>
                  <a:srgbClr val="5D6B7E"/>
                </a:solidFill>
                <a:latin typeface="Calibri"/>
              </a:rPr>
              <a:t>THE ReAct LOOP — REASON, ACT, OBSERVE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783080"/>
            <a:ext cx="1545336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REASON</a:t>
            </a:r>
          </a:p>
          <a:p>
            <a:pPr algn="ctr">
              <a:spcBef>
                <a:spcPts val="200"/>
              </a:spcBef>
            </a:pPr>
            <a:r>
              <a:rPr sz="800" b="0" i="0">
                <a:solidFill>
                  <a:srgbClr val="C9D6EE"/>
                </a:solidFill>
                <a:latin typeface="Calibri"/>
              </a:rPr>
              <a:t>“I need FY25 debt figures first”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331720" y="2121408"/>
            <a:ext cx="365760" cy="23774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61488" y="178308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244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783080"/>
            <a:ext cx="1545336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ACT</a:t>
            </a:r>
          </a:p>
          <a:p>
            <a:pPr algn="ctr">
              <a:spcBef>
                <a:spcPts val="200"/>
              </a:spcBef>
            </a:pPr>
            <a:r>
              <a:rPr sz="800" b="0" i="0">
                <a:solidFill>
                  <a:srgbClr val="C9D6EE"/>
                </a:solidFill>
                <a:latin typeface="Calibri"/>
              </a:rPr>
              <a:t>call tool: fetch balance sheet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544568" y="2121408"/>
            <a:ext cx="365760" cy="23774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74336" y="178308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7488" y="1783080"/>
            <a:ext cx="1545336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OBSERVE</a:t>
            </a:r>
          </a:p>
          <a:p>
            <a:pPr algn="ctr">
              <a:spcBef>
                <a:spcPts val="200"/>
              </a:spcBef>
            </a:pPr>
            <a:r>
              <a:rPr sz="800" b="0" i="0">
                <a:solidFill>
                  <a:srgbClr val="C9D6EE"/>
                </a:solidFill>
                <a:latin typeface="Calibri"/>
              </a:rPr>
              <a:t>“debt ₹1.2 lakh cr — now check maturity”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9864" y="2697480"/>
            <a:ext cx="45720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3108960"/>
            <a:ext cx="4443984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Up Arrow 15"/>
          <p:cNvSpPr/>
          <p:nvPr/>
        </p:nvSpPr>
        <p:spPr>
          <a:xfrm>
            <a:off x="1271016" y="2788920"/>
            <a:ext cx="237744" cy="365760"/>
          </a:xfrm>
          <a:prstGeom prst="up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7360" y="3255264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8F7113"/>
                </a:solidFill>
                <a:latin typeface="Calibri"/>
              </a:rPr>
              <a:t>repeat until the goal is done — then stop and report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31920"/>
            <a:ext cx="61264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4096512"/>
            <a:ext cx="5760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2145"/>
                </a:solidFill>
                <a:latin typeface="Georgia"/>
              </a:rPr>
              <a:t>What makes AI “agentic”</a:t>
            </a:r>
          </a:p>
          <a:p>
            <a:pPr algn="l">
              <a:spcBef>
                <a:spcPts val="700"/>
              </a:spcBef>
            </a:pPr>
            <a:r>
              <a:rPr sz="10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050" b="0" i="0">
                <a:solidFill>
                  <a:srgbClr val="1B2A41"/>
                </a:solidFill>
                <a:latin typeface="Calibri"/>
              </a:rPr>
              <a:t>Autonomy — takes multiple steps without being re-prompted each time</a:t>
            </a:r>
          </a:p>
          <a:p>
            <a:pPr algn="l">
              <a:spcBef>
                <a:spcPts val="400"/>
              </a:spcBef>
            </a:pPr>
            <a:r>
              <a:rPr sz="10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050" b="0" i="0">
                <a:solidFill>
                  <a:srgbClr val="1B2A41"/>
                </a:solidFill>
                <a:latin typeface="Calibri"/>
              </a:rPr>
              <a:t>Decomposition — breaks “review the portfolio” into sub-tasks itself</a:t>
            </a:r>
          </a:p>
          <a:p>
            <a:pPr algn="l">
              <a:spcBef>
                <a:spcPts val="400"/>
              </a:spcBef>
            </a:pPr>
            <a:r>
              <a:rPr sz="10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050" b="0" i="0">
                <a:solidFill>
                  <a:srgbClr val="1B2A41"/>
                </a:solidFill>
                <a:latin typeface="Calibri"/>
              </a:rPr>
              <a:t>Reflection — checks its own output and retries when it finds errors</a:t>
            </a:r>
          </a:p>
          <a:p>
            <a:pPr algn="l">
              <a:spcBef>
                <a:spcPts val="400"/>
              </a:spcBef>
            </a:pPr>
            <a:r>
              <a:rPr sz="10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050" b="0" i="0">
                <a:solidFill>
                  <a:srgbClr val="1B2A41"/>
                </a:solidFill>
                <a:latin typeface="Calibri"/>
              </a:rPr>
              <a:t>Persistence — carries state and memory across the whole task</a:t>
            </a:r>
          </a:p>
          <a:p>
            <a:pPr algn="l">
              <a:spcBef>
                <a:spcPts val="400"/>
              </a:spcBef>
            </a:pPr>
            <a:r>
              <a:rPr sz="10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050" b="0" i="0">
                <a:solidFill>
                  <a:srgbClr val="1B2A41"/>
                </a:solidFill>
                <a:latin typeface="Calibri"/>
              </a:rPr>
              <a:t>Bounded — permissions and human sign-off still apply at the edges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1426464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5D6B7E"/>
                </a:solidFill>
                <a:latin typeface="Calibri"/>
              </a:rPr>
              <a:t>THE AUTONOMY DIAL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1783080"/>
            <a:ext cx="4572000" cy="932688"/>
          </a:xfrm>
          <a:prstGeom prst="roundRect">
            <a:avLst>
              <a:gd name="adj" fmla="val 10000"/>
            </a:avLst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78624" y="1874519"/>
            <a:ext cx="4206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Calibri"/>
              </a:rPr>
              <a:t>Chatbot  </a:t>
            </a:r>
            <a:r>
              <a:rPr sz="1000" b="0" i="0">
                <a:solidFill>
                  <a:srgbClr val="5D6B7E"/>
                </a:solidFill>
                <a:latin typeface="Calibri"/>
              </a:rPr>
              <a:t>— answers questions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2862072"/>
            <a:ext cx="4572000" cy="932688"/>
          </a:xfrm>
          <a:prstGeom prst="roundRect">
            <a:avLst>
              <a:gd name="adj" fmla="val 10000"/>
            </a:avLst>
          </a:prstGeom>
          <a:solidFill>
            <a:srgbClr val="BFD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78624" y="2953512"/>
            <a:ext cx="4206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Calibri"/>
              </a:rPr>
              <a:t>Copilot  </a:t>
            </a:r>
            <a:r>
              <a:rPr sz="1000" b="0" i="0">
                <a:solidFill>
                  <a:srgbClr val="5D6B7E"/>
                </a:solidFill>
                <a:latin typeface="Calibri"/>
              </a:rPr>
              <a:t>— drafts, you approve each step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0" y="3941063"/>
            <a:ext cx="4572000" cy="932688"/>
          </a:xfrm>
          <a:prstGeom prst="roundRect">
            <a:avLst>
              <a:gd name="adj" fmla="val 10000"/>
            </a:avLst>
          </a:prstGeom>
          <a:solidFill>
            <a:srgbClr val="244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78624" y="4032503"/>
            <a:ext cx="4206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Agent  </a:t>
            </a:r>
            <a:r>
              <a:rPr sz="1000" b="0" i="0">
                <a:solidFill>
                  <a:srgbClr val="C9D6EE"/>
                </a:solidFill>
                <a:latin typeface="Calibri"/>
              </a:rPr>
              <a:t>— completes tasks, you review output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5020055"/>
            <a:ext cx="4572000" cy="932688"/>
          </a:xfrm>
          <a:prstGeom prst="roundRect">
            <a:avLst>
              <a:gd name="adj" fmla="val 10000"/>
            </a:avLst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78624" y="5111495"/>
            <a:ext cx="4206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Multi-agent  </a:t>
            </a:r>
            <a:r>
              <a:rPr sz="1000" b="0" i="0">
                <a:solidFill>
                  <a:srgbClr val="C9D6EE"/>
                </a:solidFill>
                <a:latin typeface="Calibri"/>
              </a:rPr>
              <a:t>— teams of agents run workflows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D6B7E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5D6B7E"/>
                </a:solidFill>
                <a:latin typeface="Calibri"/>
              </a:rPr>
              <a:t>SESSION 1  ·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50">
                <a:solidFill>
                  <a:srgbClr val="C9A227"/>
                </a:solidFill>
                <a:latin typeface="Calibri"/>
              </a:rPr>
              <a:t>BLOCK D ·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F2145"/>
                </a:solidFill>
                <a:latin typeface="Georgia"/>
              </a:rPr>
              <a:t>Multi-agent systems — a deal team of 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2646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60">
                <a:solidFill>
                  <a:srgbClr val="5D6B7E"/>
                </a:solidFill>
                <a:latin typeface="Calibri"/>
              </a:rPr>
              <a:t>PATTERN · PLANNER — EXECUTOR — CRITIC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2286000" cy="1051560"/>
          </a:xfrm>
          <a:prstGeom prst="roundRect">
            <a:avLst>
              <a:gd name="adj" fmla="val 10000"/>
            </a:avLst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783080"/>
            <a:ext cx="2139696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PLANNER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C9D6EE"/>
                </a:solidFill>
                <a:latin typeface="Calibri"/>
              </a:rPr>
              <a:t>splits “value this target” into steps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44368" y="2194560"/>
            <a:ext cx="365760" cy="23774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0" y="1783080"/>
            <a:ext cx="2286000" cy="1051560"/>
          </a:xfrm>
          <a:prstGeom prst="roundRect">
            <a:avLst>
              <a:gd name="adj" fmla="val 10000"/>
            </a:avLst>
          </a:prstGeom>
          <a:solidFill>
            <a:srgbClr val="244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2152" y="1783080"/>
            <a:ext cx="2139696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EXECUTOR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C9D6EE"/>
                </a:solidFill>
                <a:latin typeface="Calibri"/>
              </a:rPr>
              <a:t>runs each step with tools: data, DCF, comps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24727" y="2194560"/>
            <a:ext cx="365760" cy="23774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59" y="1783080"/>
            <a:ext cx="2286000" cy="1051560"/>
          </a:xfrm>
          <a:prstGeom prst="roundRect">
            <a:avLst>
              <a:gd name="adj" fmla="val 10000"/>
            </a:avLst>
          </a:prstGeom>
          <a:solidFill>
            <a:srgbClr val="8F7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783080"/>
            <a:ext cx="2139696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CRITIC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F5ECD3"/>
                </a:solidFill>
                <a:latin typeface="Calibri"/>
              </a:rPr>
              <a:t>audits output: “re-check WACC — beta looks stale”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24927" y="2834640"/>
            <a:ext cx="45720" cy="3840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64207" y="3172968"/>
            <a:ext cx="580644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Up Arrow 15"/>
          <p:cNvSpPr/>
          <p:nvPr/>
        </p:nvSpPr>
        <p:spPr>
          <a:xfrm>
            <a:off x="1572768" y="2907792"/>
            <a:ext cx="237744" cy="310896"/>
          </a:xfrm>
          <a:prstGeom prst="up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3310128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1">
                <a:solidFill>
                  <a:srgbClr val="8F7113"/>
                </a:solidFill>
                <a:latin typeface="Calibri"/>
              </a:rPr>
              <a:t>critic sends work back until it passes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1783080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5712" y="1920240"/>
            <a:ext cx="23774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2145"/>
                </a:solidFill>
                <a:latin typeface="Georgia"/>
              </a:rPr>
              <a:t>Why split roles?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1000" b="0" i="0">
                <a:solidFill>
                  <a:srgbClr val="5D6B7E"/>
                </a:solidFill>
                <a:latin typeface="Calibri"/>
              </a:rPr>
              <a:t>Same reason banks do: focus, checks and balances, auditability.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9502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60">
                <a:solidFill>
                  <a:srgbClr val="5D6B7E"/>
                </a:solidFill>
                <a:latin typeface="Calibri"/>
              </a:rPr>
              <a:t>PATTERN · SPECIALIST TEAM — IC MEMO IN AN AFTERNOON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79392"/>
            <a:ext cx="2112264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279392"/>
            <a:ext cx="2112264" cy="640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4434840"/>
            <a:ext cx="1828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2145"/>
                </a:solidFill>
                <a:latin typeface="Calibri"/>
              </a:rPr>
              <a:t>Research agent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900" b="0" i="0">
                <a:solidFill>
                  <a:srgbClr val="5D6B7E"/>
                </a:solidFill>
                <a:latin typeface="Calibri"/>
              </a:rPr>
              <a:t>screens filings, news, transcripts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88920" y="4279392"/>
            <a:ext cx="2112264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88920" y="4279392"/>
            <a:ext cx="2112264" cy="640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35224" y="4434840"/>
            <a:ext cx="1828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2145"/>
                </a:solidFill>
                <a:latin typeface="Calibri"/>
              </a:rPr>
              <a:t>Valuation agent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900" b="0" i="0">
                <a:solidFill>
                  <a:srgbClr val="5D6B7E"/>
                </a:solidFill>
                <a:latin typeface="Calibri"/>
              </a:rPr>
              <a:t>builds DCF and comps tables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0" y="4279392"/>
            <a:ext cx="2112264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0" y="4279392"/>
            <a:ext cx="2112264" cy="640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75504" y="4434840"/>
            <a:ext cx="1828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2145"/>
                </a:solidFill>
                <a:latin typeface="Calibri"/>
              </a:rPr>
              <a:t>Risk agent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900" b="0" i="0">
                <a:solidFill>
                  <a:srgbClr val="5D6B7E"/>
                </a:solidFill>
                <a:latin typeface="Calibri"/>
              </a:rPr>
              <a:t>stress-tests, checks limits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69480" y="4279392"/>
            <a:ext cx="2112264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69480" y="4279392"/>
            <a:ext cx="2112264" cy="640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15783" y="4434840"/>
            <a:ext cx="1828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2145"/>
                </a:solidFill>
                <a:latin typeface="Calibri"/>
              </a:rPr>
              <a:t>Compliance agent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900" b="0" i="0">
                <a:solidFill>
                  <a:srgbClr val="5D6B7E"/>
                </a:solidFill>
                <a:latin typeface="Calibri"/>
              </a:rPr>
              <a:t>flags restricted names, MNPI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09760" y="4279392"/>
            <a:ext cx="2112264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09760" y="4279392"/>
            <a:ext cx="2112264" cy="640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56064" y="4434840"/>
            <a:ext cx="1828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2145"/>
                </a:solidFill>
                <a:latin typeface="Calibri"/>
              </a:rPr>
              <a:t>Writer agent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900" b="0" i="0">
                <a:solidFill>
                  <a:srgbClr val="5D6B7E"/>
                </a:solidFill>
                <a:latin typeface="Calibri"/>
              </a:rPr>
              <a:t>assembles the IC memo, cited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806440"/>
            <a:ext cx="11094415" cy="502920"/>
          </a:xfrm>
          <a:prstGeom prst="roundRect">
            <a:avLst>
              <a:gd name="adj" fmla="val 14000"/>
            </a:avLst>
          </a:prstGeom>
          <a:solidFill>
            <a:srgbClr val="F5E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" y="580644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8F7113"/>
                </a:solidFill>
                <a:latin typeface="Calibri"/>
              </a:rPr>
              <a:t>Agentic design patterns to remember: </a:t>
            </a:r>
            <a:r>
              <a:rPr sz="1100" b="0" i="0">
                <a:solidFill>
                  <a:srgbClr val="1B2A41"/>
                </a:solidFill>
                <a:latin typeface="Calibri"/>
              </a:rPr>
              <a:t>reflection · tool use · planning · multi-agent collaboration.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D6B7E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5D6B7E"/>
                </a:solidFill>
                <a:latin typeface="Calibri"/>
              </a:rPr>
              <a:t>SESSION 1  ·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50">
                <a:solidFill>
                  <a:srgbClr val="C9A227"/>
                </a:solidFill>
                <a:latin typeface="Calibri"/>
              </a:rPr>
              <a:t>BLOCK E · FRAMEWORKS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F2145"/>
                </a:solidFill>
                <a:latin typeface="Georgia"/>
              </a:rPr>
              <a:t>LangChain — the Lego kit for LLM apps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2A41"/>
                </a:solidFill>
                <a:latin typeface="Calibri"/>
              </a:rPr>
              <a:t>An open-source framework of pre-built blocks, so developers don't rebuild prompts, retrieval, memory and tool-wiring from scratch every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6118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64008" cy="91440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029968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Calibri"/>
              </a:rPr>
              <a:t>Models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000" b="0" i="0">
                <a:solidFill>
                  <a:srgbClr val="5D6B7E"/>
                </a:solidFill>
                <a:latin typeface="Calibri"/>
              </a:rPr>
              <a:t>plug in GPT, Claude, Gemini interchangeably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8" y="1920240"/>
            <a:ext cx="36118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1920240"/>
            <a:ext cx="64008" cy="91440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2029968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Calibri"/>
              </a:rPr>
              <a:t>Prompts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000" b="0" i="0">
                <a:solidFill>
                  <a:srgbClr val="5D6B7E"/>
                </a:solidFill>
                <a:latin typeface="Calibri"/>
              </a:rPr>
              <a:t>reusable templates with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83296" y="1920240"/>
            <a:ext cx="36118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83296" y="1920240"/>
            <a:ext cx="64008" cy="91440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2029968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Calibri"/>
              </a:rPr>
              <a:t>Retrievers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000" b="0" i="0">
                <a:solidFill>
                  <a:srgbClr val="5D6B7E"/>
                </a:solidFill>
                <a:latin typeface="Calibri"/>
              </a:rPr>
              <a:t>the RAG machinery, ready-made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962656"/>
            <a:ext cx="36118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962656"/>
            <a:ext cx="64008" cy="91440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072384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Calibri"/>
              </a:rPr>
              <a:t>Tools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000" b="0" i="0">
                <a:solidFill>
                  <a:srgbClr val="5D6B7E"/>
                </a:solidFill>
                <a:latin typeface="Calibri"/>
              </a:rPr>
              <a:t>search, code, APIs, databases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2962656"/>
            <a:ext cx="36118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2962656"/>
            <a:ext cx="64008" cy="91440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17136" y="3072384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Calibri"/>
              </a:rPr>
              <a:t>Memory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000" b="0" i="0">
                <a:solidFill>
                  <a:srgbClr val="5D6B7E"/>
                </a:solidFill>
                <a:latin typeface="Calibri"/>
              </a:rPr>
              <a:t>conversation &amp; entity memory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83296" y="2962656"/>
            <a:ext cx="36118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83296" y="2962656"/>
            <a:ext cx="64008" cy="91440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4464" y="3072384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Calibri"/>
              </a:rPr>
              <a:t>Chains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000" b="0" i="0">
                <a:solidFill>
                  <a:srgbClr val="5D6B7E"/>
                </a:solidFill>
                <a:latin typeface="Calibri"/>
              </a:rPr>
              <a:t>glue steps into a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0624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60">
                <a:solidFill>
                  <a:srgbClr val="5D6B7E"/>
                </a:solidFill>
                <a:latin typeface="Calibri"/>
              </a:rPr>
              <a:t>A MINIMAL CHAIN — EARNINGS SUMMARISER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526280"/>
            <a:ext cx="2286000" cy="868680"/>
          </a:xfrm>
          <a:prstGeom prst="roundRect">
            <a:avLst>
              <a:gd name="adj" fmla="val 10000"/>
            </a:avLst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4526280"/>
            <a:ext cx="2139696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0F2145"/>
                </a:solidFill>
                <a:latin typeface="Calibri"/>
              </a:rPr>
              <a:t>Load transcript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5D6B7E"/>
                </a:solidFill>
                <a:latin typeface="Calibri"/>
              </a:rPr>
              <a:t>concall PDF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944368" y="4837176"/>
            <a:ext cx="365760" cy="23774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01568" y="4526280"/>
            <a:ext cx="2286000" cy="868680"/>
          </a:xfrm>
          <a:prstGeom prst="roundRect">
            <a:avLst>
              <a:gd name="adj" fmla="val 10000"/>
            </a:avLst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4526280"/>
            <a:ext cx="2139696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0F2145"/>
                </a:solidFill>
                <a:latin typeface="Calibri"/>
              </a:rPr>
              <a:t>Prompt template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5D6B7E"/>
                </a:solidFill>
                <a:latin typeface="Calibri"/>
              </a:rPr>
              <a:t>“summarise guidance changes…”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797296" y="4837176"/>
            <a:ext cx="365760" cy="23774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54496" y="4526280"/>
            <a:ext cx="2011680" cy="868680"/>
          </a:xfrm>
          <a:prstGeom prst="roundRect">
            <a:avLst>
              <a:gd name="adj" fmla="val 10000"/>
            </a:avLst>
          </a:prstGeom>
          <a:solidFill>
            <a:srgbClr val="244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8" y="4526280"/>
            <a:ext cx="1865376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LLM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C9D6EE"/>
                </a:solidFill>
                <a:latin typeface="Calibri"/>
              </a:rPr>
              <a:t>Claude / GPT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375904" y="4837176"/>
            <a:ext cx="365760" cy="23774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33104" y="4526280"/>
            <a:ext cx="2788920" cy="868680"/>
          </a:xfrm>
          <a:prstGeom prst="roundRect">
            <a:avLst>
              <a:gd name="adj" fmla="val 10000"/>
            </a:avLst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06256" y="4526280"/>
            <a:ext cx="26426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Parser → output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C9D6EE"/>
                </a:solidFill>
                <a:latin typeface="Calibri"/>
              </a:rPr>
              <a:t>clean table for your dashboard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742432"/>
            <a:ext cx="11094415" cy="502920"/>
          </a:xfrm>
          <a:prstGeom prst="roundRect">
            <a:avLst>
              <a:gd name="adj" fmla="val 14000"/>
            </a:avLst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" y="574243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0F2145"/>
                </a:solidFill>
                <a:latin typeface="Calibri"/>
              </a:rPr>
              <a:t>MBA takeaway: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chains are fixed pipelines — great when the steps are known in advance. When the AI must decide the path, you need a graph 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D6B7E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5D6B7E"/>
                </a:solidFill>
                <a:latin typeface="Calibri"/>
              </a:rPr>
              <a:t>SESSION 1  ·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50">
                <a:solidFill>
                  <a:srgbClr val="C9A227"/>
                </a:solidFill>
                <a:latin typeface="Calibri"/>
              </a:rPr>
              <a:t>BLOCK E · FRAMEWORKS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F2145"/>
                </a:solidFill>
                <a:latin typeface="Georgia"/>
              </a:rPr>
              <a:t>LangGraph — when workflows need loops and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B2A41"/>
                </a:solidFill>
                <a:latin typeface="Calibri"/>
              </a:rPr>
              <a:t>From the LangChain team: model your agent as a graph — boxes are steps, arrows are routes, and the system can branch, loop and pause for human approval.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1828800" cy="822960"/>
          </a:xfrm>
          <a:prstGeom prst="roundRect">
            <a:avLst>
              <a:gd name="adj" fmla="val 10000"/>
            </a:avLst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148840"/>
            <a:ext cx="1682496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0F2145"/>
                </a:solidFill>
                <a:latin typeface="Calibri"/>
              </a:rPr>
              <a:t>Application in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68880" y="2441448"/>
            <a:ext cx="365760" cy="23774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80360" y="2148840"/>
            <a:ext cx="1828800" cy="822960"/>
          </a:xfrm>
          <a:prstGeom prst="roundRect">
            <a:avLst>
              <a:gd name="adj" fmla="val 10000"/>
            </a:avLst>
          </a:prstGeom>
          <a:solidFill>
            <a:srgbClr val="244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53512" y="2148840"/>
            <a:ext cx="1682496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Extract financials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00600" y="2441448"/>
            <a:ext cx="365760" cy="23774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5257800" y="1984248"/>
            <a:ext cx="1554480" cy="1188720"/>
          </a:xfrm>
          <a:prstGeom prst="diamond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2258568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F2145"/>
                </a:solidFill>
                <a:latin typeface="Calibri"/>
              </a:rPr>
              <a:t>Credit score ≥ cut-off?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903720" y="2441448"/>
            <a:ext cx="365760" cy="23774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33488" y="2148840"/>
            <a:ext cx="1965960" cy="822960"/>
          </a:xfrm>
          <a:prstGeom prst="roundRect">
            <a:avLst>
              <a:gd name="adj" fmla="val 10000"/>
            </a:avLst>
          </a:prstGeom>
          <a:solidFill>
            <a:srgbClr val="244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148840"/>
            <a:ext cx="1819656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Draft sanction letter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390888" y="2441448"/>
            <a:ext cx="365760" cy="23774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02367" y="2148840"/>
            <a:ext cx="1920240" cy="822960"/>
          </a:xfrm>
          <a:prstGeom prst="roundRect">
            <a:avLst>
              <a:gd name="adj" fmla="val 10000"/>
            </a:avLst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19" y="2148840"/>
            <a:ext cx="1773936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Human approves</a:t>
            </a:r>
          </a:p>
          <a:p>
            <a:pPr algn="ctr">
              <a:spcBef>
                <a:spcPts val="200"/>
              </a:spcBef>
            </a:pPr>
            <a:r>
              <a:rPr sz="800" b="0" i="0">
                <a:solidFill>
                  <a:srgbClr val="C9D6EE"/>
                </a:solidFill>
                <a:latin typeface="Calibri"/>
              </a:rPr>
              <a:t>pause for sign-off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167128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F7D5B"/>
                </a:solidFill>
                <a:latin typeface="Calibri"/>
              </a:rPr>
              <a:t>yes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943600" y="3209544"/>
            <a:ext cx="201168" cy="365760"/>
          </a:xfrm>
          <a:prstGeom prst="downArrow">
            <a:avLst/>
          </a:prstGeom>
          <a:solidFill>
            <a:srgbClr val="A6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32461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A63D40"/>
                </a:solidFill>
                <a:latin typeface="Calibri"/>
              </a:rPr>
              <a:t>no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3666744"/>
            <a:ext cx="2011680" cy="777240"/>
          </a:xfrm>
          <a:prstGeom prst="roundRect">
            <a:avLst>
              <a:gd name="adj" fmla="val 10000"/>
            </a:avLst>
          </a:prstGeom>
          <a:solidFill>
            <a:srgbClr val="F6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02352" y="3666744"/>
            <a:ext cx="186537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A63D40"/>
                </a:solidFill>
                <a:latin typeface="Calibri"/>
              </a:rPr>
              <a:t>Request documents</a:t>
            </a:r>
          </a:p>
          <a:p>
            <a:pPr algn="ctr">
              <a:spcBef>
                <a:spcPts val="200"/>
              </a:spcBef>
            </a:pPr>
            <a:r>
              <a:rPr sz="800" b="0" i="0">
                <a:solidFill>
                  <a:srgbClr val="5D6B7E"/>
                </a:solidFill>
                <a:latin typeface="Calibri"/>
              </a:rPr>
              <a:t>then retry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76472" y="4005072"/>
            <a:ext cx="1252728" cy="45720"/>
          </a:xfrm>
          <a:prstGeom prst="rect">
            <a:avLst/>
          </a:prstGeom>
          <a:solidFill>
            <a:srgbClr val="A6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Up Arrow 25"/>
          <p:cNvSpPr/>
          <p:nvPr/>
        </p:nvSpPr>
        <p:spPr>
          <a:xfrm>
            <a:off x="3675887" y="3108960"/>
            <a:ext cx="237744" cy="941832"/>
          </a:xfrm>
          <a:prstGeom prst="upArrow">
            <a:avLst/>
          </a:prstGeom>
          <a:solidFill>
            <a:srgbClr val="A6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48640" y="4892040"/>
          <a:ext cx="11155680" cy="1499616"/>
        </p:xfrm>
        <a:graphic>
          <a:graphicData uri="http://schemas.openxmlformats.org/drawingml/2006/table">
            <a:tbl firstRow="1" bandRow="0">
              <a:tblPr firstRow="1" bandRow="1">
                <a:tableStyleId>{5C22544A-7EE6-4342-B048-85BDC9FD1C3A}</a:tableStyleId>
              </a:tblPr>
              <a:tblGrid>
                <a:gridCol w="3291840"/>
                <a:gridCol w="3931920"/>
                <a:gridCol w="3931920"/>
              </a:tblGrid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73152" marT="36576" marB="36576" anchor="ctr">
                    <a:solidFill>
                      <a:srgbClr val="0F21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LangChain (chains)</a:t>
                      </a:r>
                    </a:p>
                  </a:txBody>
                  <a:tcPr marL="91440" marR="73152" marT="36576" marB="36576" anchor="ctr">
                    <a:solidFill>
                      <a:srgbClr val="0F21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LangGraph (graphs)</a:t>
                      </a:r>
                    </a:p>
                  </a:txBody>
                  <a:tcPr marL="91440" marR="73152" marT="36576" marB="36576" anchor="ctr">
                    <a:solidFill>
                      <a:srgbClr val="0F2145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145"/>
                          </a:solidFill>
                          <a:latin typeface="Calibri"/>
                        </a:rPr>
                        <a:t>Path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A41"/>
                          </a:solidFill>
                          <a:latin typeface="Calibri"/>
                        </a:rPr>
                        <a:t>Fixed, linear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A41"/>
                          </a:solidFill>
                          <a:latin typeface="Calibri"/>
                        </a:rPr>
                        <a:t>Branches, loops, retries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145"/>
                          </a:solidFill>
                          <a:latin typeface="Calibri"/>
                        </a:rPr>
                        <a:t>Human sign-off</a:t>
                      </a:r>
                    </a:p>
                  </a:txBody>
                  <a:tcPr marL="91440" marR="73152" marT="36576" marB="36576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A41"/>
                          </a:solidFill>
                          <a:latin typeface="Calibri"/>
                        </a:rPr>
                        <a:t>Bolted on</a:t>
                      </a:r>
                    </a:p>
                  </a:txBody>
                  <a:tcPr marL="91440" marR="73152" marT="36576" marB="36576"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A41"/>
                          </a:solidFill>
                          <a:latin typeface="Calibri"/>
                        </a:rPr>
                        <a:t>Built-in pause points</a:t>
                      </a:r>
                    </a:p>
                  </a:txBody>
                  <a:tcPr marL="91440" marR="73152" marT="36576" marB="36576" anchor="ctr">
                    <a:solidFill>
                      <a:srgbClr val="F1F4F9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145"/>
                          </a:solidFill>
                          <a:latin typeface="Calibri"/>
                        </a:rPr>
                        <a:t>Use when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A41"/>
                          </a:solidFill>
                          <a:latin typeface="Calibri"/>
                        </a:rPr>
                        <a:t>Summarise → format → send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A41"/>
                          </a:solidFill>
                          <a:latin typeface="Calibri"/>
                        </a:rPr>
                        <a:t>Credit approvals, research agents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D6B7E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5D6B7E"/>
                </a:solidFill>
                <a:latin typeface="Calibri"/>
              </a:rPr>
              <a:t>SESSION 1  ·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50">
                <a:solidFill>
                  <a:srgbClr val="C9A227"/>
                </a:solidFill>
                <a:latin typeface="Calibri"/>
              </a:rPr>
              <a:t>BLOCK E · FRAMEWORKS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F2145"/>
                </a:solidFill>
                <a:latin typeface="Georgia"/>
              </a:rPr>
              <a:t>Putting it together — enterprise AI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72768"/>
            <a:ext cx="8503920" cy="786384"/>
          </a:xfrm>
          <a:prstGeom prst="roundRect">
            <a:avLst>
              <a:gd name="adj" fmla="val 7000"/>
            </a:avLst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64208"/>
            <a:ext cx="7955279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 spc="80">
                <a:solidFill>
                  <a:srgbClr val="FFFFFF"/>
                </a:solidFill>
                <a:latin typeface="Calibri"/>
              </a:rPr>
              <a:t>USERS &amp; WORKFLOW   </a:t>
            </a:r>
            <a:r>
              <a:rPr sz="1000" b="0" i="0">
                <a:solidFill>
                  <a:srgbClr val="C9D6EE"/>
                </a:solidFill>
                <a:latin typeface="Calibri"/>
              </a:rPr>
              <a:t>— analyst chat · dashboards · approval queues</a:t>
            </a:r>
          </a:p>
        </p:txBody>
      </p:sp>
      <p:sp>
        <p:nvSpPr>
          <p:cNvPr id="7" name="Up-Down Arrow 6"/>
          <p:cNvSpPr/>
          <p:nvPr/>
        </p:nvSpPr>
        <p:spPr>
          <a:xfrm>
            <a:off x="4663440" y="2368296"/>
            <a:ext cx="182880" cy="146304"/>
          </a:xfrm>
          <a:prstGeom prst="up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505456"/>
            <a:ext cx="8503920" cy="786384"/>
          </a:xfrm>
          <a:prstGeom prst="roundRect">
            <a:avLst>
              <a:gd name="adj" fmla="val 7000"/>
            </a:avLst>
          </a:prstGeom>
          <a:solidFill>
            <a:srgbClr val="244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596896"/>
            <a:ext cx="7955279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 spc="80">
                <a:solidFill>
                  <a:srgbClr val="FFFFFF"/>
                </a:solidFill>
                <a:latin typeface="Calibri"/>
              </a:rPr>
              <a:t>AGENT / ORCHESTRATION LAYER   </a:t>
            </a:r>
            <a:r>
              <a:rPr sz="1000" b="0" i="0">
                <a:solidFill>
                  <a:srgbClr val="C9D6EE"/>
                </a:solidFill>
                <a:latin typeface="Calibri"/>
              </a:rPr>
              <a:t>— LangChain · LangGraph — planning, tools, memory, routing</a:t>
            </a:r>
          </a:p>
        </p:txBody>
      </p:sp>
      <p:sp>
        <p:nvSpPr>
          <p:cNvPr id="10" name="Up-Down Arrow 9"/>
          <p:cNvSpPr/>
          <p:nvPr/>
        </p:nvSpPr>
        <p:spPr>
          <a:xfrm>
            <a:off x="4663440" y="3300984"/>
            <a:ext cx="182880" cy="146304"/>
          </a:xfrm>
          <a:prstGeom prst="up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438144"/>
            <a:ext cx="8503920" cy="786384"/>
          </a:xfrm>
          <a:prstGeom prst="roundRect">
            <a:avLst>
              <a:gd name="adj" fmla="val 7000"/>
            </a:avLst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3529584"/>
            <a:ext cx="7955279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 spc="80">
                <a:solidFill>
                  <a:srgbClr val="FFFFFF"/>
                </a:solidFill>
                <a:latin typeface="Calibri"/>
              </a:rPr>
              <a:t>MODEL LAYER   </a:t>
            </a:r>
            <a:r>
              <a:rPr sz="1000" b="0" i="0">
                <a:solidFill>
                  <a:srgbClr val="C9D6EE"/>
                </a:solidFill>
                <a:latin typeface="Calibri"/>
              </a:rPr>
              <a:t>— Claude / GPT / Gemini via API · open models in-house</a:t>
            </a:r>
          </a:p>
        </p:txBody>
      </p:sp>
      <p:sp>
        <p:nvSpPr>
          <p:cNvPr id="13" name="Up-Down Arrow 12"/>
          <p:cNvSpPr/>
          <p:nvPr/>
        </p:nvSpPr>
        <p:spPr>
          <a:xfrm>
            <a:off x="4663440" y="4233672"/>
            <a:ext cx="182880" cy="146304"/>
          </a:xfrm>
          <a:prstGeom prst="up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4370832"/>
            <a:ext cx="8503920" cy="786384"/>
          </a:xfrm>
          <a:prstGeom prst="roundRect">
            <a:avLst>
              <a:gd name="adj" fmla="val 7000"/>
            </a:avLst>
          </a:prstGeom>
          <a:solidFill>
            <a:srgbClr val="D5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462272"/>
            <a:ext cx="7955279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 spc="80">
                <a:solidFill>
                  <a:srgbClr val="0F2145"/>
                </a:solidFill>
                <a:latin typeface="Calibri"/>
              </a:rPr>
              <a:t>KNOWLEDGE &amp; TOOLS   </a:t>
            </a:r>
            <a:r>
              <a:rPr sz="1000" b="0" i="0">
                <a:solidFill>
                  <a:srgbClr val="5D6B7E"/>
                </a:solidFill>
                <a:latin typeface="Calibri"/>
              </a:rPr>
              <a:t>— RAG: vector DB over filings &amp; policies · market-data APIs · MCP connectors</a:t>
            </a:r>
          </a:p>
        </p:txBody>
      </p:sp>
      <p:sp>
        <p:nvSpPr>
          <p:cNvPr id="16" name="Up-Down Arrow 15"/>
          <p:cNvSpPr/>
          <p:nvPr/>
        </p:nvSpPr>
        <p:spPr>
          <a:xfrm>
            <a:off x="4663440" y="5166360"/>
            <a:ext cx="182880" cy="146304"/>
          </a:xfrm>
          <a:prstGeom prst="up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5303520"/>
            <a:ext cx="8503920" cy="786384"/>
          </a:xfrm>
          <a:prstGeom prst="roundRect">
            <a:avLst>
              <a:gd name="adj" fmla="val 7000"/>
            </a:avLst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5394960"/>
            <a:ext cx="7955279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 spc="80">
                <a:solidFill>
                  <a:srgbClr val="0F2145"/>
                </a:solidFill>
                <a:latin typeface="Calibri"/>
              </a:rPr>
              <a:t>DATA SOURCES   </a:t>
            </a:r>
            <a:r>
              <a:rPr sz="1000" b="0" i="0">
                <a:solidFill>
                  <a:srgbClr val="5D6B7E"/>
                </a:solidFill>
                <a:latin typeface="Calibri"/>
              </a:rPr>
              <a:t>— core banking · risk systems · Bloomberg/Refinitiv · document stores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1572768"/>
            <a:ext cx="2212848" cy="4480560"/>
          </a:xfrm>
          <a:prstGeom prst="roundRect">
            <a:avLst>
              <a:gd name="adj" fmla="val 6000"/>
            </a:avLst>
          </a:prstGeom>
          <a:solidFill>
            <a:srgbClr val="F5E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19488" y="1737360"/>
            <a:ext cx="182880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150">
                <a:solidFill>
                  <a:srgbClr val="8F7113"/>
                </a:solidFill>
                <a:latin typeface="Calibri"/>
              </a:rPr>
              <a:t>GOVERNANCE</a:t>
            </a:r>
          </a:p>
          <a:p>
            <a:pPr algn="l">
              <a:spcBef>
                <a:spcPts val="200"/>
              </a:spcBef>
            </a:pPr>
            <a:r>
              <a:rPr sz="900" b="0" i="1">
                <a:solidFill>
                  <a:srgbClr val="5D6B7E"/>
                </a:solidFill>
                <a:latin typeface="Calibri"/>
              </a:rPr>
              <a:t>runs across every layer</a:t>
            </a:r>
          </a:p>
          <a:p>
            <a:pPr algn="l">
              <a:spcBef>
                <a:spcPts val="1000"/>
              </a:spcBef>
            </a:pPr>
            <a:r>
              <a:rPr sz="100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000" b="0" i="0">
                <a:solidFill>
                  <a:srgbClr val="1B2A41"/>
                </a:solidFill>
                <a:latin typeface="Calibri"/>
              </a:rPr>
              <a:t>Access control</a:t>
            </a:r>
          </a:p>
          <a:p>
            <a:pPr algn="l">
              <a:spcBef>
                <a:spcPts val="400"/>
              </a:spcBef>
            </a:pPr>
            <a:r>
              <a:rPr sz="100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000" b="0" i="0">
                <a:solidFill>
                  <a:srgbClr val="1B2A41"/>
                </a:solidFill>
                <a:latin typeface="Calibri"/>
              </a:rPr>
              <a:t>PII &amp; data privacy</a:t>
            </a:r>
          </a:p>
          <a:p>
            <a:pPr algn="l">
              <a:spcBef>
                <a:spcPts val="400"/>
              </a:spcBef>
            </a:pPr>
            <a:r>
              <a:rPr sz="100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000" b="0" i="0">
                <a:solidFill>
                  <a:srgbClr val="1B2A41"/>
                </a:solidFill>
                <a:latin typeface="Calibri"/>
              </a:rPr>
              <a:t>Model risk (SR 11-7)</a:t>
            </a:r>
          </a:p>
          <a:p>
            <a:pPr algn="l">
              <a:spcBef>
                <a:spcPts val="400"/>
              </a:spcBef>
            </a:pPr>
            <a:r>
              <a:rPr sz="100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000" b="0" i="0">
                <a:solidFill>
                  <a:srgbClr val="1B2A41"/>
                </a:solidFill>
                <a:latin typeface="Calibri"/>
              </a:rPr>
              <a:t>Audit trails</a:t>
            </a:r>
          </a:p>
          <a:p>
            <a:pPr algn="l">
              <a:spcBef>
                <a:spcPts val="400"/>
              </a:spcBef>
            </a:pPr>
            <a:r>
              <a:rPr sz="100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000" b="0" i="0">
                <a:solidFill>
                  <a:srgbClr val="1B2A41"/>
                </a:solidFill>
                <a:latin typeface="Calibri"/>
              </a:rPr>
              <a:t>Human sign-off</a:t>
            </a:r>
          </a:p>
          <a:p>
            <a:pPr algn="l">
              <a:spcBef>
                <a:spcPts val="400"/>
              </a:spcBef>
            </a:pPr>
            <a:r>
              <a:rPr sz="100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000" b="0" i="0">
                <a:solidFill>
                  <a:srgbClr val="1B2A41"/>
                </a:solidFill>
                <a:latin typeface="Calibri"/>
              </a:rPr>
              <a:t>Evals &amp; 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D6B7E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5D6B7E"/>
                </a:solidFill>
                <a:latin typeface="Calibri"/>
              </a:rPr>
              <a:t>SESSION 1  ·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50">
                <a:solidFill>
                  <a:srgbClr val="C9A227"/>
                </a:solidFill>
                <a:latin typeface="Calibri"/>
              </a:rPr>
              <a:t>BLOCK E · FRAMEWORKS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F2145"/>
                </a:solidFill>
                <a:latin typeface="Georgia"/>
              </a:rPr>
              <a:t>MCP — Model Context Protocol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26464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F5E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554480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8F7113"/>
                </a:solidFill>
                <a:latin typeface="Georgia"/>
              </a:rPr>
              <a:t>“USB-C for AI.” 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One open standard so any AI app can plug into any data source or tool — no custom cable per device.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530352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Open standard introduced by Anthropic (2024), now industry-wide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An MCP server wraps a system (database, CRM, market data) and exposes safe, described actions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The AI app (host) discovers what's available and calls it — with your permissions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Servers expose three things: tools (actions), resources (data), prompts (templates)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554480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5472" y="1554480"/>
            <a:ext cx="3419856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AI HOST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C9D6EE"/>
                </a:solidFill>
                <a:latin typeface="Calibri"/>
              </a:rPr>
              <a:t>Claude · ChatGPT · your agent app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995160" y="2697480"/>
            <a:ext cx="201168" cy="457200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3246120"/>
            <a:ext cx="1691640" cy="1051560"/>
          </a:xfrm>
          <a:prstGeom prst="roundRect">
            <a:avLst>
              <a:gd name="adj" fmla="val 10000"/>
            </a:avLst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3246120"/>
            <a:ext cx="1545336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F2145"/>
                </a:solidFill>
                <a:latin typeface="Calibri"/>
              </a:rPr>
              <a:t>Market-data server</a:t>
            </a:r>
          </a:p>
          <a:p>
            <a:pPr algn="ctr">
              <a:spcBef>
                <a:spcPts val="200"/>
              </a:spcBef>
            </a:pPr>
            <a:r>
              <a:rPr sz="800" b="0" i="0">
                <a:solidFill>
                  <a:srgbClr val="5D6B7E"/>
                </a:solidFill>
                <a:latin typeface="Calibri"/>
              </a:rPr>
              <a:t>prices · curves · news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8842248" y="2697480"/>
            <a:ext cx="201168" cy="457200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56448" y="3246120"/>
            <a:ext cx="1691640" cy="1051560"/>
          </a:xfrm>
          <a:prstGeom prst="roundRect">
            <a:avLst>
              <a:gd name="adj" fmla="val 10000"/>
            </a:avLst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246120"/>
            <a:ext cx="1545336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F2145"/>
                </a:solidFill>
                <a:latin typeface="Calibri"/>
              </a:rPr>
              <a:t>Internal-DB server</a:t>
            </a:r>
          </a:p>
          <a:p>
            <a:pPr algn="ctr">
              <a:spcBef>
                <a:spcPts val="200"/>
              </a:spcBef>
            </a:pPr>
            <a:r>
              <a:rPr sz="800" b="0" i="0">
                <a:solidFill>
                  <a:srgbClr val="5D6B7E"/>
                </a:solidFill>
                <a:latin typeface="Calibri"/>
              </a:rPr>
              <a:t>positions · limits · P&amp;L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0689336" y="2697480"/>
            <a:ext cx="201168" cy="457200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03536" y="3246120"/>
            <a:ext cx="1691640" cy="1051560"/>
          </a:xfrm>
          <a:prstGeom prst="roundRect">
            <a:avLst>
              <a:gd name="adj" fmla="val 10000"/>
            </a:avLst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76688" y="3246120"/>
            <a:ext cx="1545336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F2145"/>
                </a:solidFill>
                <a:latin typeface="Calibri"/>
              </a:rPr>
              <a:t>CRM server</a:t>
            </a:r>
          </a:p>
          <a:p>
            <a:pPr algn="ctr">
              <a:spcBef>
                <a:spcPts val="200"/>
              </a:spcBef>
            </a:pPr>
            <a:r>
              <a:rPr sz="800" b="0" i="0">
                <a:solidFill>
                  <a:srgbClr val="5D6B7E"/>
                </a:solidFill>
                <a:latin typeface="Calibri"/>
              </a:rPr>
              <a:t>clients · KYC · emails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480560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5D6B7E"/>
                </a:solidFill>
                <a:latin typeface="Calibri"/>
              </a:rPr>
              <a:t>the same protocol on every wire — one integration, many systems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806440"/>
            <a:ext cx="11094415" cy="502920"/>
          </a:xfrm>
          <a:prstGeom prst="roundRect">
            <a:avLst>
              <a:gd name="adj" fmla="val 14000"/>
            </a:avLst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580644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0F2145"/>
                </a:solidFill>
                <a:latin typeface="Calibri"/>
              </a:rPr>
              <a:t>Before MCP: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every AI app needed a custom integration to every system (N × M problem). After: build one server per system, use it from every AI app.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D6B7E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5D6B7E"/>
                </a:solidFill>
                <a:latin typeface="Calibri"/>
              </a:rPr>
              <a:t>SESSION 1  ·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50">
                <a:solidFill>
                  <a:srgbClr val="C9A227"/>
                </a:solidFill>
                <a:latin typeface="Calibri"/>
              </a:rPr>
              <a:t>BLOCK E · FRAMEWORKS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F2145"/>
                </a:solidFill>
                <a:latin typeface="Georgia"/>
              </a:rPr>
              <a:t>MCP in a bank — one analyst agent, every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26464"/>
            <a:ext cx="11094415" cy="731520"/>
          </a:xfrm>
          <a:prstGeom prst="roundRect">
            <a:avLst>
              <a:gd name="adj" fmla="val 9000"/>
            </a:avLst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426464"/>
            <a:ext cx="10582351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9:02 AM — you ask:  </a:t>
            </a:r>
            <a:r>
              <a:rPr sz="1200" b="0" i="1">
                <a:solidFill>
                  <a:srgbClr val="FFFFFF"/>
                </a:solidFill>
                <a:latin typeface="Calibri"/>
              </a:rPr>
              <a:t>“Which of my clients are over-exposed to IT stocks after yesterday's fall, and draft the alert emails.”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14600"/>
            <a:ext cx="26060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260604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2286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200">
                <a:solidFill>
                  <a:srgbClr val="8F7113"/>
                </a:solidFill>
                <a:latin typeface="Calibri"/>
              </a:rPr>
              <a:t>STEP 1</a:t>
            </a:r>
          </a:p>
          <a:p>
            <a:pPr algn="l">
              <a:spcBef>
                <a:spcPts val="300"/>
              </a:spcBef>
            </a:pPr>
            <a:r>
              <a:rPr sz="1200" b="1" i="0">
                <a:solidFill>
                  <a:srgbClr val="0F2145"/>
                </a:solidFill>
                <a:latin typeface="Calibri"/>
              </a:rPr>
              <a:t>Market-data MCP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950" b="0" i="0">
                <a:solidFill>
                  <a:srgbClr val="5D6B7E"/>
                </a:solidFill>
                <a:latin typeface="Calibri"/>
              </a:rPr>
              <a:t>pulls yesterday's sector moves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00400" y="3182112"/>
            <a:ext cx="256032" cy="201168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93008" y="2514600"/>
            <a:ext cx="26060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93008" y="2514600"/>
            <a:ext cx="260604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8" y="2697480"/>
            <a:ext cx="2286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200">
                <a:solidFill>
                  <a:srgbClr val="8F7113"/>
                </a:solidFill>
                <a:latin typeface="Calibri"/>
              </a:rPr>
              <a:t>STEP 2</a:t>
            </a:r>
          </a:p>
          <a:p>
            <a:pPr algn="l">
              <a:spcBef>
                <a:spcPts val="300"/>
              </a:spcBef>
            </a:pPr>
            <a:r>
              <a:rPr sz="1200" b="1" i="0">
                <a:solidFill>
                  <a:srgbClr val="0F2145"/>
                </a:solidFill>
                <a:latin typeface="Calibri"/>
              </a:rPr>
              <a:t>Portfolio MCP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950" b="0" i="0">
                <a:solidFill>
                  <a:srgbClr val="5D6B7E"/>
                </a:solidFill>
                <a:latin typeface="Calibri"/>
              </a:rPr>
              <a:t>scans all client holdings for IT weight &gt; limit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144768" y="3182112"/>
            <a:ext cx="256032" cy="201168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37376" y="2514600"/>
            <a:ext cx="26060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37376" y="2514600"/>
            <a:ext cx="260604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0256" y="2697480"/>
            <a:ext cx="2286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200">
                <a:solidFill>
                  <a:srgbClr val="8F7113"/>
                </a:solidFill>
                <a:latin typeface="Calibri"/>
              </a:rPr>
              <a:t>STEP 3</a:t>
            </a:r>
          </a:p>
          <a:p>
            <a:pPr algn="l">
              <a:spcBef>
                <a:spcPts val="300"/>
              </a:spcBef>
            </a:pPr>
            <a:r>
              <a:rPr sz="1200" b="1" i="0">
                <a:solidFill>
                  <a:srgbClr val="0F2145"/>
                </a:solidFill>
                <a:latin typeface="Calibri"/>
              </a:rPr>
              <a:t>CRM MCP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950" b="0" i="0">
                <a:solidFill>
                  <a:srgbClr val="5D6B7E"/>
                </a:solidFill>
                <a:latin typeface="Calibri"/>
              </a:rPr>
              <a:t>fetches affected clients' contacts &amp; mandates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089136" y="3182112"/>
            <a:ext cx="256032" cy="201168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81744" y="2514600"/>
            <a:ext cx="26060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81744" y="2514600"/>
            <a:ext cx="260604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64624" y="2697480"/>
            <a:ext cx="2286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200">
                <a:solidFill>
                  <a:srgbClr val="8F7113"/>
                </a:solidFill>
                <a:latin typeface="Calibri"/>
              </a:rPr>
              <a:t>STEP 4</a:t>
            </a:r>
          </a:p>
          <a:p>
            <a:pPr algn="l">
              <a:spcBef>
                <a:spcPts val="300"/>
              </a:spcBef>
            </a:pPr>
            <a:r>
              <a:rPr sz="1200" b="1" i="0">
                <a:solidFill>
                  <a:srgbClr val="0F2145"/>
                </a:solidFill>
                <a:latin typeface="Calibri"/>
              </a:rPr>
              <a:t>Email MCP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950" b="0" i="0">
                <a:solidFill>
                  <a:srgbClr val="5D6B7E"/>
                </a:solidFill>
                <a:latin typeface="Calibri"/>
              </a:rPr>
              <a:t>drafts personalised alerts — for your approval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2452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1">
                <a:solidFill>
                  <a:srgbClr val="1B2A41"/>
                </a:solidFill>
                <a:latin typeface="Calibri"/>
              </a:rPr>
              <a:t>One conversation. Four systems. Zero copy-paste. The agent orchestrates; every action is logged and the email waits for a human click.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800600"/>
            <a:ext cx="3611880" cy="1143000"/>
          </a:xfrm>
          <a:prstGeom prst="roundRect">
            <a:avLst>
              <a:gd name="adj" fmla="val 9000"/>
            </a:avLst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956048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2145"/>
                </a:solidFill>
                <a:latin typeface="Calibri"/>
              </a:rPr>
              <a:t>Auditability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00" b="0" i="0">
                <a:solidFill>
                  <a:srgbClr val="5D6B7E"/>
                </a:solidFill>
                <a:latin typeface="Calibri"/>
              </a:rPr>
              <a:t>every tool call is a logged, permissioned event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5968" y="4800600"/>
            <a:ext cx="3611880" cy="1143000"/>
          </a:xfrm>
          <a:prstGeom prst="roundRect">
            <a:avLst>
              <a:gd name="adj" fmla="val 9000"/>
            </a:avLst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7136" y="4956048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2145"/>
                </a:solidFill>
                <a:latin typeface="Calibri"/>
              </a:rPr>
              <a:t>Reusability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00" b="0" i="0">
                <a:solidFill>
                  <a:srgbClr val="5D6B7E"/>
                </a:solidFill>
                <a:latin typeface="Calibri"/>
              </a:rPr>
              <a:t>the same servers power every future AI app the bank builds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83296" y="4800600"/>
            <a:ext cx="3611880" cy="1143000"/>
          </a:xfrm>
          <a:prstGeom prst="roundRect">
            <a:avLst>
              <a:gd name="adj" fmla="val 9000"/>
            </a:avLst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84464" y="4956048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2145"/>
                </a:solidFill>
                <a:latin typeface="Calibri"/>
              </a:rPr>
              <a:t>Safety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00" b="0" i="0">
                <a:solidFill>
                  <a:srgbClr val="5D6B7E"/>
                </a:solidFill>
                <a:latin typeface="Calibri"/>
              </a:rPr>
              <a:t>the agent gets narrow, described actions — not raw database access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D6B7E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5D6B7E"/>
                </a:solidFill>
                <a:latin typeface="Calibri"/>
              </a:rPr>
              <a:t>SESSION 1  · 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50">
                <a:solidFill>
                  <a:srgbClr val="C9A227"/>
                </a:solidFill>
                <a:latin typeface="Calibri"/>
              </a:rPr>
              <a:t>BLOCK E · FRAMEWORKS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F2145"/>
                </a:solidFill>
                <a:latin typeface="Georgia"/>
              </a:rPr>
              <a:t>Enterprise guardrails — what banks add before go-live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36192"/>
            <a:ext cx="548640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36192"/>
            <a:ext cx="64008" cy="1298448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682495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Georgia"/>
              </a:rPr>
              <a:t>Data privacy &amp; PII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066543"/>
            <a:ext cx="510235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D6B7E"/>
                </a:solidFill>
                <a:latin typeface="Calibri"/>
              </a:rPr>
              <a:t>Client data never leaves approved environments; public chatbots are blocked on desks.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36192"/>
            <a:ext cx="548640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536192"/>
            <a:ext cx="64008" cy="1298448"/>
          </a:xfrm>
          <a:prstGeom prst="rect">
            <a:avLst/>
          </a:prstGeom>
          <a:solidFill>
            <a:srgbClr val="A6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1656" y="1682495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Georgia"/>
              </a:rPr>
              <a:t>Model risk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1656" y="2066543"/>
            <a:ext cx="510235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D6B7E"/>
                </a:solidFill>
                <a:latin typeface="Calibri"/>
              </a:rPr>
              <a:t>Fed SR 11-7 / RBI expectations: validate, document and monitor models — LLMs included.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62656"/>
            <a:ext cx="548640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962656"/>
            <a:ext cx="64008" cy="1298448"/>
          </a:xfrm>
          <a:prstGeom prst="rect">
            <a:avLst/>
          </a:prstGeom>
          <a:solidFill>
            <a:srgbClr val="8F7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31089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Georgia"/>
              </a:rPr>
              <a:t>Access &amp; permissions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493008"/>
            <a:ext cx="5102352" cy="694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D6B7E"/>
                </a:solidFill>
                <a:latin typeface="Calibri"/>
              </a:rPr>
              <a:t>Agents act under the user's entitlements. No agent can see what you can't.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962656"/>
            <a:ext cx="548640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2962656"/>
            <a:ext cx="64008" cy="1298448"/>
          </a:xfrm>
          <a:prstGeom prst="rect">
            <a:avLst/>
          </a:prstGeom>
          <a:solidFill>
            <a:srgbClr val="2F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6" y="31089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Georgia"/>
              </a:rPr>
              <a:t>Human-in-the-loop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3493008"/>
            <a:ext cx="5102352" cy="694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D6B7E"/>
                </a:solidFill>
                <a:latin typeface="Calibri"/>
              </a:rPr>
              <a:t>Client-facing and money-moving actions require explicit human approval.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89120"/>
            <a:ext cx="548640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389120"/>
            <a:ext cx="64008" cy="1298448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4535424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Georgia"/>
              </a:rPr>
              <a:t>Audit trails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4919472"/>
            <a:ext cx="5102352" cy="694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D6B7E"/>
                </a:solidFill>
                <a:latin typeface="Calibri"/>
              </a:rPr>
              <a:t>Every prompt, retrieval and tool call is logged for compliance review.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4389120"/>
            <a:ext cx="548640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4389120"/>
            <a:ext cx="64008" cy="1298448"/>
          </a:xfrm>
          <a:prstGeom prst="rect">
            <a:avLst/>
          </a:prstGeom>
          <a:solidFill>
            <a:srgbClr val="8F7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1656" y="4535424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Georgia"/>
              </a:rPr>
              <a:t>Continuous evals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4919472"/>
            <a:ext cx="5102352" cy="694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D6B7E"/>
                </a:solidFill>
                <a:latin typeface="Calibri"/>
              </a:rPr>
              <a:t>Automated test suites re-check accuracy and bias every time anything changes.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870448"/>
            <a:ext cx="11094415" cy="530352"/>
          </a:xfrm>
          <a:prstGeom prst="roundRect">
            <a:avLst>
              <a:gd name="adj" fmla="val 14000"/>
            </a:avLst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5870448"/>
            <a:ext cx="1063721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C9A227"/>
                </a:solidFill>
                <a:latin typeface="Calibri"/>
              </a:rPr>
              <a:t>Career note: 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“AI governance” roles — model validation, AI risk, AI audit — are among the fastest-growing finance jobs. Your MBA + this vocabulary is the entry ticket.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D6B7E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5D6B7E"/>
                </a:solidFill>
                <a:latin typeface="Calibri"/>
              </a:rPr>
              <a:t>SESSION 1  · 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50">
                <a:solidFill>
                  <a:srgbClr val="C9A227"/>
                </a:solidFill>
                <a:latin typeface="Calibri"/>
              </a:rPr>
              <a:t>INDUSTRY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F2145"/>
                </a:solidFill>
                <a:latin typeface="Georgia"/>
              </a:rPr>
              <a:t>What the street is building — right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17904"/>
            <a:ext cx="3611880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17904"/>
            <a:ext cx="3611880" cy="73152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700784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Georgia"/>
              </a:rPr>
              <a:t>JPMorgan Chase</a:t>
            </a:r>
          </a:p>
          <a:p>
            <a:pPr algn="l">
              <a:spcBef>
                <a:spcPts val="400"/>
              </a:spcBef>
            </a:pPr>
            <a:r>
              <a:rPr sz="2400" b="1" i="0">
                <a:solidFill>
                  <a:srgbClr val="3A5C9E"/>
                </a:solidFill>
                <a:latin typeface="Georgia"/>
              </a:rPr>
              <a:t>$17B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950" b="0" i="0">
                <a:solidFill>
                  <a:srgbClr val="5D6B7E"/>
                </a:solidFill>
                <a:latin typeface="Calibri"/>
              </a:rPr>
              <a:t>AI spend, 2025. LLM Suite live for 200K+ employees; IndexGPT research; AI on FICC desks.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5968" y="1517904"/>
            <a:ext cx="3611880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15968" y="1517904"/>
            <a:ext cx="361188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700784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Georgia"/>
              </a:rPr>
              <a:t>Morgan Stanley</a:t>
            </a:r>
          </a:p>
          <a:p>
            <a:pPr algn="l">
              <a:spcBef>
                <a:spcPts val="400"/>
              </a:spcBef>
            </a:pPr>
            <a:r>
              <a:rPr sz="2400" b="1" i="0">
                <a:solidFill>
                  <a:srgbClr val="8F7113"/>
                </a:solidFill>
                <a:latin typeface="Georgia"/>
              </a:rPr>
              <a:t>100K+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950" b="0" i="0">
                <a:solidFill>
                  <a:srgbClr val="5D6B7E"/>
                </a:solidFill>
                <a:latin typeface="Calibri"/>
              </a:rPr>
              <a:t>wealth documents behind its GPT-4 advisor copilot — the flagship RAG deployment.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83296" y="1517904"/>
            <a:ext cx="3611880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83296" y="1517904"/>
            <a:ext cx="3611880" cy="73152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700784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Georgia"/>
              </a:rPr>
              <a:t>Goldman Sachs</a:t>
            </a:r>
          </a:p>
          <a:p>
            <a:pPr algn="l">
              <a:spcBef>
                <a:spcPts val="400"/>
              </a:spcBef>
            </a:pPr>
            <a:r>
              <a:rPr sz="2400" b="1" i="0">
                <a:solidFill>
                  <a:srgbClr val="3A5C9E"/>
                </a:solidFill>
                <a:latin typeface="Georgia"/>
              </a:rPr>
              <a:t>95%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950" b="0" i="0">
                <a:solidFill>
                  <a:srgbClr val="5D6B7E"/>
                </a:solidFill>
                <a:latin typeface="Calibri"/>
              </a:rPr>
              <a:t>of PE firms expected to use AI by 2026; internal coding agents already on the floor.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85615"/>
            <a:ext cx="3611880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85615"/>
            <a:ext cx="361188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968496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Georgia"/>
              </a:rPr>
              <a:t>BloombergGPT</a:t>
            </a:r>
          </a:p>
          <a:p>
            <a:pPr algn="l">
              <a:spcBef>
                <a:spcPts val="400"/>
              </a:spcBef>
            </a:pPr>
            <a:r>
              <a:rPr sz="2400" b="1" i="0">
                <a:solidFill>
                  <a:srgbClr val="8F7113"/>
                </a:solidFill>
                <a:latin typeface="Georgia"/>
              </a:rPr>
              <a:t>363B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950" b="0" i="0">
                <a:solidFill>
                  <a:srgbClr val="5D6B7E"/>
                </a:solidFill>
                <a:latin typeface="Calibri"/>
              </a:rPr>
              <a:t>finance tokens trained on — the proof that domain LLMs are worth building.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5968" y="3785615"/>
            <a:ext cx="3611880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3785615"/>
            <a:ext cx="3611880" cy="73152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5424" y="3968496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Georgia"/>
              </a:rPr>
              <a:t>Kotak · HDFC · Axis</a:t>
            </a:r>
          </a:p>
          <a:p>
            <a:pPr algn="l">
              <a:spcBef>
                <a:spcPts val="400"/>
              </a:spcBef>
            </a:pPr>
            <a:r>
              <a:rPr sz="2400" b="1" i="0">
                <a:solidFill>
                  <a:srgbClr val="3A5C9E"/>
                </a:solidFill>
                <a:latin typeface="Georgia"/>
              </a:rPr>
              <a:t>India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950" b="0" i="0">
                <a:solidFill>
                  <a:srgbClr val="5D6B7E"/>
                </a:solidFill>
                <a:latin typeface="Calibri"/>
              </a:rPr>
              <a:t>wealth bots, KYC automation, regional-language FinBERT, credit underwriting agents.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83296" y="3785615"/>
            <a:ext cx="3611880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3785615"/>
            <a:ext cx="361188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3968496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Georgia"/>
              </a:rPr>
              <a:t>Citi · Deutsche · UBS</a:t>
            </a:r>
          </a:p>
          <a:p>
            <a:pPr algn="l">
              <a:spcBef>
                <a:spcPts val="400"/>
              </a:spcBef>
            </a:pPr>
            <a:r>
              <a:rPr sz="2400" b="1" i="0">
                <a:solidFill>
                  <a:srgbClr val="8F7113"/>
                </a:solidFill>
                <a:latin typeface="Georgia"/>
              </a:rPr>
              <a:t>Basel IV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950" b="0" i="0">
                <a:solidFill>
                  <a:srgbClr val="5D6B7E"/>
                </a:solidFill>
                <a:latin typeface="Calibri"/>
              </a:rPr>
              <a:t>FRTB capital, SA-CVA and Pillar 3 disclosure pipelines going agentic.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D6B7E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5D6B7E"/>
                </a:solidFill>
                <a:latin typeface="Calibri"/>
              </a:rPr>
              <a:t>SESSION 1  · 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50">
                <a:solidFill>
                  <a:srgbClr val="C9A227"/>
                </a:solidFill>
                <a:latin typeface="Calibri"/>
              </a:rPr>
              <a:t>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F2145"/>
                </a:solidFill>
                <a:latin typeface="Georgia"/>
              </a:rPr>
              <a:t>Session 1 in nine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361188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64008" cy="11704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00784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Georgia"/>
              </a:rPr>
              <a:t>GenAI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000" b="0" i="0">
                <a:solidFill>
                  <a:srgbClr val="5D6B7E"/>
                </a:solidFill>
                <a:latin typeface="Calibri"/>
              </a:rPr>
              <a:t>AI that writes, not just scores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5968" y="1554480"/>
            <a:ext cx="361188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15968" y="1554480"/>
            <a:ext cx="64008" cy="11704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1700784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Georgia"/>
              </a:rPr>
              <a:t>LLM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000" b="0" i="0">
                <a:solidFill>
                  <a:srgbClr val="5D6B7E"/>
                </a:solidFill>
                <a:latin typeface="Calibri"/>
              </a:rPr>
              <a:t>next-word prediction at colossal scale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83296" y="1554480"/>
            <a:ext cx="361188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83296" y="1554480"/>
            <a:ext cx="64008" cy="11704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4" y="1700784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Georgia"/>
              </a:rPr>
              <a:t>Context window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000" b="0" i="0">
                <a:solidFill>
                  <a:srgbClr val="5D6B7E"/>
                </a:solidFill>
                <a:latin typeface="Calibri"/>
              </a:rPr>
              <a:t>the model's desk — what it can see now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52928"/>
            <a:ext cx="361188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852928"/>
            <a:ext cx="64008" cy="11704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999232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Georgia"/>
              </a:rPr>
              <a:t>Memory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000" b="0" i="0">
                <a:solidFill>
                  <a:srgbClr val="5D6B7E"/>
                </a:solidFill>
                <a:latin typeface="Calibri"/>
              </a:rPr>
              <a:t>engineered recall across sessions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5968" y="2852928"/>
            <a:ext cx="361188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2852928"/>
            <a:ext cx="64008" cy="11704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7136" y="2999232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Georgia"/>
              </a:rPr>
              <a:t>Hallucination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000" b="0" i="0">
                <a:solidFill>
                  <a:srgbClr val="5D6B7E"/>
                </a:solidFill>
                <a:latin typeface="Calibri"/>
              </a:rPr>
              <a:t>fluent, confident, wrong — five types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83296" y="2852928"/>
            <a:ext cx="361188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852928"/>
            <a:ext cx="64008" cy="11704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4464" y="2999232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Georgia"/>
              </a:rPr>
              <a:t>RAG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000" b="0" i="0">
                <a:solidFill>
                  <a:srgbClr val="5D6B7E"/>
                </a:solidFill>
                <a:latin typeface="Calibri"/>
              </a:rPr>
              <a:t>open-book answers from your documents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151376"/>
            <a:ext cx="361188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151376"/>
            <a:ext cx="64008" cy="11704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29768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Georgia"/>
              </a:rPr>
              <a:t>Agent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000" b="0" i="0">
                <a:solidFill>
                  <a:srgbClr val="5D6B7E"/>
                </a:solidFill>
                <a:latin typeface="Calibri"/>
              </a:rPr>
              <a:t>LLM + tools + memory + planning, in a loop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15968" y="4151376"/>
            <a:ext cx="361188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15968" y="4151376"/>
            <a:ext cx="64008" cy="11704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17136" y="429768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Georgia"/>
              </a:rPr>
              <a:t>LangChain / LangGraph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000" b="0" i="0">
                <a:solidFill>
                  <a:srgbClr val="5D6B7E"/>
                </a:solidFill>
                <a:latin typeface="Calibri"/>
              </a:rPr>
              <a:t>pipelines vs decision-graphs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83296" y="4151376"/>
            <a:ext cx="361188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83296" y="4151376"/>
            <a:ext cx="64008" cy="11704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84464" y="429768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Georgia"/>
              </a:rPr>
              <a:t>MCP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000" b="0" i="0">
                <a:solidFill>
                  <a:srgbClr val="5D6B7E"/>
                </a:solidFill>
                <a:latin typeface="Calibri"/>
              </a:rPr>
              <a:t>USB-C: one protocol to plug AI into systems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532120"/>
            <a:ext cx="11094415" cy="685800"/>
          </a:xfrm>
          <a:prstGeom prst="roundRect">
            <a:avLst>
              <a:gd name="adj" fmla="val 10000"/>
            </a:avLst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5532120"/>
            <a:ext cx="1054577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Lunch · 1 PM — 2 PM. 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Return with your laptop charged: at 2 PM sharp we start building.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D6B7E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5D6B7E"/>
                </a:solidFill>
                <a:latin typeface="Calibri"/>
              </a:rPr>
              <a:t>SESSION 1  · 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1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143000"/>
            <a:ext cx="29260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 i="0">
                <a:solidFill>
                  <a:srgbClr val="C9A227"/>
                </a:solidFill>
                <a:latin typeface="Georg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8892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Session 2 · Build &amp; Apply</a:t>
            </a:r>
          </a:p>
          <a:p>
            <a:pPr algn="l">
              <a:spcBef>
                <a:spcPts val="800"/>
              </a:spcBef>
            </a:pPr>
            <a:r>
              <a:rPr sz="1600" b="0" i="0">
                <a:solidFill>
                  <a:srgbClr val="C9D6EE"/>
                </a:solidFill>
                <a:latin typeface="Calibri"/>
              </a:rPr>
              <a:t>Four live builds, one graded group project — AI writes the code, you supply the finance judgement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343400"/>
            <a:ext cx="10058400" cy="10972"/>
          </a:xfrm>
          <a:prstGeom prst="rect">
            <a:avLst/>
          </a:prstGeom>
          <a:solidFill>
            <a:srgbClr val="335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617720"/>
            <a:ext cx="187451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2:00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000" b="0" i="0">
                <a:solidFill>
                  <a:srgbClr val="8FA1C4"/>
                </a:solidFill>
                <a:latin typeface="Calibri"/>
              </a:rPr>
              <a:t>Build 1 · Trading algos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5728" y="4617720"/>
            <a:ext cx="187451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2:45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000" b="0" i="0">
                <a:solidFill>
                  <a:srgbClr val="8FA1C4"/>
                </a:solidFill>
                <a:latin typeface="Calibri"/>
              </a:rPr>
              <a:t>Build 2 · Backtesting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2816" y="4617720"/>
            <a:ext cx="187451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3:20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000" b="0" i="0">
                <a:solidFill>
                  <a:srgbClr val="8FA1C4"/>
                </a:solidFill>
                <a:latin typeface="Calibri"/>
              </a:rPr>
              <a:t>Build 3 · Earnings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9904" y="4617720"/>
            <a:ext cx="187451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3:55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000" b="0" i="0">
                <a:solidFill>
                  <a:srgbClr val="8FA1C4"/>
                </a:solidFill>
                <a:latin typeface="Calibri"/>
              </a:rPr>
              <a:t>Build 4 · Portfolio + Basel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36992" y="4617720"/>
            <a:ext cx="187451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4:30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000" b="0" i="0">
                <a:solidFill>
                  <a:srgbClr val="8FA1C4"/>
                </a:solidFill>
                <a:latin typeface="Calibri"/>
              </a:rPr>
              <a:t>Live project briefing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4617720"/>
            <a:ext cx="187451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4:50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000" b="0" i="0">
                <a:solidFill>
                  <a:srgbClr val="8FA1C4"/>
                </a:solidFill>
                <a:latin typeface="Calibri"/>
              </a:rPr>
              <a:t>Careers &amp; close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8FA1C4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8FA1C4"/>
                </a:solidFill>
                <a:latin typeface="Calibri"/>
              </a:rPr>
              <a:t>SESSION 2  · 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50">
                <a:solidFill>
                  <a:srgbClr val="C9A227"/>
                </a:solidFill>
                <a:latin typeface="Calibri"/>
              </a:rPr>
              <a:t>BUILD 1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F2145"/>
                </a:solidFill>
                <a:latin typeface="Georgia"/>
              </a:rPr>
              <a:t>Trading algo system — momentum &amp; mean reversion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6675120" cy="1965960"/>
          </a:xfrm>
          <a:prstGeom prst="roundRect">
            <a:avLst>
              <a:gd name="adj" fmla="val 7000"/>
            </a:avLst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481328"/>
            <a:ext cx="6263640" cy="1965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2145"/>
                </a:solidFill>
                <a:latin typeface="Georgia"/>
              </a:rPr>
              <a:t>The concept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150" b="0" i="0">
                <a:solidFill>
                  <a:srgbClr val="1B2A41"/>
                </a:solidFill>
                <a:latin typeface="Calibri"/>
              </a:rPr>
              <a:t>Momentum: what has been rising tends to keep rising — buy strength. Mean reversion: what has stretched too far from its average tends to snap back — fade extremes. Two opposite philosophies; both reduce to precise, testable rules.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39312"/>
            <a:ext cx="66751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3639312"/>
            <a:ext cx="6309360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2145"/>
                </a:solidFill>
                <a:latin typeface="Georgia"/>
              </a:rPr>
              <a:t>What we do live (you prompt, AI codes)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Define the rules in plain English (“buy when 20-day return is top decile…”)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Prompt the AI to translate the rules into Python signals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Run on real NIFTY-stock price history in Google Colab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Inspect the trades it would have taken — argue with them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481328"/>
            <a:ext cx="4160520" cy="2286000"/>
          </a:xfrm>
          <a:prstGeom prst="roundRect">
            <a:avLst>
              <a:gd name="adj" fmla="val 7000"/>
            </a:avLst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0104" y="1481328"/>
            <a:ext cx="370332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220">
                <a:solidFill>
                  <a:srgbClr val="C9A227"/>
                </a:solidFill>
                <a:latin typeface="Calibri"/>
              </a:rPr>
              <a:t>YOU SHIP</a:t>
            </a:r>
          </a:p>
          <a:p>
            <a:pPr algn="l">
              <a:lnSpc>
                <a:spcPct val="135000"/>
              </a:lnSpc>
              <a:spcBef>
                <a:spcPts val="90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A working two-strategy signal engine on Indian equities — built from a plain-English prompt, no coding background.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3950208"/>
            <a:ext cx="4160520" cy="2066543"/>
          </a:xfrm>
          <a:prstGeom prst="roundRect">
            <a:avLst>
              <a:gd name="adj" fmla="val 7000"/>
            </a:avLst>
          </a:prstGeom>
          <a:solidFill>
            <a:srgbClr val="F5E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0104" y="3950208"/>
            <a:ext cx="3703320" cy="20665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150">
                <a:solidFill>
                  <a:srgbClr val="8F7113"/>
                </a:solidFill>
                <a:latin typeface="Calibri"/>
              </a:rPr>
              <a:t>MAPS TO YOUR SYLLABUS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200" b="0" i="0">
                <a:solidFill>
                  <a:srgbClr val="1B2A41"/>
                </a:solidFill>
                <a:latin typeface="Calibri"/>
              </a:rPr>
              <a:t>Security Analysis &amp; PM (Sem 2): factor investing, momentum literature, technical vs fundamental debate.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D6B7E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5D6B7E"/>
                </a:solidFill>
                <a:latin typeface="Calibri"/>
              </a:rPr>
              <a:t>SESSION 2  · 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50">
                <a:solidFill>
                  <a:srgbClr val="C9A227"/>
                </a:solidFill>
                <a:latin typeface="Calibri"/>
              </a:rPr>
              <a:t>BUILD 2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F2145"/>
                </a:solidFill>
                <a:latin typeface="Georgia"/>
              </a:rPr>
              <a:t>Backtesting — does the strategy actually work?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6675120" cy="1965960"/>
          </a:xfrm>
          <a:prstGeom prst="roundRect">
            <a:avLst>
              <a:gd name="adj" fmla="val 7000"/>
            </a:avLst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481328"/>
            <a:ext cx="6263640" cy="1965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2145"/>
                </a:solidFill>
                <a:latin typeface="Georgia"/>
              </a:rPr>
              <a:t>The concept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150" b="0" i="0">
                <a:solidFill>
                  <a:srgbClr val="1B2A41"/>
                </a:solidFill>
                <a:latin typeface="Calibri"/>
              </a:rPr>
              <a:t>A backtest replays your rules over history and scores them. Three numbers matter: Sharpe ratio (return per unit of risk), max drawdown (worst peak-to-trough pain), turnover (how much trading — and cost — the strategy needs).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39312"/>
            <a:ext cx="66751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3639312"/>
            <a:ext cx="6309360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2145"/>
                </a:solidFill>
                <a:latin typeface="Georgia"/>
              </a:rPr>
              <a:t>What we do live (you prompt, AI codes)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Feed Build 1's signals into a backtest engine the AI writes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Compute Sharpe, max drawdown, turnover, hit rate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Add transaction costs — watch the edge shrink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Torture test: change the period. Does it survive?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481328"/>
            <a:ext cx="4160520" cy="2286000"/>
          </a:xfrm>
          <a:prstGeom prst="roundRect">
            <a:avLst>
              <a:gd name="adj" fmla="val 7000"/>
            </a:avLst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0104" y="1481328"/>
            <a:ext cx="370332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220">
                <a:solidFill>
                  <a:srgbClr val="C9A227"/>
                </a:solidFill>
                <a:latin typeface="Calibri"/>
              </a:rPr>
              <a:t>YOU SHIP</a:t>
            </a:r>
          </a:p>
          <a:p>
            <a:pPr algn="l">
              <a:lnSpc>
                <a:spcPct val="135000"/>
              </a:lnSpc>
              <a:spcBef>
                <a:spcPts val="90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A backtest report card for both strategies — with an honest verdict on whether you'd fund them.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3950208"/>
            <a:ext cx="4160520" cy="2066543"/>
          </a:xfrm>
          <a:prstGeom prst="roundRect">
            <a:avLst>
              <a:gd name="adj" fmla="val 7000"/>
            </a:avLst>
          </a:prstGeom>
          <a:solidFill>
            <a:srgbClr val="F5E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0104" y="3950208"/>
            <a:ext cx="3703320" cy="20665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150">
                <a:solidFill>
                  <a:srgbClr val="8F7113"/>
                </a:solidFill>
                <a:latin typeface="Calibri"/>
              </a:rPr>
              <a:t>MAPS TO YOUR SYLLABUS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200" b="0" i="0">
                <a:solidFill>
                  <a:srgbClr val="1B2A41"/>
                </a:solidFill>
                <a:latin typeface="Calibri"/>
              </a:rPr>
              <a:t>Financial Derivatives &amp; Risk Management: risk-adjusted returns, path dependency, why in-sample success lies (overfitting).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D6B7E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5D6B7E"/>
                </a:solidFill>
                <a:latin typeface="Calibri"/>
              </a:rPr>
              <a:t>SESSION 2  · 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50">
                <a:solidFill>
                  <a:srgbClr val="C9A227"/>
                </a:solidFill>
                <a:latin typeface="Calibri"/>
              </a:rPr>
              <a:t>BUILD 3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F2145"/>
                </a:solidFill>
                <a:latin typeface="Georgia"/>
              </a:rPr>
              <a:t>Earnings dashboard — reading the concall for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6675120" cy="1965960"/>
          </a:xfrm>
          <a:prstGeom prst="roundRect">
            <a:avLst>
              <a:gd name="adj" fmla="val 7000"/>
            </a:avLst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481328"/>
            <a:ext cx="6263640" cy="1965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2145"/>
                </a:solidFill>
                <a:latin typeface="Georgia"/>
              </a:rPr>
              <a:t>The concept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150" b="0" i="0">
                <a:solidFill>
                  <a:srgbClr val="1B2A41"/>
                </a:solidFill>
                <a:latin typeface="Calibri"/>
              </a:rPr>
              <a:t>Every quarter, hundreds of pages of earnings calls and press releases land at once. An LLM can read all of it, extract guidance changes, flag tone shifts (FinBERT-style sentiment) and assemble a one-screen dashboard.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39312"/>
            <a:ext cx="66751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3639312"/>
            <a:ext cx="6309360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2145"/>
                </a:solidFill>
                <a:latin typeface="Georgia"/>
              </a:rPr>
              <a:t>What we do live (you prompt, AI codes)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Load a real earnings-call transcript (Indian large-cap)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Prompt: extract guidance, margin drivers, capex, one-liners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Score management tone — positive / cautious / evasive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Assemble an HTML dashboard the AI builds for you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481328"/>
            <a:ext cx="4160520" cy="2286000"/>
          </a:xfrm>
          <a:prstGeom prst="roundRect">
            <a:avLst>
              <a:gd name="adj" fmla="val 7000"/>
            </a:avLst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0104" y="1481328"/>
            <a:ext cx="370332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220">
                <a:solidFill>
                  <a:srgbClr val="C9A227"/>
                </a:solidFill>
                <a:latin typeface="Calibri"/>
              </a:rPr>
              <a:t>YOU SHIP</a:t>
            </a:r>
          </a:p>
          <a:p>
            <a:pPr algn="l">
              <a:lnSpc>
                <a:spcPct val="135000"/>
              </a:lnSpc>
              <a:spcBef>
                <a:spcPts val="90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A live earnings dashboard for one NIFTY company — transcript to insight in 30 minutes.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3950208"/>
            <a:ext cx="4160520" cy="2066543"/>
          </a:xfrm>
          <a:prstGeom prst="roundRect">
            <a:avLst>
              <a:gd name="adj" fmla="val 7000"/>
            </a:avLst>
          </a:prstGeom>
          <a:solidFill>
            <a:srgbClr val="F5E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0104" y="3950208"/>
            <a:ext cx="3703320" cy="20665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150">
                <a:solidFill>
                  <a:srgbClr val="8F7113"/>
                </a:solidFill>
                <a:latin typeface="Calibri"/>
              </a:rPr>
              <a:t>MAPS TO YOUR SYLLABUS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200" b="0" i="0">
                <a:solidFill>
                  <a:srgbClr val="1B2A41"/>
                </a:solidFill>
                <a:latin typeface="Calibri"/>
              </a:rPr>
              <a:t>Equity Research (Sem 3): earnings quality, guidance analysis, behavioural finance signals in management language.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D6B7E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5D6B7E"/>
                </a:solidFill>
                <a:latin typeface="Calibri"/>
              </a:rPr>
              <a:t>SESSION 2  · 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50">
                <a:solidFill>
                  <a:srgbClr val="C9A227"/>
                </a:solidFill>
                <a:latin typeface="Calibri"/>
              </a:rPr>
              <a:t>BUILD 4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F2145"/>
                </a:solidFill>
                <a:latin typeface="Georgia"/>
              </a:rPr>
              <a:t>Portfolio review + Basel report — RAG goes to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6675120" cy="1965960"/>
          </a:xfrm>
          <a:prstGeom prst="roundRect">
            <a:avLst>
              <a:gd name="adj" fmla="val 7000"/>
            </a:avLst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481328"/>
            <a:ext cx="6263640" cy="1965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2145"/>
                </a:solidFill>
                <a:latin typeface="Georgia"/>
              </a:rPr>
              <a:t>The concept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150" b="0" i="0">
                <a:solidFill>
                  <a:srgbClr val="1B2A41"/>
                </a:solidFill>
                <a:latin typeface="Calibri"/>
              </a:rPr>
              <a:t>The morning's RAG concept, applied twice: (a) review a model portfolio against an Investment Policy Statement, and (b) draft a Basel-style capital disclosure section from regulation text. Both answer only from the supplied documents, with citations.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39312"/>
            <a:ext cx="66751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3639312"/>
            <a:ext cx="6309360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F2145"/>
                </a:solidFill>
                <a:latin typeface="Georgia"/>
              </a:rPr>
              <a:t>What we do live (you prompt, AI codes)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Load a sample IPS + portfolio holdings file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Agent checks allocation, concentration and mandate breaches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Load Basel III/IV excerpts; prompt a disclosure gap-draft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Every claim must carry a clause citation — we check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481328"/>
            <a:ext cx="4160520" cy="2286000"/>
          </a:xfrm>
          <a:prstGeom prst="roundRect">
            <a:avLst>
              <a:gd name="adj" fmla="val 7000"/>
            </a:avLst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0104" y="1481328"/>
            <a:ext cx="370332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220">
                <a:solidFill>
                  <a:srgbClr val="C9A227"/>
                </a:solidFill>
                <a:latin typeface="Calibri"/>
              </a:rPr>
              <a:t>YOU SHIP</a:t>
            </a:r>
          </a:p>
          <a:p>
            <a:pPr algn="l">
              <a:lnSpc>
                <a:spcPct val="135000"/>
              </a:lnSpc>
              <a:spcBef>
                <a:spcPts val="90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An auto-drafted portfolio review memo and a cited Basel disclosure draft — the exact pattern global banks run.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3950208"/>
            <a:ext cx="4160520" cy="2066543"/>
          </a:xfrm>
          <a:prstGeom prst="roundRect">
            <a:avLst>
              <a:gd name="adj" fmla="val 7000"/>
            </a:avLst>
          </a:prstGeom>
          <a:solidFill>
            <a:srgbClr val="F5E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0104" y="3950208"/>
            <a:ext cx="3703320" cy="20665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150">
                <a:solidFill>
                  <a:srgbClr val="8F7113"/>
                </a:solidFill>
                <a:latin typeface="Calibri"/>
              </a:rPr>
              <a:t>MAPS TO YOUR SYLLABUS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200" b="0" i="0">
                <a:solidFill>
                  <a:srgbClr val="1B2A41"/>
                </a:solidFill>
                <a:latin typeface="Calibri"/>
              </a:rPr>
              <a:t>Wealth Management + Risk Management (Sem 3): IPS discipline, Basel IV / FRTB context, compliance drafting.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D6B7E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5D6B7E"/>
                </a:solidFill>
                <a:latin typeface="Calibri"/>
              </a:rPr>
              <a:t>SESSION 2  · 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50">
                <a:solidFill>
                  <a:srgbClr val="C9A227"/>
                </a:solidFill>
                <a:latin typeface="Calibri"/>
              </a:rPr>
              <a:t>GRADED · GROUP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F2145"/>
                </a:solidFill>
                <a:latin typeface="Georgia"/>
              </a:rPr>
              <a:t>The live project — your desk for two weeks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6720840" cy="1371600"/>
          </a:xfrm>
          <a:prstGeom prst="roundRect">
            <a:avLst>
              <a:gd name="adj" fmla="val 7000"/>
            </a:avLst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91056"/>
            <a:ext cx="62636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20">
                <a:solidFill>
                  <a:srgbClr val="C9A227"/>
                </a:solidFill>
                <a:latin typeface="Calibri"/>
              </a:rPr>
              <a:t>THE BRIEF</a:t>
            </a:r>
          </a:p>
          <a:p>
            <a:pPr algn="l">
              <a:lnSpc>
                <a:spcPct val="122000"/>
              </a:lnSpc>
              <a:spcBef>
                <a:spcPts val="50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In teams of 4–5, build one AI-powered finance workflow end-to-end and defend it like an IC pitch: problem → build → demo → what broke → what you'd need to deploy it in a real bank.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017520"/>
            <a:ext cx="67208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017520"/>
            <a:ext cx="64008" cy="6949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3090672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F2145"/>
                </a:solidFill>
                <a:latin typeface="Calibri"/>
              </a:rPr>
              <a:t>Day 0 —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3090672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D6B7E"/>
                </a:solidFill>
                <a:latin typeface="Calibri"/>
              </a:rPr>
              <a:t>Form teams, pick a project from the menu (next slide), get repo access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85615"/>
            <a:ext cx="67208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785615"/>
            <a:ext cx="64008" cy="6949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3858768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F2145"/>
                </a:solidFill>
                <a:latin typeface="Calibri"/>
              </a:rPr>
              <a:t>Day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3858768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D6B7E"/>
                </a:solidFill>
                <a:latin typeface="Calibri"/>
              </a:rPr>
              <a:t>One-page scope note: user, problem, data source, success metric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53712"/>
            <a:ext cx="67208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553712"/>
            <a:ext cx="64008" cy="6949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626864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F2145"/>
                </a:solidFill>
                <a:latin typeface="Calibri"/>
              </a:rPr>
              <a:t>Day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4626864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D6B7E"/>
                </a:solidFill>
                <a:latin typeface="Calibri"/>
              </a:rPr>
              <a:t>Working demo + 5 test questions it must answer correctly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321807"/>
            <a:ext cx="67208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321807"/>
            <a:ext cx="64008" cy="6949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5394959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F2145"/>
                </a:solidFill>
                <a:latin typeface="Calibri"/>
              </a:rPr>
              <a:t>Day 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5394959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D6B7E"/>
                </a:solidFill>
                <a:latin typeface="Calibri"/>
              </a:rPr>
              <a:t>15-min pitch: live demo, failure analysis, governance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1463040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160">
                <a:solidFill>
                  <a:srgbClr val="5D6B7E"/>
                </a:solidFill>
                <a:latin typeface="Calibri"/>
              </a:rPr>
              <a:t>GRADING RUBRIC · 100 MARKS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1810512"/>
            <a:ext cx="4114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98079" y="1810512"/>
            <a:ext cx="1440180" cy="658368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59" y="1883664"/>
            <a:ext cx="31089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B2A41"/>
                </a:solidFill>
                <a:latin typeface="Calibri"/>
              </a:rPr>
              <a:t>Working demo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1883664"/>
            <a:ext cx="7772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8F7113"/>
                </a:solidFill>
                <a:latin typeface="Georgia"/>
              </a:rPr>
              <a:t>30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2542032"/>
            <a:ext cx="4114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8079" y="2542032"/>
            <a:ext cx="1200150" cy="658368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59" y="2615184"/>
            <a:ext cx="31089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B2A41"/>
                </a:solidFill>
                <a:latin typeface="Calibri"/>
              </a:rPr>
              <a:t>Finance judgement &amp; accuracy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2615184"/>
            <a:ext cx="7772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8F7113"/>
                </a:solidFill>
                <a:latin typeface="Georgia"/>
              </a:rPr>
              <a:t>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79" y="3273552"/>
            <a:ext cx="4114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98079" y="3273552"/>
            <a:ext cx="960119" cy="658368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59" y="3346704"/>
            <a:ext cx="31089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B2A41"/>
                </a:solidFill>
                <a:latin typeface="Calibri"/>
              </a:rPr>
              <a:t>Hallucination &amp; risk handling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0" y="3346704"/>
            <a:ext cx="7772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8F7113"/>
                </a:solidFill>
                <a:latin typeface="Georgia"/>
              </a:rPr>
              <a:t>20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79" y="4005072"/>
            <a:ext cx="4114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98079" y="4005072"/>
            <a:ext cx="720090" cy="658368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59" y="4078224"/>
            <a:ext cx="31089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B2A41"/>
                </a:solidFill>
                <a:latin typeface="Calibri"/>
              </a:rPr>
              <a:t>Business case &amp; pitch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4078224"/>
            <a:ext cx="7772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8F7113"/>
                </a:solidFill>
                <a:latin typeface="Georgia"/>
              </a:rPr>
              <a:t>15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79" y="4736592"/>
            <a:ext cx="4114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98079" y="4736592"/>
            <a:ext cx="480059" cy="658368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80959" y="4809744"/>
            <a:ext cx="31089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B2A41"/>
                </a:solidFill>
                <a:latin typeface="Calibri"/>
              </a:rPr>
              <a:t>Teamwork &amp; documentation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98480" y="4809744"/>
            <a:ext cx="7772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8F7113"/>
                </a:solidFill>
                <a:latin typeface="Georgia"/>
              </a:rPr>
              <a:t>10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98079" y="5504688"/>
            <a:ext cx="4114800" cy="777240"/>
          </a:xfrm>
          <a:prstGeom prst="roundRect">
            <a:avLst>
              <a:gd name="adj" fmla="val 10000"/>
            </a:avLst>
          </a:prstGeom>
          <a:solidFill>
            <a:srgbClr val="F5E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59" y="5504688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B2A41"/>
                </a:solidFill>
                <a:latin typeface="Calibri"/>
              </a:rPr>
              <a:t>Counts toward SCMHRD internal evaluation. Using AI to build is required, not cheating — documenting where it failed earns marks.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D6B7E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5D6B7E"/>
                </a:solidFill>
                <a:latin typeface="Calibri"/>
              </a:rPr>
              <a:t>SESSION 2  · 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50">
                <a:solidFill>
                  <a:srgbClr val="C9A227"/>
                </a:solidFill>
                <a:latin typeface="Calibri"/>
              </a:rPr>
              <a:t>PICK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F2145"/>
                </a:solidFill>
                <a:latin typeface="Georgia"/>
              </a:rPr>
              <a:t>Live project menu — six desks, choose yours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17904"/>
            <a:ext cx="548640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17904"/>
            <a:ext cx="64008" cy="1444752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636776"/>
            <a:ext cx="50749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Georgia"/>
              </a:rPr>
              <a:t>Equity research copilot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00" b="0" i="0">
                <a:solidFill>
                  <a:srgbClr val="5D6B7E"/>
                </a:solidFill>
                <a:latin typeface="Calibri"/>
              </a:rPr>
              <a:t>RAG over 3 years of one company's filings + calls; answers with citations; drafts a one-page initiation note.</a:t>
            </a:r>
          </a:p>
          <a:p>
            <a:pPr algn="l">
              <a:spcBef>
                <a:spcPts val="400"/>
              </a:spcBef>
            </a:pPr>
            <a:r>
              <a:rPr sz="800" b="1" i="0" spc="150">
                <a:solidFill>
                  <a:srgbClr val="8F7113"/>
                </a:solidFill>
                <a:latin typeface="Calibri"/>
              </a:rPr>
              <a:t>EQUITY RESEARCH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517904"/>
            <a:ext cx="548640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517904"/>
            <a:ext cx="64008" cy="14447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1656" y="1636776"/>
            <a:ext cx="50749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Georgia"/>
              </a:rPr>
              <a:t>Credit appraisal agent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00" b="0" i="0">
                <a:solidFill>
                  <a:srgbClr val="5D6B7E"/>
                </a:solidFill>
                <a:latin typeface="Calibri"/>
              </a:rPr>
              <a:t>Reads a borrower's financials, computes ratios, drafts the credit note with covenants and a recommendation.</a:t>
            </a:r>
          </a:p>
          <a:p>
            <a:pPr algn="l">
              <a:spcBef>
                <a:spcPts val="400"/>
              </a:spcBef>
            </a:pPr>
            <a:r>
              <a:rPr sz="800" b="1" i="0" spc="150">
                <a:solidFill>
                  <a:srgbClr val="8F7113"/>
                </a:solidFill>
                <a:latin typeface="Calibri"/>
              </a:rPr>
              <a:t>CORPORATE FINANCE / BANKING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72384"/>
            <a:ext cx="548640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72384"/>
            <a:ext cx="64008" cy="1444752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3191256"/>
            <a:ext cx="50749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Georgia"/>
              </a:rPr>
              <a:t>Wealth advisory assistant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00" b="0" i="0">
                <a:solidFill>
                  <a:srgbClr val="5D6B7E"/>
                </a:solidFill>
                <a:latin typeface="Calibri"/>
              </a:rPr>
              <a:t>IPS-aware chatbot: remembers client profile, checks portfolio drift, drafts the quarterly review letter.</a:t>
            </a:r>
          </a:p>
          <a:p>
            <a:pPr algn="l">
              <a:spcBef>
                <a:spcPts val="400"/>
              </a:spcBef>
            </a:pPr>
            <a:r>
              <a:rPr sz="800" b="1" i="0" spc="150">
                <a:solidFill>
                  <a:srgbClr val="8F7113"/>
                </a:solidFill>
                <a:latin typeface="Calibri"/>
              </a:rPr>
              <a:t>WEALTH MANAGEMENT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072384"/>
            <a:ext cx="548640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072384"/>
            <a:ext cx="64008" cy="14447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3191256"/>
            <a:ext cx="50749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Georgia"/>
              </a:rPr>
              <a:t>Regulatory gap analyser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00" b="0" i="0">
                <a:solidFill>
                  <a:srgbClr val="5D6B7E"/>
                </a:solidFill>
                <a:latin typeface="Calibri"/>
              </a:rPr>
              <a:t>RAG over an RBI master direction vs a bank's policy doc; produces a cited compliance gap table.</a:t>
            </a:r>
          </a:p>
          <a:p>
            <a:pPr algn="l">
              <a:spcBef>
                <a:spcPts val="400"/>
              </a:spcBef>
            </a:pPr>
            <a:r>
              <a:rPr sz="800" b="1" i="0" spc="150">
                <a:solidFill>
                  <a:srgbClr val="8F7113"/>
                </a:solidFill>
                <a:latin typeface="Calibri"/>
              </a:rPr>
              <a:t>RISK / COMPLIANCE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626864"/>
            <a:ext cx="548640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626864"/>
            <a:ext cx="64008" cy="1444752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4745736"/>
            <a:ext cx="50749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Georgia"/>
              </a:rPr>
              <a:t>Deal screener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00" b="0" i="0">
                <a:solidFill>
                  <a:srgbClr val="5D6B7E"/>
                </a:solidFill>
                <a:latin typeface="Calibri"/>
              </a:rPr>
              <a:t>Agent screens M&amp;A targets on filters, builds comps, drafts a first-cut synergy memo with sources.</a:t>
            </a:r>
          </a:p>
          <a:p>
            <a:pPr algn="l">
              <a:spcBef>
                <a:spcPts val="400"/>
              </a:spcBef>
            </a:pPr>
            <a:r>
              <a:rPr sz="800" b="1" i="0" spc="150">
                <a:solidFill>
                  <a:srgbClr val="8F7113"/>
                </a:solidFill>
                <a:latin typeface="Calibri"/>
              </a:rPr>
              <a:t>M&amp;A &amp; RESTRUCTURING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4626864"/>
            <a:ext cx="5486400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626864"/>
            <a:ext cx="64008" cy="14447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1656" y="4745736"/>
            <a:ext cx="50749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F2145"/>
                </a:solidFill>
                <a:latin typeface="Georgia"/>
              </a:rPr>
              <a:t>Treasury FX monitor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00" b="0" i="0">
                <a:solidFill>
                  <a:srgbClr val="5D6B7E"/>
                </a:solidFill>
                <a:latin typeface="Calibri"/>
              </a:rPr>
              <a:t>Daily agent: pulls FX moves, flags exposures beyond policy bands, drafts the hedging desk note.</a:t>
            </a:r>
          </a:p>
          <a:p>
            <a:pPr algn="l">
              <a:spcBef>
                <a:spcPts val="400"/>
              </a:spcBef>
            </a:pPr>
            <a:r>
              <a:rPr sz="800" b="1" i="0" spc="150">
                <a:solidFill>
                  <a:srgbClr val="8F7113"/>
                </a:solidFill>
                <a:latin typeface="Calibri"/>
              </a:rPr>
              <a:t>TREASURY &amp; FOREX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217920"/>
            <a:ext cx="11094415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199632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0F2145"/>
                </a:solidFill>
                <a:latin typeface="Calibri"/>
              </a:rPr>
              <a:t>Templates, datasets and starter prompts for all six: github.com/tejasgjadhav/SCMHRD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D6B7E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5D6B7E"/>
                </a:solidFill>
                <a:latin typeface="Calibri"/>
              </a:rPr>
              <a:t>SESSION 2  · 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50">
                <a:solidFill>
                  <a:srgbClr val="C9A227"/>
                </a:solidFill>
                <a:latin typeface="Calibri"/>
              </a:rPr>
              <a:t>LOGISTICS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F2145"/>
                </a:solidFill>
                <a:latin typeface="Georgia"/>
              </a:rPr>
              <a:t>Your toolkit — nothing to install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1094415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64008" cy="9692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64207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0F2145"/>
                </a:solidFill>
                <a:latin typeface="Georgia"/>
              </a:rPr>
              <a:t>ChatGPT / 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664207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A41"/>
                </a:solidFill>
                <a:latin typeface="Calibri"/>
              </a:rPr>
              <a:t>Your reasoning engine. Free tiers are enough for the project.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19" y="1664207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F7113"/>
                </a:solidFill>
                <a:latin typeface="Calibri"/>
              </a:rPr>
              <a:t>chat.openai.com · claude.ai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33472"/>
            <a:ext cx="11094415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633472"/>
            <a:ext cx="64008" cy="9692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74320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0F2145"/>
                </a:solidFill>
                <a:latin typeface="Georgia"/>
              </a:rPr>
              <a:t>Google Colab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743200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A41"/>
                </a:solidFill>
                <a:latin typeface="Calibri"/>
              </a:rPr>
              <a:t>Python in the browser — the AI writes code, Colab runs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19" y="2743200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F7113"/>
                </a:solidFill>
                <a:latin typeface="Calibri"/>
              </a:rPr>
              <a:t>colab.research.google.com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12463"/>
            <a:ext cx="11094415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712463"/>
            <a:ext cx="64008" cy="9692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822191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0F2145"/>
                </a:solidFill>
                <a:latin typeface="Georgia"/>
              </a:rPr>
              <a:t>Course repository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822191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A41"/>
                </a:solidFill>
                <a:latin typeface="Calibri"/>
              </a:rPr>
              <a:t>Slides, prompts, datasets, project templates, submission links.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19" y="3822191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F7113"/>
                </a:solidFill>
                <a:latin typeface="Calibri"/>
              </a:rPr>
              <a:t>github.com/tejasgjadhav/SCMHRD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91455"/>
            <a:ext cx="11094415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791455"/>
            <a:ext cx="64008" cy="9692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901183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0F2145"/>
                </a:solidFill>
                <a:latin typeface="Georgia"/>
              </a:rPr>
              <a:t>Data sources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901183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A41"/>
                </a:solidFill>
                <a:latin typeface="Calibri"/>
              </a:rPr>
              <a:t>NSE bhavcopy, screener.in exports, company filings, RBI/Basel texts — all public.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19" y="4901183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F7113"/>
                </a:solidFill>
                <a:latin typeface="Calibri"/>
              </a:rPr>
              <a:t>linked in the repo README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897880"/>
            <a:ext cx="11094415" cy="475488"/>
          </a:xfrm>
          <a:prstGeom prst="roundRect">
            <a:avLst>
              <a:gd name="adj" fmla="val 14000"/>
            </a:avLst>
          </a:prstGeom>
          <a:solidFill>
            <a:srgbClr val="F6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5897880"/>
            <a:ext cx="10637215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A63D40"/>
                </a:solidFill>
                <a:latin typeface="Calibri"/>
              </a:rPr>
              <a:t>House rule: </a:t>
            </a:r>
            <a:r>
              <a:rPr sz="1150" b="0" i="0">
                <a:solidFill>
                  <a:srgbClr val="1B2A41"/>
                </a:solidFill>
                <a:latin typeface="Calibri"/>
              </a:rPr>
              <a:t>public data only. No client information, no MNPI, nothing from your internships goes into any AI tool.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D6B7E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5D6B7E"/>
                </a:solidFill>
                <a:latin typeface="Calibri"/>
              </a:rPr>
              <a:t>SESSION 2  · 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50">
                <a:solidFill>
                  <a:srgbClr val="C9A227"/>
                </a:solidFill>
                <a:latin typeface="Calibri"/>
              </a:rPr>
              <a:t>WHERE THIS GOES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F2145"/>
                </a:solidFill>
                <a:latin typeface="Georgia"/>
              </a:rPr>
              <a:t>AI × Finance careers for an MBA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36192"/>
            <a:ext cx="54864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36192"/>
            <a:ext cx="5486400" cy="73152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737360"/>
            <a:ext cx="5029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0F2145"/>
                </a:solidFill>
                <a:latin typeface="Georgia"/>
              </a:rPr>
              <a:t>AI Product Manager — banking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1050" b="0" i="0">
                <a:solidFill>
                  <a:srgbClr val="5D6B7E"/>
                </a:solidFill>
                <a:latin typeface="Calibri"/>
              </a:rPr>
              <a:t>Owns an AI product (advisor copilot, credit agent). Translates desk needs into model requirements.</a:t>
            </a:r>
          </a:p>
          <a:p>
            <a:pPr algn="l">
              <a:spcBef>
                <a:spcPts val="700"/>
              </a:spcBef>
            </a:pPr>
            <a:r>
              <a:rPr sz="950" b="1" i="0">
                <a:solidFill>
                  <a:srgbClr val="8F7113"/>
                </a:solidFill>
                <a:latin typeface="Calibri"/>
              </a:rPr>
              <a:t>From today: </a:t>
            </a:r>
            <a:r>
              <a:rPr sz="950" b="0" i="1">
                <a:solidFill>
                  <a:srgbClr val="1B2A41"/>
                </a:solidFill>
                <a:latin typeface="Calibri"/>
              </a:rPr>
              <a:t>Today's vocabulary is the job spec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536192"/>
            <a:ext cx="54864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536192"/>
            <a:ext cx="54864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9944" y="1737360"/>
            <a:ext cx="5029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0F2145"/>
                </a:solidFill>
                <a:latin typeface="Georgia"/>
              </a:rPr>
              <a:t>Model risk &amp; AI governance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1050" b="0" i="0">
                <a:solidFill>
                  <a:srgbClr val="5D6B7E"/>
                </a:solidFill>
                <a:latin typeface="Calibri"/>
              </a:rPr>
              <a:t>Validates and audits AI systems for regulators. Scarce, senior-tracked, rising demand.</a:t>
            </a:r>
          </a:p>
          <a:p>
            <a:pPr algn="l">
              <a:spcBef>
                <a:spcPts val="700"/>
              </a:spcBef>
            </a:pPr>
            <a:r>
              <a:rPr sz="950" b="1" i="0">
                <a:solidFill>
                  <a:srgbClr val="8F7113"/>
                </a:solidFill>
                <a:latin typeface="Calibri"/>
              </a:rPr>
              <a:t>From today: </a:t>
            </a:r>
            <a:r>
              <a:rPr sz="950" b="0" i="1">
                <a:solidFill>
                  <a:srgbClr val="1B2A41"/>
                </a:solidFill>
                <a:latin typeface="Calibri"/>
              </a:rPr>
              <a:t>Hallucination types + SR 11-7 slide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30752"/>
            <a:ext cx="54864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730752"/>
            <a:ext cx="5486400" cy="73152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931920"/>
            <a:ext cx="5029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0F2145"/>
                </a:solidFill>
                <a:latin typeface="Georgia"/>
              </a:rPr>
              <a:t>AI-augmented analyst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1050" b="0" i="0">
                <a:solidFill>
                  <a:srgbClr val="5D6B7E"/>
                </a:solidFill>
                <a:latin typeface="Calibri"/>
              </a:rPr>
              <a:t>Equity/credit analyst who ships 3× output using RAG and agents. The near-term default.</a:t>
            </a:r>
          </a:p>
          <a:p>
            <a:pPr algn="l">
              <a:spcBef>
                <a:spcPts val="700"/>
              </a:spcBef>
            </a:pPr>
            <a:r>
              <a:rPr sz="950" b="1" i="0">
                <a:solidFill>
                  <a:srgbClr val="8F7113"/>
                </a:solidFill>
                <a:latin typeface="Calibri"/>
              </a:rPr>
              <a:t>From today: </a:t>
            </a:r>
            <a:r>
              <a:rPr sz="950" b="0" i="1">
                <a:solidFill>
                  <a:srgbClr val="1B2A41"/>
                </a:solidFill>
                <a:latin typeface="Calibri"/>
              </a:rPr>
              <a:t>Everything you build this afternoon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730752"/>
            <a:ext cx="54864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730752"/>
            <a:ext cx="54864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3931920"/>
            <a:ext cx="5029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0F2145"/>
                </a:solidFill>
                <a:latin typeface="Georgia"/>
              </a:rPr>
              <a:t>Fintech / vendor strategy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1050" b="0" i="0">
                <a:solidFill>
                  <a:srgbClr val="5D6B7E"/>
                </a:solidFill>
                <a:latin typeface="Calibri"/>
              </a:rPr>
              <a:t>Builds or sells AI tooling to institutions — solutions, partnerships, product strategy.</a:t>
            </a:r>
          </a:p>
          <a:p>
            <a:pPr algn="l">
              <a:spcBef>
                <a:spcPts val="700"/>
              </a:spcBef>
            </a:pPr>
            <a:r>
              <a:rPr sz="950" b="1" i="0">
                <a:solidFill>
                  <a:srgbClr val="8F7113"/>
                </a:solidFill>
                <a:latin typeface="Calibri"/>
              </a:rPr>
              <a:t>From today: </a:t>
            </a:r>
            <a:r>
              <a:rPr sz="950" b="0" i="1">
                <a:solidFill>
                  <a:srgbClr val="1B2A41"/>
                </a:solidFill>
                <a:latin typeface="Calibri"/>
              </a:rPr>
              <a:t>MCP &amp; architecture literacy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D6B7E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5D6B7E"/>
                </a:solidFill>
                <a:latin typeface="Calibri"/>
              </a:rPr>
              <a:t>SESSION 2  · 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50">
                <a:solidFill>
                  <a:srgbClr val="C9A227"/>
                </a:solidFill>
                <a:latin typeface="Calibri"/>
              </a:rPr>
              <a:t>KEEP GOING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0F2145"/>
                </a:solidFill>
                <a:latin typeface="Georgia"/>
              </a:rPr>
              <a:t>After today — a 30-day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676656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64008" cy="932688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45920"/>
            <a:ext cx="12344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8F7113"/>
                </a:solidFill>
                <a:latin typeface="Georgia"/>
              </a:rPr>
              <a:t>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645920"/>
            <a:ext cx="49834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B2A41"/>
                </a:solidFill>
                <a:latin typeface="Calibri"/>
              </a:rPr>
              <a:t>Re-run all four builds solo. Change one assumption in each; watch what breaks.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96896"/>
            <a:ext cx="676656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596896"/>
            <a:ext cx="64008" cy="932688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688336"/>
            <a:ext cx="12344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8F7113"/>
                </a:solidFill>
                <a:latin typeface="Georgia"/>
              </a:rPr>
              <a:t>Week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688336"/>
            <a:ext cx="49834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B2A41"/>
                </a:solidFill>
                <a:latin typeface="Calibri"/>
              </a:rPr>
              <a:t>Ship your project scope note. Read one bank AI case study (Morgan Stanley RAG is the classic).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39311"/>
            <a:ext cx="676656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639311"/>
            <a:ext cx="64008" cy="932688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730751"/>
            <a:ext cx="12344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8F7113"/>
                </a:solidFill>
                <a:latin typeface="Georgia"/>
              </a:rPr>
              <a:t>Week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3730751"/>
            <a:ext cx="49834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B2A41"/>
                </a:solidFill>
                <a:latin typeface="Calibri"/>
              </a:rPr>
              <a:t>Working demo. Add one guardrail: citations, “I don't know”, or a human-approval step.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681727"/>
            <a:ext cx="676656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681727"/>
            <a:ext cx="64008" cy="932688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4773167"/>
            <a:ext cx="12344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8F7113"/>
                </a:solidFill>
                <a:latin typeface="Georgia"/>
              </a:rPr>
              <a:t>Week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4773167"/>
            <a:ext cx="49834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B2A41"/>
                </a:solidFill>
                <a:latin typeface="Calibri"/>
              </a:rPr>
              <a:t>Pitch. Then put the demo on your CV with metrics — “built a RAG compliance tool, 90% citation accuracy”.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1554480"/>
            <a:ext cx="4023360" cy="4023360"/>
          </a:xfrm>
          <a:prstGeom prst="roundRect">
            <a:avLst>
              <a:gd name="adj" fmla="val 6000"/>
            </a:avLst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5552" y="1554480"/>
            <a:ext cx="3566160" cy="402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spc="220">
                <a:solidFill>
                  <a:srgbClr val="C9A227"/>
                </a:solidFill>
                <a:latin typeface="Calibri"/>
              </a:rPr>
              <a:t>READING LIST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Anthropic — “Building effective agents”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DeepLearning.AI — short courses on RAG &amp; LangChain (free)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BloombergGPT paper — skim the use cases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Morgan Stanley × OpenAI case study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RBI &amp; BIS papers on AI in banking</a:t>
            </a:r>
          </a:p>
          <a:p>
            <a:pPr algn="l">
              <a:spcBef>
                <a:spcPts val="1600"/>
              </a:spcBef>
            </a:pPr>
            <a:r>
              <a:rPr sz="1050" b="0" i="1">
                <a:solidFill>
                  <a:srgbClr val="8FA1C4"/>
                </a:solidFill>
                <a:latin typeface="Calibri"/>
              </a:rPr>
              <a:t>All linked in the course repo.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5D6B7E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5D6B7E"/>
                </a:solidFill>
                <a:latin typeface="Calibri"/>
              </a:rPr>
              <a:t>SESSION 2  · 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1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C9A227"/>
                </a:solidFill>
                <a:latin typeface="Calibri"/>
              </a:rPr>
              <a:t>SCMHRD · MBA FINANCE · AI IN FINANCE INTENSIVE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Build the thing. Question the output.</a:t>
            </a:r>
          </a:p>
          <a:p>
            <a:pPr algn="l">
              <a:spcBef>
                <a:spcPts val="1000"/>
              </a:spcBef>
            </a:pPr>
            <a:r>
              <a:rPr sz="1500" b="0" i="1">
                <a:solidFill>
                  <a:srgbClr val="C9D6EE"/>
                </a:solidFill>
                <a:latin typeface="Calibri"/>
              </a:rPr>
              <a:t>AI won't replace finance professionals — finance professionals who use AI will replace those who don't.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977639"/>
            <a:ext cx="4937760" cy="10972"/>
          </a:xfrm>
          <a:prstGeom prst="rect">
            <a:avLst/>
          </a:prstGeom>
          <a:solidFill>
            <a:srgbClr val="335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59436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Tejas Jadhav, CFA, FRM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8FA1C4"/>
                </a:solidFill>
                <a:latin typeface="Calibri"/>
              </a:rPr>
              <a:t>Guest Faculty · AI in Finance</a:t>
            </a:r>
          </a:p>
          <a:p>
            <a:pPr algn="l">
              <a:spcBef>
                <a:spcPts val="1200"/>
              </a:spcBef>
            </a:pPr>
            <a:r>
              <a:rPr sz="1300" b="1" i="0">
                <a:solidFill>
                  <a:srgbClr val="C9A227"/>
                </a:solidFill>
                <a:latin typeface="Calibri"/>
              </a:rPr>
              <a:t>github.com/tejasgjadhav/SCMHRD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8FA1C4"/>
                </a:solidFill>
                <a:latin typeface="Calibri"/>
              </a:rPr>
              <a:t>Slides, prompts, datasets &amp; project templates live 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206240"/>
            <a:ext cx="41148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50">
                <a:solidFill>
                  <a:srgbClr val="C9A227"/>
                </a:solidFill>
                <a:latin typeface="Calibri"/>
              </a:rPr>
              <a:t>YOUR NEXT STEP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Form your team before you leave the room. Scope note due Day 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 spc="180">
                <a:solidFill>
                  <a:srgbClr val="8FA1C4"/>
                </a:solidFill>
                <a:latin typeface="Calibri"/>
              </a:rPr>
              <a:t>AI IN FINANCE · SCMHRD ONE-DAY INTENSIVE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 spc="120">
                <a:solidFill>
                  <a:srgbClr val="8FA1C4"/>
                </a:solidFill>
                <a:latin typeface="Calibri"/>
              </a:rPr>
              <a:t>CLOSE  ·  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