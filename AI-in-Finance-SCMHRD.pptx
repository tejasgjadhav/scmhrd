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7055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7055" y="0"/>
            <a:ext cx="41148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C9A227"/>
                </a:solidFill>
                <a:latin typeface="Calibri"/>
              </a:rPr>
              <a:t>SCMHRD · MBA FINANCE · SEMESTER 3 · ONE-DAY INTENSIVE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Georgia"/>
              </a:rPr>
              <a:t>AI in Finance</a:t>
            </a:r>
          </a:p>
          <a:p>
            <a:pPr algn="l">
              <a:spcBef>
                <a:spcPts val="1000"/>
              </a:spcBef>
            </a:pPr>
            <a:r>
              <a:rPr sz="1900" b="0" i="1">
                <a:solidFill>
                  <a:srgbClr val="C9D6EE"/>
                </a:solidFill>
                <a:latin typeface="Georgia"/>
              </a:rPr>
              <a:t>From LLMs to Agentic AI — concepts, systems and four live builds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Tejas Jadhav, CFA, FRM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8FA1C4"/>
                </a:solidFill>
                <a:latin typeface="Calibri"/>
              </a:rPr>
              <a:t>Guest Faculty · Curated with Dr. Dipasha Sharma, SCMHRD</a:t>
            </a:r>
          </a:p>
          <a:p>
            <a:pPr algn="l">
              <a:spcBef>
                <a:spcPts val="1000"/>
              </a:spcBef>
            </a:pPr>
            <a:r>
              <a:rPr sz="1200" b="1" i="0">
                <a:solidFill>
                  <a:srgbClr val="C9A227"/>
                </a:solidFill>
                <a:latin typeface="Calibri"/>
              </a:rPr>
              <a:t>github.com/tejasgjadhav/SCMHRD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9663" y="8503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300">
                <a:solidFill>
                  <a:srgbClr val="C9A227"/>
                </a:solidFill>
                <a:latin typeface="Calibri"/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9663" y="1234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10 AM – 1 PM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8FA1C4"/>
                </a:solidFill>
                <a:latin typeface="Calibri"/>
              </a:rPr>
              <a:t>Foundations: AI, GenAI,
Agents &amp; Enterprise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9663" y="265176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2 PM – 5 PM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8FA1C4"/>
                </a:solidFill>
                <a:latin typeface="Calibri"/>
              </a:rPr>
              <a:t>Finance applications,
four live builds +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9663" y="4206240"/>
            <a:ext cx="22860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C9A227"/>
                </a:solidFill>
                <a:latin typeface="Georgia"/>
              </a:rPr>
              <a:t>4</a:t>
            </a:r>
          </a:p>
          <a:p>
            <a:pPr algn="l">
              <a:lnSpc>
                <a:spcPct val="120000"/>
              </a:lnSpc>
              <a:spcBef>
                <a:spcPts val="200"/>
              </a:spcBef>
            </a:pPr>
            <a:r>
              <a:rPr sz="950" b="0" i="0" spc="150">
                <a:solidFill>
                  <a:srgbClr val="8FA1C4"/>
                </a:solidFill>
                <a:latin typeface="Calibri"/>
              </a:rPr>
              <a:t>LIVE BUILDS SHIPPED
BEFORE 5 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WELCOME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One day. Two slots. Zero coding background assumed.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4068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5440680" cy="71323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150">
                <a:solidFill>
                  <a:srgbClr val="FFFFFF"/>
                </a:solidFill>
                <a:latin typeface="Calibri"/>
              </a:rPr>
              <a:t>SLOT 1 · FOUNDATIONS</a:t>
            </a:r>
            <a:r>
              <a:rPr sz="1200" b="0" i="0">
                <a:solidFill>
                  <a:srgbClr val="F5ECD3"/>
                </a:solidFill>
                <a:latin typeface="Calibri"/>
              </a:rPr>
              <a:t>    10 AM – 1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AI, Machine Learning and Generative AI — from zero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9864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LLMs: how they actually work (no maths needed)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0156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Prompting, context windows and 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90448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Hallucinations — the types that hurt in 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40740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RAG: making AI answer from your documents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91032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Agents, loops &amp; skills · LangChain · LangGraph ·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41324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Enterprise AI: data protection, token costs, governance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481328"/>
            <a:ext cx="544068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481328"/>
            <a:ext cx="5440680" cy="713232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1591056"/>
            <a:ext cx="49377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 spc="150">
                <a:solidFill>
                  <a:srgbClr val="FFFFFF"/>
                </a:solidFill>
                <a:latin typeface="Calibri"/>
              </a:rPr>
              <a:t>SLOT 2 · BUILD &amp; APPLY</a:t>
            </a:r>
            <a:r>
              <a:rPr sz="1200" b="0" i="0">
                <a:solidFill>
                  <a:srgbClr val="FFF7DE"/>
                </a:solidFill>
                <a:latin typeface="Calibri"/>
              </a:rPr>
              <a:t>    2 PM – 5 PM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39572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1 — Trading algo system (momentum, mean reversion)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289864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2 — Backtesting engine (Sharpe, drawdown)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40156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3 — Earnings-call dashboard with sentiment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390448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Build 4 — Portfolio review + Basel report via RAG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40740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Live project — graded group assignment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491032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AI-finance careers, skill stack &amp; placement map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3952" y="5413247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Recap, resources + Q&amp;A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99632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1">
                <a:solidFill>
                  <a:srgbClr val="5D6B7E"/>
                </a:solidFill>
                <a:latin typeface="Calibri"/>
              </a:rPr>
              <a:t>Morning = concepts with finance use cases. Afternoon = you build, in groups, with AI doing the coding for you.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DAY MAP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143000"/>
            <a:ext cx="2926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C9A227"/>
                </a:solidFill>
                <a:latin typeface="Georg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9601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Session 1 · Foundations</a:t>
            </a:r>
          </a:p>
          <a:p>
            <a:pPr algn="l">
              <a:spcBef>
                <a:spcPts val="800"/>
              </a:spcBef>
            </a:pPr>
            <a:r>
              <a:rPr sz="1600" b="0" i="0">
                <a:solidFill>
                  <a:srgbClr val="C9D6EE"/>
                </a:solidFill>
                <a:latin typeface="Calibri"/>
              </a:rPr>
              <a:t>AI → Generative AI → LLMs → Agents → Agentic AI → Enterprise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343400"/>
            <a:ext cx="1005840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10:00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AI &amp; GenAI basics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10:45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Prompts · context ·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2816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11:15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Hallucinations &amp;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9904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11:55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Agents &amp; Agentic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36992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12:30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LangChain · LangGraph · MCP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46177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12:50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Recap &amp; live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SESSION 1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What is AI? Four nested ideas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577840" cy="4480560"/>
          </a:xfrm>
          <a:prstGeom prst="roundRect">
            <a:avLst>
              <a:gd name="adj" fmla="val 5000"/>
            </a:avLst>
          </a:prstGeom>
          <a:solidFill>
            <a:srgbClr val="E9EFF8"/>
          </a:solidFill>
          <a:ln w="9525">
            <a:solidFill>
              <a:srgbClr val="3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36776"/>
            <a:ext cx="516635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0F2145"/>
                </a:solidFill>
                <a:latin typeface="Calibri"/>
              </a:rPr>
              <a:t>ARTIFICIAL INTELLIGENCE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Any software that mimics human judgement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" y="2249424"/>
            <a:ext cx="5065775" cy="3639312"/>
          </a:xfrm>
          <a:prstGeom prst="roundRect">
            <a:avLst>
              <a:gd name="adj" fmla="val 5000"/>
            </a:avLst>
          </a:prstGeom>
          <a:solidFill>
            <a:srgbClr val="D5E1F2"/>
          </a:solidFill>
          <a:ln w="9525">
            <a:solidFill>
              <a:srgbClr val="3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331720"/>
            <a:ext cx="4654295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0F2145"/>
                </a:solidFill>
                <a:latin typeface="Calibri"/>
              </a:rPr>
              <a:t>MACHINE LEARNING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Learns rules from data instead of being programmed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60704" y="2944368"/>
            <a:ext cx="4553712" cy="2798064"/>
          </a:xfrm>
          <a:prstGeom prst="roundRect">
            <a:avLst>
              <a:gd name="adj" fmla="val 5000"/>
            </a:avLst>
          </a:prstGeom>
          <a:solidFill>
            <a:srgbClr val="BFD2EC"/>
          </a:solidFill>
          <a:ln w="9525">
            <a:solidFill>
              <a:srgbClr val="3A5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3026663"/>
            <a:ext cx="4142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0F2145"/>
                </a:solidFill>
                <a:latin typeface="Calibri"/>
              </a:rPr>
              <a:t>DEEP LEARNING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Neural networks — learns from raw text, images, sound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16736" y="3639312"/>
            <a:ext cx="4041648" cy="1956816"/>
          </a:xfrm>
          <a:prstGeom prst="roundRect">
            <a:avLst>
              <a:gd name="adj" fmla="val 5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36192" y="3721608"/>
            <a:ext cx="363016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100">
                <a:solidFill>
                  <a:srgbClr val="FFFFFF"/>
                </a:solidFill>
                <a:latin typeface="Calibri"/>
              </a:rPr>
              <a:t>GENERATIVE AI · LLMs</a:t>
            </a:r>
          </a:p>
          <a:p>
            <a:pPr algn="l">
              <a:spcBef>
                <a:spcPts val="1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Creates new text, code and analysis — ChatGPT, Claude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554480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1554480"/>
            <a:ext cx="64008" cy="102412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6" y="1700784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1696" y="2084831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The umbrella. Rules, logic, prediction — e.g. a loan-eligibility rule engine.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706624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92240" y="2706624"/>
            <a:ext cx="64008" cy="102412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11696" y="2852928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Machine Learning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1696" y="3236976"/>
            <a:ext cx="4736592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Show it 1 lakh past loans; it learns which borrowers default. No rules hand-written.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3858768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92240" y="3858768"/>
            <a:ext cx="64008" cy="102412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11696" y="4005072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Deep Learning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1696" y="4389120"/>
            <a:ext cx="4736592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ML with many-layered neural networks. Powers fraud detection, face-KYC, speech.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5010912"/>
            <a:ext cx="512064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5010912"/>
            <a:ext cx="64008" cy="10241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6" y="5157216"/>
            <a:ext cx="4754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Generative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11696" y="5541264"/>
            <a:ext cx="4736592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Doesn't just score or classify — it writes. Research notes, memos, code, emails.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How machines learn — three flavours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36118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611880" cy="8229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810512"/>
            <a:ext cx="31546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3A5C9E"/>
                </a:solidFill>
                <a:latin typeface="Calibri"/>
              </a:rPr>
              <a:t>LEARN FROM LABELLED HISTORY</a:t>
            </a:r>
          </a:p>
          <a:p>
            <a:pPr algn="l">
              <a:spcBef>
                <a:spcPts val="600"/>
              </a:spcBef>
            </a:pPr>
            <a:r>
              <a:rPr sz="1700" b="1" i="0">
                <a:solidFill>
                  <a:srgbClr val="0F2145"/>
                </a:solidFill>
                <a:latin typeface="Georgia"/>
              </a:rPr>
              <a:t>Supervised learning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</a:pPr>
            <a:r>
              <a:rPr sz="1250" b="0" i="0">
                <a:solidFill>
                  <a:srgbClr val="1B2A41"/>
                </a:solidFill>
                <a:latin typeface="Calibri"/>
              </a:rPr>
              <a:t>Feed it past data with answers attached: loans → defaulted / repaid.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</a:pPr>
            <a:r>
              <a:rPr sz="1200" b="0" i="1">
                <a:solidFill>
                  <a:srgbClr val="5D6B7E"/>
                </a:solidFill>
                <a:latin typeface="Calibri"/>
              </a:rPr>
              <a:t>Finance: credit scoring, fraud flags, house-price models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36118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554480"/>
            <a:ext cx="3611880" cy="822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810512"/>
            <a:ext cx="31546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8F7113"/>
                </a:solidFill>
                <a:latin typeface="Calibri"/>
              </a:rPr>
              <a:t>FIND HIDDEN STRUCTURE</a:t>
            </a:r>
          </a:p>
          <a:p>
            <a:pPr algn="l">
              <a:spcBef>
                <a:spcPts val="600"/>
              </a:spcBef>
            </a:pPr>
            <a:r>
              <a:rPr sz="1700" b="1" i="0">
                <a:solidFill>
                  <a:srgbClr val="0F2145"/>
                </a:solidFill>
                <a:latin typeface="Georgia"/>
              </a:rPr>
              <a:t>Unsupervised learning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</a:pPr>
            <a:r>
              <a:rPr sz="1250" b="0" i="0">
                <a:solidFill>
                  <a:srgbClr val="1B2A41"/>
                </a:solidFill>
                <a:latin typeface="Calibri"/>
              </a:rPr>
              <a:t>No answers given. The model groups similar things on its own.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</a:pPr>
            <a:r>
              <a:rPr sz="1200" b="0" i="1">
                <a:solidFill>
                  <a:srgbClr val="5D6B7E"/>
                </a:solidFill>
                <a:latin typeface="Calibri"/>
              </a:rPr>
              <a:t>Finance: customer segmentation, anomaly detection in transactions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554480"/>
            <a:ext cx="361188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554480"/>
            <a:ext cx="3611880" cy="82296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810512"/>
            <a:ext cx="31546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2F7D5B"/>
                </a:solidFill>
                <a:latin typeface="Calibri"/>
              </a:rPr>
              <a:t>LEARN BY TRIAL &amp; REWARD</a:t>
            </a:r>
          </a:p>
          <a:p>
            <a:pPr algn="l">
              <a:spcBef>
                <a:spcPts val="600"/>
              </a:spcBef>
            </a:pPr>
            <a:r>
              <a:rPr sz="1700" b="1" i="0">
                <a:solidFill>
                  <a:srgbClr val="0F2145"/>
                </a:solidFill>
                <a:latin typeface="Georgia"/>
              </a:rPr>
              <a:t>Reinforcement learning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</a:pPr>
            <a:r>
              <a:rPr sz="1250" b="0" i="0">
                <a:solidFill>
                  <a:srgbClr val="1B2A41"/>
                </a:solidFill>
                <a:latin typeface="Calibri"/>
              </a:rPr>
              <a:t>An agent tries actions, gets rewards or penalties, improves over time.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</a:pPr>
            <a:r>
              <a:rPr sz="1200" b="0" i="1">
                <a:solidFill>
                  <a:srgbClr val="5D6B7E"/>
                </a:solidFill>
                <a:latin typeface="Calibri"/>
              </a:rPr>
              <a:t>Finance: order execution, market-making, dynamic hedging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102352"/>
            <a:ext cx="11094415" cy="868680"/>
          </a:xfrm>
          <a:prstGeom prst="roundRect">
            <a:avLst>
              <a:gd name="adj" fmla="val 12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5102352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8F7113"/>
                </a:solidFill>
                <a:latin typeface="Calibri"/>
              </a:rPr>
              <a:t>Key intuition:  </a:t>
            </a:r>
            <a:r>
              <a:rPr sz="1250" b="0" i="0">
                <a:solidFill>
                  <a:srgbClr val="1B2A41"/>
                </a:solidFill>
                <a:latin typeface="Calibri"/>
              </a:rPr>
              <a:t>classical ML predicts a number or a label. Generative AI produces language. LLMs are deep learning applied to one task — predicting the next word — at colossal scale.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Predictive AI vs Generative AI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72768"/>
          <a:ext cx="11064240" cy="2743200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286000"/>
                <a:gridCol w="4389120"/>
                <a:gridCol w="4389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Predictive (classical) AI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Generative AI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A number, score or label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New content — text, tables, code, memos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Question it answers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“Will this borrower default?”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“Draft the credit appraisal note.”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Data needed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Structured (spreadsheets, ledgers)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Unstructured too (filings, calls, news)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Typical desk use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Fraud scores, ratings, forecasts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Research summaries, IC memos, emails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2145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Wrong number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B2A41"/>
                          </a:solidFill>
                          <a:latin typeface="Calibri"/>
                        </a:rPr>
                        <a:t>Confident, fluent nonsense (hallucination)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53712"/>
            <a:ext cx="11094415" cy="141732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4700016"/>
            <a:ext cx="1054577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an MBA should care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Predictive AI automated the </a:t>
            </a:r>
            <a:r>
              <a:rPr sz="1150" b="1" i="0">
                <a:solidFill>
                  <a:srgbClr val="1B2A41"/>
                </a:solidFill>
                <a:latin typeface="Calibri"/>
              </a:rPr>
              <a:t>calculation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 layer of finance. Generative AI is now automating the </a:t>
            </a:r>
            <a:r>
              <a:rPr sz="1150" b="1" i="0">
                <a:solidFill>
                  <a:srgbClr val="1B2A41"/>
                </a:solidFill>
                <a:latin typeface="Calibri"/>
              </a:rPr>
              <a:t>language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 layer — memos, research, client letters, compliance drafts — which is most of what analysts produce in their first three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LLM — autocomplete trained on the internet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8249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80">
                <a:solidFill>
                  <a:srgbClr val="C9A227"/>
                </a:solidFill>
                <a:latin typeface="Calibri"/>
              </a:rPr>
              <a:t>ONE JOB: PREDICT THE NEXT 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01168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</a:rPr>
              <a:t>“The RBI raised the repo ____”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420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D6EE"/>
                </a:solidFill>
                <a:latin typeface="Calibri"/>
              </a:rPr>
              <a:t>rate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587751"/>
            <a:ext cx="2860243" cy="16459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53635" y="254203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1C4"/>
                </a:solidFill>
                <a:latin typeface="Calibri"/>
              </a:rPr>
              <a:t>92%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26079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D6EE"/>
                </a:solidFill>
                <a:latin typeface="Calibri"/>
              </a:rPr>
              <a:t>rating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0240" y="2971799"/>
            <a:ext cx="124358" cy="16459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17750" y="2926079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1C4"/>
                </a:solidFill>
                <a:latin typeface="Calibri"/>
              </a:rPr>
              <a:t>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310127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9D6EE"/>
                </a:solidFill>
                <a:latin typeface="Calibri"/>
              </a:rPr>
              <a:t>report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3355847"/>
            <a:ext cx="62179" cy="16459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55571" y="331012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1C4"/>
                </a:solidFill>
                <a:latin typeface="Calibri"/>
              </a:rPr>
              <a:t>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86784"/>
            <a:ext cx="54864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133087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Tokens — the model's unit of text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Words are split into chunks (≈ ¾ of a word each). “Derivatives” → deriv + atives. Models read, think and charge per token.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Context windows, API pricing and speed are all quoted in tokens — it's the metre of this world.</a:t>
            </a:r>
          </a:p>
          <a:p>
            <a:pPr algn="l">
              <a:spcBef>
                <a:spcPts val="700"/>
              </a:spcBef>
            </a:pPr>
            <a:r>
              <a:rPr sz="1100" b="1" i="0">
                <a:solidFill>
                  <a:srgbClr val="8F7113"/>
                </a:solidFill>
                <a:latin typeface="Calibri"/>
              </a:rPr>
              <a:t>A 200-page annual report ≈ 100,000 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51790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5D6B7E"/>
                </a:solidFill>
                <a:latin typeface="Calibri"/>
              </a:rPr>
              <a:t>HOW IT'S BUILT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847088"/>
            <a:ext cx="521208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1847088"/>
            <a:ext cx="64008" cy="106070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0256" y="1956816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1 · Pre-training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Read trillions of words — books, filings, the web. Learn language, facts, reasoning patterns.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8887968" y="2889503"/>
            <a:ext cx="201168" cy="23774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3127248"/>
            <a:ext cx="521208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3127248"/>
            <a:ext cx="64008" cy="106070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0256" y="3236976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2 · Fine-tuning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Teach it to follow instructions: “summarise”, “compare”, “draft”.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8887968" y="4169664"/>
            <a:ext cx="201168" cy="23774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4407408"/>
            <a:ext cx="521208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4407408"/>
            <a:ext cx="64008" cy="106070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0256" y="4517136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3 · Human feedback (RLHF)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Humans rank answers; the model learns to be helpful, honest, harmless.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5705856"/>
            <a:ext cx="5212080" cy="566928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0256" y="5705856"/>
            <a:ext cx="4846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1B2A41"/>
                </a:solidFill>
                <a:latin typeface="Calibri"/>
              </a:rPr>
              <a:t>It has no database of truth — </a:t>
            </a:r>
            <a:r>
              <a:rPr sz="1100" b="1" i="0">
                <a:solidFill>
                  <a:srgbClr val="8F7113"/>
                </a:solidFill>
                <a:latin typeface="Calibri"/>
              </a:rPr>
              <a:t>it generates the most plausible next words.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model landscape in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27632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OpenAI — GPT 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06240" y="1627632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ChatGPT; strongest brand, broad ecosystem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62763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Everyday analysis, drafting, coding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24688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Anthropic — 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46888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Long documents, careful reasoning, agents &amp; coding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46888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Research over filings, agentic workflows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18688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310128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Google — Gemini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310128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Native to Workspace; huge context windows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3310128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Teams already on Google stack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59936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4151376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Meta — Llama (open)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4151376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Open-weights: run it on your own servers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151376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Banks needing data to stay in-house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901184"/>
            <a:ext cx="110944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4992624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BloombergGPT / FinBERT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4992624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Domain models trained on finance 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4992624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Terminal workflows, sentiment scoring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1325880"/>
            <a:ext cx="4206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5D6B7E"/>
                </a:solidFill>
                <a:latin typeface="Calibri"/>
              </a:rPr>
              <a:t>KNOWN FOR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1325880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5D6B7E"/>
                </a:solidFill>
                <a:latin typeface="Calibri"/>
              </a:rPr>
              <a:t>PICK IT WHEN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97296"/>
            <a:ext cx="11094415" cy="512064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5797296"/>
            <a:ext cx="1063721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Closed models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= rented via API, best quality.  </a:t>
            </a:r>
            <a:r>
              <a:rPr sz="1150" b="1" i="0">
                <a:solidFill>
                  <a:srgbClr val="0F2145"/>
                </a:solidFill>
                <a:latin typeface="Calibri"/>
              </a:rPr>
              <a:t>Open models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= downloaded and self-hosted — banks often choose these for confidential data.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A · BASICS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Glossary I — words you'll hear all day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17904"/>
          <a:ext cx="11109959" cy="4690863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1920240"/>
                <a:gridCol w="5212080"/>
                <a:gridCol w="3977639"/>
              </a:tblGrid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Plain-English meaning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Finance example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trained “brain” — a giant pattern-matcher built from data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GPT, Claude and Gemini are all models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Training vs inference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Training = building the brain (once, costly). Inference = using it (every chat)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Your ChatGPT question = one inference call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dials inside the brain — more dials, more capability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“175B parameters” ≈ brain size, not IQ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Token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unit of text models read and bill by (≈ ¾ of a word)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 200-page annual report ≈ 100,000 tokens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Embedding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Text converted into numbers that capture its meaning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“profit fell” and “earnings declined” land side by side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Vector database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 library indexed by meaning, not keywords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Search “margin pressure”, find “pricing headwinds”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Temperature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creativity dial — low = consistent, high = varied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Compliance drafts at 0.2, brainstorms at 0.9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API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The plug that lets software call a model programmatically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An Excel add-in querying Claude = an API call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Prompt engineering — the anatomy of a good 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8229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618488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ROLE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9968" y="1618488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Who the AI should be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“You are a sell-side equity analyst…”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441448"/>
            <a:ext cx="64008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23744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2523744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Facts it must use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“Here is HDFC Bank's Q3 press release…”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46704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346704"/>
            <a:ext cx="64008" cy="82296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342900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3429000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One clear instruction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“Summarise NIM drivers in 5 bullets…”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51960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251960"/>
            <a:ext cx="64008" cy="82296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334256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FORMAT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9968" y="4334256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Shape of the output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“…as a table: metric, QoQ change, driver.”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157216"/>
            <a:ext cx="557784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157216"/>
            <a:ext cx="64008" cy="82296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5239512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100">
                <a:solidFill>
                  <a:srgbClr val="0F2145"/>
                </a:solidFill>
                <a:latin typeface="Calibri"/>
              </a:rPr>
              <a:t>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29968" y="5239512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Show one done right</a:t>
            </a:r>
          </a:p>
          <a:p>
            <a:pPr algn="l">
              <a:spcBef>
                <a:spcPts val="1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“Follow the style of this sample memo…”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1536192"/>
            <a:ext cx="5239512" cy="4462272"/>
          </a:xfrm>
          <a:prstGeom prst="roundRect">
            <a:avLst>
              <a:gd name="adj" fmla="val 5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1700784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9A227"/>
                </a:solidFill>
                <a:latin typeface="Calibri"/>
              </a:rPr>
              <a:t>A DESK-READY PROMPT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084831"/>
            <a:ext cx="47548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00" b="0" i="0">
                <a:solidFill>
                  <a:srgbClr val="FFFFFF"/>
                </a:solidFill>
                <a:latin typeface="Calibri"/>
              </a:rPr>
              <a:t>You are a credit analyst at a large Indian bank.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2DFA0"/>
                </a:solidFill>
                <a:latin typeface="Calibri"/>
              </a:rPr>
              <a:t>Using only the attached FY25 annual report of Tata Motors,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assess debt-servicing capacity: leverage, coverage, maturity wall.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2DFA0"/>
                </a:solidFill>
                <a:latin typeface="Calibri"/>
              </a:rPr>
              <a:t>Output a one-page credit note: 5 bullets, one ratio table, a stated recommendation.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FFFFFF"/>
                </a:solidFill>
                <a:latin typeface="Calibri"/>
              </a:rPr>
              <a:t>If a number is not in the report, say “not disclosed” — do not estimate.</a:t>
            </a:r>
          </a:p>
          <a:p>
            <a:pPr algn="l">
              <a:lnSpc>
                <a:spcPct val="125000"/>
              </a:lnSpc>
              <a:spcBef>
                <a:spcPts val="1800"/>
              </a:spcBef>
            </a:pPr>
            <a:r>
              <a:rPr sz="1050" b="0" i="1">
                <a:solidFill>
                  <a:srgbClr val="8FA1C4"/>
                </a:solidFill>
                <a:latin typeface="Calibri"/>
              </a:rPr>
              <a:t>That last line is a hallucination guardrail — you'll see why in 20 minutes.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Prompt patterns and anti-patterns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406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5440680" cy="603504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36192"/>
            <a:ext cx="48463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 spc="250">
                <a:solidFill>
                  <a:srgbClr val="FFFFFF"/>
                </a:solidFill>
                <a:latin typeface="Calibri"/>
              </a:rPr>
              <a:t>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4086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Give the source document, then ask the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926080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Ask for the format: table, memo, 5 bullets,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511296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“Think step by step” for calculations &amp; logic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096512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Ask it to cite the page/section for every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681728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Iterate — treat the first answer as a draft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26694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F7D5B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“If unsure or missing data, say so”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536192"/>
            <a:ext cx="5440680" cy="4434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36192"/>
            <a:ext cx="5440680" cy="603504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1536192"/>
            <a:ext cx="48463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 spc="250">
                <a:solidFill>
                  <a:srgbClr val="FFFFFF"/>
                </a:solidFill>
                <a:latin typeface="Calibri"/>
              </a:rPr>
              <a:t>DON'T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4086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“Tell me about HDFC Bank” — vague, no source, no 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926080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Trusting numbers it produces from memory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3511296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One giant prompt asking 6 things at once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4096512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Sharing client PII / MNPI with public chatbots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4681728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Assuming it knows events after its training cut-off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526694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A63D40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Copy-pasting output into an IC deck unreviewed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Context window — the model's working desk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5394960" cy="214884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682496"/>
            <a:ext cx="48920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analogy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An analyst can only work with the papers currently on her desk. The context window is that desk: everything the model can “see” right now — your prompt, the documents you pasted, the conversation so far.</a:t>
            </a:r>
          </a:p>
          <a:p>
            <a:pPr algn="l">
              <a:spcBef>
                <a:spcPts val="800"/>
              </a:spcBef>
            </a:pPr>
            <a:r>
              <a:rPr sz="1100" b="1" i="0">
                <a:solidFill>
                  <a:srgbClr val="8F7113"/>
                </a:solidFill>
                <a:latin typeface="Calibri"/>
              </a:rPr>
              <a:t>Off the desk = invisible. The model does not remember yesterday's chat by itself.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85615"/>
            <a:ext cx="5394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80">
                <a:solidFill>
                  <a:srgbClr val="5D6B7E"/>
                </a:solidFill>
                <a:latin typeface="Calibri"/>
              </a:rPr>
              <a:t>DESK SIZES (TOKENS → ROUGHLY)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41648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2145"/>
                </a:solidFill>
                <a:latin typeface="Calibri"/>
              </a:rPr>
              <a:t>8K — early GPT-4</a:t>
            </a:r>
            <a:r>
              <a:rPr sz="1000" b="0" i="1">
                <a:solidFill>
                  <a:srgbClr val="5D6B7E"/>
                </a:solidFill>
                <a:latin typeface="Calibri"/>
              </a:rPr>
              <a:t>   ≈ one earnings press release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288536"/>
            <a:ext cx="640080" cy="18288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645152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2145"/>
                </a:solidFill>
                <a:latin typeface="Calibri"/>
              </a:rPr>
              <a:t>128K — GPT-4 class</a:t>
            </a:r>
            <a:r>
              <a:rPr sz="1000" b="0" i="1">
                <a:solidFill>
                  <a:srgbClr val="5D6B7E"/>
                </a:solidFill>
                <a:latin typeface="Calibri"/>
              </a:rPr>
              <a:t>   ≈ one full annual report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892040"/>
            <a:ext cx="2377440" cy="18288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248656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F2145"/>
                </a:solidFill>
                <a:latin typeface="Calibri"/>
              </a:rPr>
              <a:t>200K–1M — Claude / Gemini</a:t>
            </a:r>
            <a:r>
              <a:rPr sz="1000" b="0" i="1">
                <a:solidFill>
                  <a:srgbClr val="5D6B7E"/>
                </a:solidFill>
                <a:latin typeface="Calibri"/>
              </a:rPr>
              <a:t>   ≈ several annual reports +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495544"/>
            <a:ext cx="5120640" cy="1828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517904"/>
            <a:ext cx="523951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51790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0256" y="1664207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you care 1 — cost &amp; speed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0256" y="2048255"/>
            <a:ext cx="4855464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5D6B7E"/>
                </a:solidFill>
                <a:latin typeface="Calibri"/>
              </a:rPr>
              <a:t>Bigger context = more tokens = slower and costlier. Send what matters, not everything.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035808"/>
            <a:ext cx="523951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3035808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6" y="3182112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you care 2 — lost in the middle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3566160"/>
            <a:ext cx="4855464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5D6B7E"/>
                </a:solidFill>
                <a:latin typeface="Calibri"/>
              </a:rPr>
              <a:t>Models attend best to the start and end of long context. Put key facts up front.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4553712"/>
            <a:ext cx="523951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4553712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0256" y="4700016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Why you care 3 — it fills 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0256" y="5084064"/>
            <a:ext cx="4855464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 i="0">
                <a:solidFill>
                  <a:srgbClr val="5D6B7E"/>
                </a:solidFill>
                <a:latin typeface="Calibri"/>
              </a:rPr>
              <a:t>A quarter's worth of policy documents won't fit. That problem is exactly what RAG solves (2 slides away).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B · WORKING WITH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Memory — how AI systems remember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99616"/>
            <a:ext cx="54406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99616"/>
            <a:ext cx="64008" cy="16002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4592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Short-term memory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= the context window itself. Lives only inside this conversation. Close the chat, it's gone.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99632" y="1499616"/>
            <a:ext cx="54406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1499616"/>
            <a:ext cx="64008" cy="1600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64592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Long-term memory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100" b="0" i="0">
                <a:solidFill>
                  <a:srgbClr val="5D6B7E"/>
                </a:solidFill>
                <a:latin typeface="Calibri"/>
              </a:rPr>
              <a:t>= facts written to an external store (database / notes) and re-inserted into context when relevant. This is engineered, not innate.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55264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80">
                <a:solidFill>
                  <a:srgbClr val="5D6B7E"/>
                </a:solidFill>
                <a:latin typeface="Calibri"/>
              </a:rPr>
              <a:t>WHAT GETS STORED — THREE TYPES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9584"/>
            <a:ext cx="3611880" cy="1481328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657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Episodic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· What happened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050" b="0" i="1">
                <a:solidFill>
                  <a:srgbClr val="1B2A41"/>
                </a:solidFill>
                <a:latin typeface="Calibri"/>
              </a:rPr>
              <a:t>“On 12 Mar the client rejected the small-cap tilt.”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3529584"/>
            <a:ext cx="3611880" cy="1481328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35424" y="3657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Semantic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· Facts &amp; preferences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050" b="0" i="1">
                <a:solidFill>
                  <a:srgbClr val="1B2A41"/>
                </a:solidFill>
                <a:latin typeface="Calibri"/>
              </a:rPr>
              <a:t>“Client is NRI; conservative; no tobacco stocks.”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3529584"/>
            <a:ext cx="3611880" cy="1481328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2752" y="3657600"/>
            <a:ext cx="3200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Procedural  </a:t>
            </a:r>
            <a:r>
              <a:rPr sz="1050" b="0" i="0">
                <a:solidFill>
                  <a:srgbClr val="5D6B7E"/>
                </a:solidFill>
                <a:latin typeface="Calibri"/>
              </a:rPr>
              <a:t>· How to do things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050" b="0" i="1">
                <a:solidFill>
                  <a:srgbClr val="1B2A41"/>
                </a:solidFill>
                <a:latin typeface="Calibri"/>
              </a:rPr>
              <a:t>“Always produce reviews in the firm's IPS format.”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30368"/>
            <a:ext cx="11094415" cy="804672"/>
          </a:xfrm>
          <a:prstGeom prst="roundRect">
            <a:avLst>
              <a:gd name="adj" fmla="val 9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5230368"/>
            <a:ext cx="10545775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9A227"/>
                </a:solidFill>
                <a:latin typeface="Calibri"/>
              </a:rPr>
              <a:t>Wealth-management use case: 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an advisory copilot that remembers every client's risk profile, past objections and tax situation across months of conversations — and drafts the next review accordingly.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Hallucination — fluent, confident, wrong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5486400" cy="2286000"/>
          </a:xfrm>
          <a:prstGeom prst="roundRect">
            <a:avLst>
              <a:gd name="adj" fmla="val 7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517904"/>
            <a:ext cx="50292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A63D40"/>
                </a:solidFill>
                <a:latin typeface="Georgia"/>
              </a:rPr>
              <a:t>Definition</a:t>
            </a:r>
          </a:p>
          <a:p>
            <a:pPr algn="l">
              <a:lnSpc>
                <a:spcPct val="128000"/>
              </a:lnSpc>
              <a:spcBef>
                <a:spcPts val="7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The model produces content that is plausible-sounding but false or unsupported — invented numbers, fake citations, misread facts.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150" b="1" i="0">
                <a:solidFill>
                  <a:srgbClr val="A63D40"/>
                </a:solidFill>
                <a:latin typeface="Calibri"/>
              </a:rPr>
              <a:t>It is not lying. It is doing its job — predicting likely words — when the truth isn't in its context.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77639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3977639"/>
            <a:ext cx="5029200" cy="2057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A real desk example</a:t>
            </a:r>
          </a:p>
          <a:p>
            <a:pPr algn="l">
              <a:spcBef>
                <a:spcPts val="600"/>
              </a:spcBef>
            </a:pPr>
            <a:r>
              <a:rPr sz="1150" b="0" i="1">
                <a:solidFill>
                  <a:srgbClr val="1B2A41"/>
                </a:solidFill>
                <a:latin typeface="Calibri"/>
              </a:rPr>
              <a:t>“What was Infosys' FY24 attrition rate?”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150" b="0" i="0">
                <a:solidFill>
                  <a:srgbClr val="5D6B7E"/>
                </a:solidFill>
                <a:latin typeface="Calibri"/>
              </a:rPr>
              <a:t>Without the report in context, a model may answer “14.6% (Annual Report, p. 83)” — number and page both invented, formatted perfectly.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517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517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0256" y="1664207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Trained to continue, not 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0256" y="2048255"/>
            <a:ext cx="485546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Its objective is plausibility. There is no built-in fact-checker.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660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60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2807208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Gaps get papered over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0256" y="3191256"/>
            <a:ext cx="4855464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If data is missing or after its knowledge cut-off, it fills the gap smoothly.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3803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803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3950208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Your prompt can push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0256" y="4334256"/>
            <a:ext cx="4855464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Leading questions (“confirm that…”) invite agreeable fiction.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946904"/>
            <a:ext cx="5239512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946904"/>
            <a:ext cx="64008" cy="102412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0256" y="5093208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Confidence ≠ accuracy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0256" y="5477256"/>
            <a:ext cx="4855464" cy="420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Tone stays equally assured whether it's right or wrong — that's the danger.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Know your hallucinations — five 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99616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99616"/>
            <a:ext cx="64008" cy="804672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581912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1 · Factual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1581912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States wrong real-world facts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581912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“SEBI caps mutual-fund expense ratios at 3.5%” — outdated / wrong.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77439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77439"/>
            <a:ext cx="64008" cy="804672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59735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2 · Faithfulness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459735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Contradicts the document you gave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459735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Summary says margin “expanded”; the 10-K says it contracted.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55263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55263"/>
            <a:ext cx="64008" cy="804672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337559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3 · Fabricated 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3337559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Invents citations, cases, papers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337559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Cites “RBI Circular 2023/114” — no such circular exists.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133087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133087"/>
            <a:ext cx="64008" cy="804672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215383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4 · Numeric / reasoning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4215383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Right facts, wrong arithmetic or logic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79" y="4215383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Adds segment revenues incorrectly; flips a sign in a DCF.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10912"/>
            <a:ext cx="11094415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010912"/>
            <a:ext cx="64008" cy="80467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5093207"/>
            <a:ext cx="30632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5 · Context confusion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7639" y="5093207"/>
            <a:ext cx="35661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Mixes entities, periods or currencies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5093207"/>
            <a:ext cx="3840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Blends FY23 and FY24 figures; confuses Tata Motors with Tata Steel.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907023"/>
            <a:ext cx="11094415" cy="566928"/>
          </a:xfrm>
          <a:prstGeom prst="roundRect">
            <a:avLst>
              <a:gd name="adj" fmla="val 14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" y="5907023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A63D40"/>
                </a:solidFill>
                <a:latin typeface="Calibri"/>
              </a:rPr>
              <a:t>In finance the stakes compound: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 hallucinated covenant, NAV or reg citation can move money and trigger liability. Treat every unsourced number as unverified.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Taming hallucinations — the practical toolkit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Ground it (RAG)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51023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Give the model the actual documents and instruct: answer only from these. The single biggest fix — next slide.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536192"/>
            <a:ext cx="64008" cy="13716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Demand citations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6" y="2066543"/>
            <a:ext cx="51023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“Cite page and section for every figure.” Fabricated cites become easy to catch.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17520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017520"/>
            <a:ext cx="64008" cy="137160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1638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Allow “I don't know”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547872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Explicitly permit it to say data is missing. Removes the pressure to invent.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017520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3017520"/>
            <a:ext cx="64008" cy="13716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31638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Lower the temperature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3547872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A sampling dial: lower = more conservative, repeatable answers for factual 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98848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498848"/>
            <a:ext cx="64008" cy="137160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451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Verify high-stakes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29200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Human-in-the-loop for anything that faces a client, regulator or trade.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498848"/>
            <a:ext cx="54864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4498848"/>
            <a:ext cx="64008" cy="1371600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1656" y="4645152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Evaluate continuously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5029200"/>
            <a:ext cx="5102352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Banks run automated “exam papers” (evals) against known answers before deployment.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9436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Desk rule: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AI drafts, humans sign. The accountability never transfers to the model.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RAG — Retrieval-Augmented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Calibri"/>
              </a:rPr>
              <a:t>Open-book exam instead of memory test: </a:t>
            </a:r>
            <a:r>
              <a:rPr sz="1250" b="0" i="0">
                <a:solidFill>
                  <a:srgbClr val="1B2A41"/>
                </a:solidFill>
                <a:latin typeface="Calibri"/>
              </a:rPr>
              <a:t>fetch the right pages from your library, hand them to the model, and let it answer from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56816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STEP 1 · INDEX YOUR LIBRARY (DONE ONCE)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9424"/>
            <a:ext cx="3017520" cy="96012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249424"/>
            <a:ext cx="287121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Your documents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10-Ks · policies · research · contracts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75887" y="260604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60520" y="2249424"/>
            <a:ext cx="3017520" cy="96012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33672" y="2249424"/>
            <a:ext cx="287121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Chunk &amp; embed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split into passages → convert to number-vectors that capture meaning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287768" y="260604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0" y="2249424"/>
            <a:ext cx="3017520" cy="96012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45552" y="2249424"/>
            <a:ext cx="287121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Vector database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a searchable index of meaning, not keywords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9584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STEP 2 · ANSWER A QUESTION (EVERY QUERY)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822191"/>
            <a:ext cx="2606040" cy="96012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822191"/>
            <a:ext cx="245973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8F7113"/>
                </a:solidFill>
                <a:latin typeface="Calibri"/>
              </a:rPr>
              <a:t>Question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“What are our Basel III disclosure gaps?”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264408" y="4178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49039" y="3822191"/>
            <a:ext cx="2651760" cy="96012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2191" y="3822191"/>
            <a:ext cx="250545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Retrieve top passages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the 5–10 most relevant chunks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510527" y="4178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95159" y="3822191"/>
            <a:ext cx="2377440" cy="96012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68312" y="3822191"/>
            <a:ext cx="223113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 + passages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question and evidence go in together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482328" y="4178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966960" y="3822191"/>
            <a:ext cx="1691640" cy="96012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40112" y="3822191"/>
            <a:ext cx="1545336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Cited answer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with page refs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138928"/>
            <a:ext cx="11094415" cy="896112"/>
          </a:xfrm>
          <a:prstGeom prst="roundRect">
            <a:avLst>
              <a:gd name="adj" fmla="val 9000"/>
            </a:avLst>
          </a:prstGeom>
          <a:solidFill>
            <a:srgbClr val="E6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138928"/>
            <a:ext cx="1058235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F7D5B"/>
                </a:solidFill>
                <a:latin typeface="Calibri"/>
              </a:rPr>
              <a:t>Why banks love it:  </a:t>
            </a:r>
            <a:r>
              <a:rPr sz="1200" b="0" i="0">
                <a:solidFill>
                  <a:srgbClr val="1B2A41"/>
                </a:solidFill>
                <a:latin typeface="Calibri"/>
              </a:rPr>
              <a:t>answers come from approved internal documents (auditable), stay current without retraining the model, and hallucination drops sharply because the evidence is in the prompt.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RAG on the desks — where it's already deployed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2084831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719072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Wealth advisory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Morgan Stanley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GPT-4 over 100,000+ internal research and compliance documents. Advisors get vetted answers in seconds instead of searching portals.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536192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64008" cy="2084831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1719072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Policy &amp; KYC ops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Universal banks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“Can an NRI open this account with these documents?” — answered from the bank's own policy manual, with clause citations.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39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49039"/>
            <a:ext cx="64008" cy="2084831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393192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Equity research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Buy &amp; sell side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Ask questions across 10 years of annual reports and call transcripts: “Every mention of pricing pressure since FY19, with sources.”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49039"/>
            <a:ext cx="5486400" cy="2084831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49039"/>
            <a:ext cx="64008" cy="2084831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393192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F2145"/>
                </a:solidFill>
                <a:latin typeface="Georgia"/>
              </a:rPr>
              <a:t>Regulatory &amp; risk</a:t>
            </a:r>
            <a:r>
              <a:rPr sz="1100" b="0" i="1">
                <a:solidFill>
                  <a:srgbClr val="8F7113"/>
                </a:solidFill>
                <a:latin typeface="Calibri"/>
              </a:rPr>
              <a:t>   · Basel / RBI compliance</a:t>
            </a:r>
          </a:p>
          <a:p>
            <a:pPr algn="l">
              <a:lnSpc>
                <a:spcPct val="132000"/>
              </a:lnSpc>
              <a:spcBef>
                <a:spcPts val="900"/>
              </a:spcBef>
            </a:pPr>
            <a:r>
              <a:rPr sz="1200" b="0" i="0">
                <a:solidFill>
                  <a:srgbClr val="5D6B7E"/>
                </a:solidFill>
                <a:latin typeface="Calibri"/>
              </a:rPr>
              <a:t>RAG over Basel IV texts, RBI master directions and internal capital policy — drafts gap analyses your Build 4 will replicate today.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C ·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Prompting vs RAG vs fine-tuning — which lever when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72768"/>
          <a:ext cx="11109960" cy="2852928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194560"/>
                <a:gridCol w="2971800"/>
                <a:gridCol w="2971800"/>
                <a:gridCol w="29718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Prompting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What you change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The instructions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The knowledge it sees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The model's weights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Style, format, one-off tasks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Company documents, current facts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Deep domain tone &amp; jargon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Effort / cost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Minutes · free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Days · moderate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Weeks · expensive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Data freshness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Whatever you paste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Always current — re-index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Frozen at training time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Finance example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“Draft in our IC-memo style”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Q&amp;A over policy manuals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A bank-specific credit-note writer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718304"/>
            <a:ext cx="11094415" cy="566928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4718304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Calibri"/>
              </a:rPr>
              <a:t>Rule of thumb: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start with prompting → add RAG when it needs your documents → fine-tune only if the first two genuinely fall short. Most bank use cases stop at RAG.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D6B7E"/>
                </a:solidFill>
                <a:latin typeface="Calibri"/>
              </a:rPr>
              <a:t>☕  10-minute break — back at 11:55 for Agents &amp; Agentic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From chatbot to agent — answering vs doing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the brain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9504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62656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Tools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hands — APIs, code,
search, spreadsheets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28032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30368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Memory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notebook — state
across steps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8896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71232" y="1783080"/>
            <a:ext cx="1883664" cy="11430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44384" y="1783080"/>
            <a:ext cx="1737360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Planning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the to-do list —
decide, act,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011680"/>
            <a:ext cx="38404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600" b="1" i="0">
                <a:solidFill>
                  <a:srgbClr val="5D6B7E"/>
                </a:solidFill>
                <a:latin typeface="Calibri"/>
              </a:rPr>
              <a:t>=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12096" y="1783080"/>
            <a:ext cx="2011680" cy="1143000"/>
          </a:xfrm>
          <a:prstGeom prst="roundRect">
            <a:avLst>
              <a:gd name="adj" fmla="val 1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85248" y="1783080"/>
            <a:ext cx="1865376" cy="1143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AGENT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C4A0E"/>
                </a:solidFill>
                <a:latin typeface="Calibri"/>
              </a:rPr>
              <a:t>works toward a goal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48640" y="3310128"/>
          <a:ext cx="11064240" cy="2560320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Chatbot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You ask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“What is Infosys' P/E?”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“Review my portfolio and flag concentration risks.”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It does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Answers from context in one shot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Fetches prices → computes weights → checks limits → drafts memo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Steps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One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Many — it decides the sequence itself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2145"/>
                          </a:solidFill>
                          <a:latin typeface="Calibri"/>
                        </a:rPr>
                        <a:t>Trust needed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Verify the answer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B2A41"/>
                          </a:solidFill>
                          <a:latin typeface="Calibri"/>
                        </a:rPr>
                        <a:t>Verify the actions — permissions matter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Anatomy of an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0" y="2743200"/>
            <a:ext cx="3200400" cy="13716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53712" y="2743200"/>
            <a:ext cx="3054096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LLM CORE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reasons, plans, decides the next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481328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53712" y="1481328"/>
            <a:ext cx="305409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8F7113"/>
                </a:solidFill>
                <a:latin typeface="Calibri"/>
              </a:rPr>
              <a:t>Goal from user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“Prepare the monthly portfolio review”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61888" y="2286000"/>
            <a:ext cx="219456" cy="42062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3017520" cy="137160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1" y="2743200"/>
            <a:ext cx="287121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Memory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conversation state · client facts · past runs</a:t>
            </a:r>
          </a:p>
        </p:txBody>
      </p:sp>
      <p:sp>
        <p:nvSpPr>
          <p:cNvPr id="12" name="Left-Right Arrow 11"/>
          <p:cNvSpPr/>
          <p:nvPr/>
        </p:nvSpPr>
        <p:spPr>
          <a:xfrm>
            <a:off x="3712463" y="3310128"/>
            <a:ext cx="713232" cy="237744"/>
          </a:xfrm>
          <a:prstGeom prst="left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03920" y="2743200"/>
            <a:ext cx="3017520" cy="137160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2743200"/>
            <a:ext cx="2871215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Tools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market-data API · Python · database · email</a:t>
            </a:r>
          </a:p>
        </p:txBody>
      </p:sp>
      <p:sp>
        <p:nvSpPr>
          <p:cNvPr id="15" name="Left-Right Arrow 14"/>
          <p:cNvSpPr/>
          <p:nvPr/>
        </p:nvSpPr>
        <p:spPr>
          <a:xfrm>
            <a:off x="7735824" y="3310128"/>
            <a:ext cx="713232" cy="237744"/>
          </a:xfrm>
          <a:prstGeom prst="left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wn Arrow 15"/>
          <p:cNvSpPr/>
          <p:nvPr/>
        </p:nvSpPr>
        <p:spPr>
          <a:xfrm>
            <a:off x="5961888" y="4169663"/>
            <a:ext cx="219456" cy="420624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4645152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4645152"/>
            <a:ext cx="305409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Act → observe → repeat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loops until the goal is met, then reports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15968"/>
            <a:ext cx="3017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Without memory it repeats questions and forgets constraints.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315968"/>
            <a:ext cx="30175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1">
                <a:solidFill>
                  <a:srgbClr val="5D6B7E"/>
                </a:solidFill>
                <a:latin typeface="Calibri"/>
              </a:rPr>
              <a:t>Without tools it can only talk. Tools are where work happens — and where permissions live.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742432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574243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One sentence: </a:t>
            </a:r>
            <a:r>
              <a:rPr sz="1150" b="0" i="1">
                <a:solidFill>
                  <a:srgbClr val="1B2A41"/>
                </a:solidFill>
                <a:latin typeface="Calibri"/>
              </a:rPr>
              <a:t>an agent is an LLM in a loop, with tools, memory and a goal.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Tool use — how an LLM presses buttons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71907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55448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1636776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Calibri"/>
              </a:rPr>
              <a:t>You ask   </a:t>
            </a:r>
            <a:r>
              <a:rPr sz="1150" b="0" i="0">
                <a:solidFill>
                  <a:srgbClr val="5D6B7E"/>
                </a:solidFill>
                <a:latin typeface="Calibri"/>
              </a:rPr>
              <a:t>“What's HDFC Bank's price move today, and should I worry about my exposure?”</a:t>
            </a:r>
          </a:p>
        </p:txBody>
      </p:sp>
      <p:sp>
        <p:nvSpPr>
          <p:cNvPr id="9" name="Down Arrow 8"/>
          <p:cNvSpPr/>
          <p:nvPr/>
        </p:nvSpPr>
        <p:spPr>
          <a:xfrm>
            <a:off x="731520" y="2267712"/>
            <a:ext cx="128016" cy="274320"/>
          </a:xfrm>
          <a:prstGeom prst="downArrow">
            <a:avLst/>
          </a:prstGeom>
          <a:solidFill>
            <a:srgbClr val="D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8640" y="272491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249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256032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08760" y="2642615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Model chooses a tool   </a:t>
            </a:r>
            <a:r>
              <a:rPr sz="1150" b="0" i="0">
                <a:solidFill>
                  <a:srgbClr val="C9D6EE"/>
                </a:solidFill>
                <a:latin typeface="Calibri"/>
              </a:rPr>
              <a:t>It can't know live prices — so it emits a structured call:  get_price(“HDFCBANK”)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731520" y="3273552"/>
            <a:ext cx="128016" cy="274320"/>
          </a:xfrm>
          <a:prstGeom prst="downArrow">
            <a:avLst/>
          </a:prstGeom>
          <a:solidFill>
            <a:srgbClr val="D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48640" y="373075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7307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356616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3648456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Your system runs it   </a:t>
            </a:r>
            <a:r>
              <a:rPr sz="1150" b="0" i="0">
                <a:solidFill>
                  <a:srgbClr val="5D6B7E"/>
                </a:solidFill>
                <a:latin typeface="Calibri"/>
              </a:rPr>
              <a:t>The API executes and returns data: ₹1,642 · −3.1% today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731520" y="4279392"/>
            <a:ext cx="128016" cy="274320"/>
          </a:xfrm>
          <a:prstGeom prst="downArrow">
            <a:avLst/>
          </a:prstGeom>
          <a:solidFill>
            <a:srgbClr val="D9D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48640" y="4736592"/>
            <a:ext cx="475488" cy="475488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73659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F2145"/>
                </a:solidFill>
                <a:latin typeface="Calibri"/>
              </a:rP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4572000"/>
            <a:ext cx="10378440" cy="841248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8760" y="4654296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Model answers with real data   </a:t>
            </a:r>
            <a:r>
              <a:rPr sz="1150" b="0" i="0">
                <a:solidFill>
                  <a:srgbClr val="C9D6EE"/>
                </a:solidFill>
                <a:latin typeface="Calibri"/>
              </a:rPr>
              <a:t>“Down 3.1%. Your 18% position breaches the 15% concentration limit — consider trimming.”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69280"/>
            <a:ext cx="11094415" cy="566928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5669280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Calibri"/>
              </a:rPr>
              <a:t>The model never touches the market.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It requests; your code executes under your permissions. This boundary is where all enterprise-AI governance lives.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Agent types — the classic ladder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45336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1 · Simple reflex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IF condition THEN act. No memory of the world.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627632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Price alert: “if NIFTY drops 2%, SMS me.”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368296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432303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2 · Model-based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Keeps an internal picture of the world's 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514600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Portfolio tracker that knows holdings &amp; cash in real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19" y="3255263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BFD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5" y="3319271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3 · Goal-based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Plans a sequence of actions to hit a target.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3401568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Rebalancer: “get me to 60/40 with minimum trades.”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08760" y="4142231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A6B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28216" y="4206240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4 · Utility-based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D6B7E"/>
                </a:solidFill>
                <a:latin typeface="Calibri"/>
              </a:rPr>
              <a:t>Weighs trade-offs; maximises a score, not just a goal.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288536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Execution agent balancing speed vs market impact vs cost.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5029199"/>
            <a:ext cx="4846320" cy="804672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48256" y="5093207"/>
            <a:ext cx="44805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5 · Learning   </a:t>
            </a:r>
          </a:p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C9D6EE"/>
                </a:solidFill>
                <a:latin typeface="Calibri"/>
              </a:rPr>
              <a:t>Improves its own policy from feedback over time.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175503"/>
            <a:ext cx="46634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D6B7E"/>
                </a:solidFill>
                <a:latin typeface="Calibri"/>
              </a:rPr>
              <a:t>RL market-maker adjusting quotes from filled-order outcomes.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1261872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5D6B7E"/>
                </a:solidFill>
                <a:latin typeface="Calibri"/>
              </a:rPr>
              <a:t>FINANCE EXAMPLE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97880"/>
            <a:ext cx="11094415" cy="475488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5897880"/>
            <a:ext cx="1063721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Climbing the ladder = more autonomy.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LLM agents typically operate at goal/utility level — and add language as their interface.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Agentic AI — the ReAct loop and the autonomy dial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26464"/>
            <a:ext cx="5394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THE ReAct LOOP — REASON, ACT, OBSERVE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83080"/>
            <a:ext cx="1545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REASON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“I need FY25 debt figures first”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331720" y="212140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761488" y="178308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1783080"/>
            <a:ext cx="1545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ACT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call tool: fetch balance sheet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44568" y="212140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974336" y="178308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7488" y="1783080"/>
            <a:ext cx="1545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OBSERVE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“debt ₹1.2 lakh cr — now check maturity”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9864" y="2697480"/>
            <a:ext cx="45720" cy="4572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71600" y="3108960"/>
            <a:ext cx="4443984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p Arrow 15"/>
          <p:cNvSpPr/>
          <p:nvPr/>
        </p:nvSpPr>
        <p:spPr>
          <a:xfrm>
            <a:off x="1271016" y="2788920"/>
            <a:ext cx="237744" cy="365760"/>
          </a:xfrm>
          <a:prstGeom prst="up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3255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8F7113"/>
                </a:solidFill>
                <a:latin typeface="Calibri"/>
              </a:rPr>
              <a:t>repeat until the goal is done — then stop and report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931920"/>
            <a:ext cx="612648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096512"/>
            <a:ext cx="5760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makes AI “agentic”</a:t>
            </a:r>
          </a:p>
          <a:p>
            <a:pPr algn="l">
              <a:spcBef>
                <a:spcPts val="7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Autonomy — takes multiple steps without being re-prompted each time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Decomposition — breaks “review the portfolio” into sub-tasks itself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Reflection — checks its own output and retries when it finds errors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Persistence — carries state and memory across the whole task</a:t>
            </a:r>
          </a:p>
          <a:p>
            <a:pPr algn="l">
              <a:spcBef>
                <a:spcPts val="400"/>
              </a:spcBef>
            </a:pPr>
            <a:r>
              <a:rPr sz="10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1B2A41"/>
                </a:solidFill>
                <a:latin typeface="Calibri"/>
              </a:rPr>
              <a:t>Bounded — permissions and human sign-off still apply at the edges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142646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200">
                <a:solidFill>
                  <a:srgbClr val="5D6B7E"/>
                </a:solidFill>
                <a:latin typeface="Calibri"/>
              </a:rPr>
              <a:t>THE AUTONOMY DIAL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783080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78624" y="1874519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Chatbot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answers questions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40880" y="2862072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BFD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78624" y="2953512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Copilot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drafts, you approve each step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3941063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78624" y="4032503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Agent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completes tasks, you review output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5020055"/>
            <a:ext cx="4572000" cy="932688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78624" y="5111495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Multi-agent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teams of agents run workflows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Loops — the engine, and the brakes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80644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133502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45919"/>
            <a:ext cx="544068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Reflection loop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Draft → critique own work → improve → repeat. The agent is its own first reviewer.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A memo agent re-reads its draft, catches an uncited number, fixes it before you ever see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99232"/>
            <a:ext cx="580644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999232"/>
            <a:ext cx="64008" cy="133502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3108960"/>
            <a:ext cx="544068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Plan–execute–review loop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Make a plan → run a step → check reality → re-plan if the world changed.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Mid-task, the data vendor is down — the agent switches to the backup source and continues.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462272"/>
            <a:ext cx="580644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462272"/>
            <a:ext cx="64008" cy="1335024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572000"/>
            <a:ext cx="544068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Human-in-the-loop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The loop pauses at defined checkpoints and waits for a person to approve.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</a:pPr>
            <a:r>
              <a:rPr sz="950" b="0" i="1">
                <a:solidFill>
                  <a:srgbClr val="5D6B7E"/>
                </a:solidFill>
                <a:latin typeface="Calibri"/>
              </a:rPr>
              <a:t>The rebalancing agent computes trades, then stops: nothing executes until the PM clicks approve.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1536192"/>
            <a:ext cx="4983480" cy="2743200"/>
          </a:xfrm>
          <a:prstGeom prst="roundRect">
            <a:avLst>
              <a:gd name="adj" fmla="val 6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85432" y="1719072"/>
            <a:ext cx="452628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40">
                <a:solidFill>
                  <a:srgbClr val="C9A227"/>
                </a:solidFill>
                <a:latin typeface="Calibri"/>
              </a:rPr>
              <a:t>THE BRAKES — EVERY LOOP NEEDS A STOP RULE</a:t>
            </a:r>
          </a:p>
          <a:p>
            <a:pPr algn="l">
              <a:spcBef>
                <a:spcPts val="10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Max iterations — “try at most 5 times”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Budget cap — stop at a token / cost / time limit</a:t>
            </a:r>
          </a:p>
          <a:p>
            <a:pPr algn="l">
              <a:spcBef>
                <a:spcPts val="5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Confidence gate — unsure? stop and ask, don't guess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1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Escalation — hand unresolved cases to a human, with a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9400" y="4434840"/>
            <a:ext cx="4983480" cy="1600200"/>
          </a:xfrm>
          <a:prstGeom prst="roundRect">
            <a:avLst>
              <a:gd name="adj" fmla="val 6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2" y="4434840"/>
            <a:ext cx="4526280" cy="160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Georgia"/>
              </a:rPr>
              <a:t>Desk example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1050" b="0" i="0">
                <a:solidFill>
                  <a:srgbClr val="1B2A41"/>
                </a:solidFill>
                <a:latin typeface="Calibri"/>
              </a:rPr>
              <a:t>A reconciliation agent retries unmatched trades up to 5 times with different matching rules — then escalates the stubborn breaks to ops with a note on what it tried. It never loops forever.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97880"/>
            <a:ext cx="11094415" cy="475488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5897880"/>
            <a:ext cx="1063721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An unbounded loop is an unbounded bill.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In finance, the stop rules are as important as the loop itself.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Multi-agent systems — a deal team of 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PATTERN · PLANNER — EXECUTOR — CRITIC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2286000" cy="105156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783080"/>
            <a:ext cx="213969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PLANNER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splits “value this target” into steps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44368" y="219456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286000" cy="105156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02152" y="1783080"/>
            <a:ext cx="213969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EXECUTOR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runs each step with tools: data, DCF, comps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24727" y="2194560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59" y="1783080"/>
            <a:ext cx="2286000" cy="1051560"/>
          </a:xfrm>
          <a:prstGeom prst="roundRect">
            <a:avLst>
              <a:gd name="adj" fmla="val 10000"/>
            </a:avLst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1783080"/>
            <a:ext cx="213969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CRITIC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F5ECD3"/>
                </a:solidFill>
                <a:latin typeface="Calibri"/>
              </a:rPr>
              <a:t>audits output: “re-check WACC — beta looks stale”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24927" y="2834640"/>
            <a:ext cx="45720" cy="38404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64207" y="3172968"/>
            <a:ext cx="580644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Up Arrow 15"/>
          <p:cNvSpPr/>
          <p:nvPr/>
        </p:nvSpPr>
        <p:spPr>
          <a:xfrm>
            <a:off x="1572768" y="2907792"/>
            <a:ext cx="237744" cy="310896"/>
          </a:xfrm>
          <a:prstGeom prst="up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3310128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0" i="1">
                <a:solidFill>
                  <a:srgbClr val="8F7113"/>
                </a:solidFill>
                <a:latin typeface="Calibri"/>
              </a:rPr>
              <a:t>critic sends work back until it passes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783080"/>
            <a:ext cx="2743200" cy="1737360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25712" y="1920240"/>
            <a:ext cx="2377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Georgia"/>
              </a:rPr>
              <a:t>Why split roles?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Same reason banks do: focus, checks and balances, auditability.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950208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PATTERN · SPECIALIST TEAM — IC MEMO IN AN AFTERNOON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494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Research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screens filings, news, transcripts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892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8892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3522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Valuation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builds DCF and comps tables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7550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Risk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stress-tests, checks limits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6948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6948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15783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Compliance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flags restricted names, MNPI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760" y="4279392"/>
            <a:ext cx="2112264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9760" y="4279392"/>
            <a:ext cx="2112264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56064" y="443484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Writer 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900" b="0" i="0">
                <a:solidFill>
                  <a:srgbClr val="5D6B7E"/>
                </a:solidFill>
                <a:latin typeface="Calibri"/>
              </a:rPr>
              <a:t>assembles the IC memo, cited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580644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8F7113"/>
                </a:solidFill>
                <a:latin typeface="Calibri"/>
              </a:rPr>
              <a:t>Agentic design patterns to remember: </a:t>
            </a:r>
            <a:r>
              <a:rPr sz="1100" b="0" i="0">
                <a:solidFill>
                  <a:srgbClr val="1B2A41"/>
                </a:solidFill>
                <a:latin typeface="Calibri"/>
              </a:rPr>
              <a:t>reflection · tool use · planning · multi-agent collaboration.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D ·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Skills — handing the agent your desk manual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26464"/>
            <a:ext cx="11094415" cy="777240"/>
          </a:xfrm>
          <a:prstGeom prst="roundRect">
            <a:avLst>
              <a:gd name="adj" fmla="val 9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26464"/>
            <a:ext cx="10582351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8F7113"/>
                </a:solidFill>
                <a:latin typeface="Calibri"/>
              </a:rPr>
              <a:t>A skill = a packaged playbook </a:t>
            </a:r>
            <a:r>
              <a:rPr sz="1250" b="0" i="0">
                <a:solidFill>
                  <a:srgbClr val="1B2A41"/>
                </a:solidFill>
                <a:latin typeface="Calibri"/>
              </a:rPr>
              <a:t>— instructions, house templates, worked examples and quality checks — that the agent loads only when a task calls for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95728"/>
            <a:ext cx="5486400" cy="1188720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2395728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2145"/>
                </a:solidFill>
                <a:latin typeface="Calibri"/>
              </a:rPr>
              <a:t>Tools = what it CAN do.  </a:t>
            </a:r>
            <a:r>
              <a:rPr sz="1100" b="0" i="0">
                <a:solidFill>
                  <a:srgbClr val="5D6B7E"/>
                </a:solidFill>
                <a:latin typeface="Calibri"/>
              </a:rPr>
              <a:t>Fetch a price, run Python, query a database.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395728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2395728"/>
            <a:ext cx="4983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0F2145"/>
                </a:solidFill>
                <a:latin typeface="Calibri"/>
              </a:rPr>
              <a:t>Skills = HOW your firm does it.  </a:t>
            </a:r>
            <a:r>
              <a:rPr sz="1100" b="0" i="0">
                <a:solidFill>
                  <a:srgbClr val="5D6B7E"/>
                </a:solidFill>
                <a:latin typeface="Calibri"/>
              </a:rPr>
              <a:t>The house way to write a credit note, section by section.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67328"/>
            <a:ext cx="361188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67328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968496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IC-memo skill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House format, section order, the tone the committee expects, two gold-standard past memos as examples.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5968" y="3767328"/>
            <a:ext cx="361188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3767328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3968496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Basel-disclosure skill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Reg templates, required tables, standard citations, a checklist the output must pass.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3767328"/>
            <a:ext cx="361188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83296" y="3767328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3968496"/>
            <a:ext cx="320040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Client-review skill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IPS structure, compliance-approved phrases, the firm's rules on performance claims.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77840"/>
            <a:ext cx="11094415" cy="6858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5577840"/>
            <a:ext cx="10582351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C9A227"/>
                </a:solidFill>
                <a:latin typeface="Calibri"/>
              </a:rPr>
              <a:t>Think onboarding: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tools give the new analyst a Bloomberg login; skills hand them the desk manual. Same agent + better skills = your firm's judgement at scale.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LangChain — the Lego kit for LLM apps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B2A41"/>
                </a:solidFill>
                <a:latin typeface="Calibri"/>
              </a:rPr>
              <a:t>An open-source framework of pre-built blocks, so developers don't rebuild prompts, retrieval, memory and tool-wiring from scratch every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920240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29968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Models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plug in GPT, Claude, Gemini interchangeably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1920240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920240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029968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Prompts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reusable templates with variables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83296" y="1920240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1920240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4464" y="2029968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Retrievers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RAG machinery, ready-made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62656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962656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07238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Tools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search, code, APIs, databases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5968" y="2962656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962656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7136" y="307238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Memory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conversation &amp; entity memory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83296" y="2962656"/>
            <a:ext cx="3611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83296" y="2962656"/>
            <a:ext cx="64008" cy="91440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4" y="3072384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Calibri"/>
              </a:rPr>
              <a:t>Chains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glue steps into a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20624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160">
                <a:solidFill>
                  <a:srgbClr val="5D6B7E"/>
                </a:solidFill>
                <a:latin typeface="Calibri"/>
              </a:rPr>
              <a:t>A MINIMAL CHAIN — EARNINGS SUMMARISER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526280"/>
            <a:ext cx="2286000" cy="86868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4526280"/>
            <a:ext cx="213969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Load transcript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concall PDF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944368" y="4837176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401568" y="4526280"/>
            <a:ext cx="2286000" cy="86868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0" y="4526280"/>
            <a:ext cx="213969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Prompt template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“summarise guidance changes…”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797296" y="4837176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54496" y="452628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27648" y="4526280"/>
            <a:ext cx="186537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Claude / GPT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8375904" y="4837176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833104" y="4526280"/>
            <a:ext cx="2788920" cy="86868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06256" y="4526280"/>
            <a:ext cx="264261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Parser → output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C9D6EE"/>
                </a:solidFill>
                <a:latin typeface="Calibri"/>
              </a:rPr>
              <a:t>clean table for your dashboard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742432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5742432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MBA takeaway: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chains are fixed pipelines — great when the steps are known in advance. When the AI must decide the path, you need a graph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LangGraph — when workflows need loops and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B2A41"/>
                </a:solidFill>
                <a:latin typeface="Calibri"/>
              </a:rPr>
              <a:t>From the LangChain team: model your agent as a graph — boxes are steps, arrows are routes, and the system can branch, loop and pause for human approval.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148840"/>
            <a:ext cx="168249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0F2145"/>
                </a:solidFill>
                <a:latin typeface="Calibri"/>
              </a:rPr>
              <a:t>Application 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468880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80360" y="2148840"/>
            <a:ext cx="1828800" cy="82296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3512" y="2148840"/>
            <a:ext cx="168249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Extract financials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0600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iamond 11"/>
          <p:cNvSpPr/>
          <p:nvPr/>
        </p:nvSpPr>
        <p:spPr>
          <a:xfrm>
            <a:off x="5257800" y="1984248"/>
            <a:ext cx="1554480" cy="1188720"/>
          </a:xfrm>
          <a:prstGeom prst="diamond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2258568"/>
            <a:ext cx="1463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0F2145"/>
                </a:solidFill>
                <a:latin typeface="Calibri"/>
              </a:rPr>
              <a:t>Credit score ≥ cut-off?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03720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33488" y="2148840"/>
            <a:ext cx="1965960" cy="82296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181965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Draft sanction letter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390888" y="2441448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02367" y="2148840"/>
            <a:ext cx="1920240" cy="82296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19" y="2148840"/>
            <a:ext cx="1773936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Human approves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pause for sign-off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167128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F7D5B"/>
                </a:solidFill>
                <a:latin typeface="Calibri"/>
              </a:rPr>
              <a:t>yes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5943600" y="3209544"/>
            <a:ext cx="201168" cy="365760"/>
          </a:xfrm>
          <a:prstGeom prst="downArrow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24612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A63D40"/>
                </a:solidFill>
                <a:latin typeface="Calibri"/>
              </a:rPr>
              <a:t>no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0" y="3666744"/>
            <a:ext cx="2011680" cy="777240"/>
          </a:xfrm>
          <a:prstGeom prst="roundRect">
            <a:avLst>
              <a:gd name="adj" fmla="val 10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2352" y="3666744"/>
            <a:ext cx="186537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 i="0">
                <a:solidFill>
                  <a:srgbClr val="A63D40"/>
                </a:solidFill>
                <a:latin typeface="Calibri"/>
              </a:rPr>
              <a:t>Request documents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then retry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76472" y="4005072"/>
            <a:ext cx="1252728" cy="45720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Up Arrow 25"/>
          <p:cNvSpPr/>
          <p:nvPr/>
        </p:nvSpPr>
        <p:spPr>
          <a:xfrm>
            <a:off x="3675887" y="3108960"/>
            <a:ext cx="237744" cy="941832"/>
          </a:xfrm>
          <a:prstGeom prst="upArrow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48640" y="4892040"/>
          <a:ext cx="11155680" cy="1499616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3291840"/>
                <a:gridCol w="3931920"/>
                <a:gridCol w="3931920"/>
              </a:tblGrid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LangChain (chains)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LangGraph (graphs)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Fixed, linear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Branches, loops, retries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Human sign-off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Bolted 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Built-in pause points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Use when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Summarise → format → send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Credit approvals, research agents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Planning an agentic workflow — design before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700784"/>
            <a:ext cx="420624" cy="420624"/>
          </a:xfrm>
          <a:prstGeom prst="ellipse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007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6736" y="1664207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Map the human workflow first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Shadow the desk: who does what today, where the hours actually go. Automate what you understand.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355080" y="1700784"/>
            <a:ext cx="420624" cy="420624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170078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0296" y="1664207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Define done + the metric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“Drafts the review in 10 min with ≥95% citation accuracy” — not “use AI for portfolios”.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923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3163824"/>
            <a:ext cx="420624" cy="420624"/>
          </a:xfrm>
          <a:prstGeom prst="ellipse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16382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312724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Choose the autonomy level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Draft-only → approve-each-step → auto-run with review. Start low; earn autonomy with track record.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99923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55080" y="3163824"/>
            <a:ext cx="420624" cy="420624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16382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0296" y="312724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Give it tools &amp; data — least privilege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Only the MCP connectors and documents this task needs. Nothing more.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6227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1520" y="4626864"/>
            <a:ext cx="420624" cy="420624"/>
          </a:xfrm>
          <a:prstGeom prst="ellipse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626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16736" y="459028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Add checkpoints &amp; stop rules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Human sign-offs where money or clients are touched; eval gates; loop limits.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462272"/>
            <a:ext cx="5486400" cy="13533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55080" y="4626864"/>
            <a:ext cx="420624" cy="420624"/>
          </a:xfrm>
          <a:prstGeom prst="ellipse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626864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F2145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459028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Pilot → measure → widen</a:t>
            </a:r>
          </a:p>
          <a:p>
            <a:pPr algn="l">
              <a:lnSpc>
                <a:spcPct val="118000"/>
              </a:lnSpc>
              <a:spcBef>
                <a:spcPts val="3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One desk, four weeks, side-by-side against the human baseline. Scale only what wins.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9436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8F7113"/>
                </a:solidFill>
                <a:latin typeface="Calibri"/>
              </a:rPr>
              <a:t>Golden rule: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the workflow is the product; the model is a component. Plan the workflow, then pick the AI.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Putting it together — enterprise AI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72768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64208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FFFFFF"/>
                </a:solidFill>
                <a:latin typeface="Calibri"/>
              </a:rPr>
              <a:t>USERS &amp; WORKFLOW 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analyst chat · dashboards · approval queues</a:t>
            </a:r>
          </a:p>
        </p:txBody>
      </p:sp>
      <p:sp>
        <p:nvSpPr>
          <p:cNvPr id="7" name="Up-Down Arrow 6"/>
          <p:cNvSpPr/>
          <p:nvPr/>
        </p:nvSpPr>
        <p:spPr>
          <a:xfrm>
            <a:off x="4663440" y="2368296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505456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596896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FFFFFF"/>
                </a:solidFill>
                <a:latin typeface="Calibri"/>
              </a:rPr>
              <a:t>AGENT / ORCHESTRATION LAYER 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LangChain · LangGraph — planning, tools, memory, routing</a:t>
            </a:r>
          </a:p>
        </p:txBody>
      </p:sp>
      <p:sp>
        <p:nvSpPr>
          <p:cNvPr id="10" name="Up-Down Arrow 9"/>
          <p:cNvSpPr/>
          <p:nvPr/>
        </p:nvSpPr>
        <p:spPr>
          <a:xfrm>
            <a:off x="4663440" y="3300984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438144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529584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FFFFFF"/>
                </a:solidFill>
                <a:latin typeface="Calibri"/>
              </a:rPr>
              <a:t>MODEL LAYER   </a:t>
            </a:r>
            <a:r>
              <a:rPr sz="1000" b="0" i="0">
                <a:solidFill>
                  <a:srgbClr val="C9D6EE"/>
                </a:solidFill>
                <a:latin typeface="Calibri"/>
              </a:rPr>
              <a:t>— Claude / GPT / Gemini via API · open models in-house</a:t>
            </a:r>
          </a:p>
        </p:txBody>
      </p:sp>
      <p:sp>
        <p:nvSpPr>
          <p:cNvPr id="13" name="Up-Down Arrow 12"/>
          <p:cNvSpPr/>
          <p:nvPr/>
        </p:nvSpPr>
        <p:spPr>
          <a:xfrm>
            <a:off x="4663440" y="4233672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370832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462272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0F2145"/>
                </a:solidFill>
                <a:latin typeface="Calibri"/>
              </a:rPr>
              <a:t>KNOWLEDGE &amp; TOOLS 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RAG: vector DB over filings &amp; policies · market-data APIs · MCP connectors</a:t>
            </a:r>
          </a:p>
        </p:txBody>
      </p:sp>
      <p:sp>
        <p:nvSpPr>
          <p:cNvPr id="16" name="Up-Down Arrow 15"/>
          <p:cNvSpPr/>
          <p:nvPr/>
        </p:nvSpPr>
        <p:spPr>
          <a:xfrm>
            <a:off x="4663440" y="5166360"/>
            <a:ext cx="182880" cy="146304"/>
          </a:xfrm>
          <a:prstGeom prst="up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5303520"/>
            <a:ext cx="8503920" cy="786384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5394960"/>
            <a:ext cx="795527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 spc="80">
                <a:solidFill>
                  <a:srgbClr val="0F2145"/>
                </a:solidFill>
                <a:latin typeface="Calibri"/>
              </a:rPr>
              <a:t>DATA SOURCES   </a:t>
            </a:r>
            <a:r>
              <a:rPr sz="1000" b="0" i="0">
                <a:solidFill>
                  <a:srgbClr val="5D6B7E"/>
                </a:solidFill>
                <a:latin typeface="Calibri"/>
              </a:rPr>
              <a:t>— core banking · risk systems · Bloomberg/Refinitiv · document stores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1572768"/>
            <a:ext cx="2212848" cy="4480560"/>
          </a:xfrm>
          <a:prstGeom prst="roundRect">
            <a:avLst>
              <a:gd name="adj" fmla="val 6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19488" y="1737360"/>
            <a:ext cx="182880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 spc="150">
                <a:solidFill>
                  <a:srgbClr val="8F7113"/>
                </a:solidFill>
                <a:latin typeface="Calibri"/>
              </a:rPr>
              <a:t>GOVERNANCE</a:t>
            </a:r>
          </a:p>
          <a:p>
            <a:pPr algn="l">
              <a:spcBef>
                <a:spcPts val="200"/>
              </a:spcBef>
            </a:pPr>
            <a:r>
              <a:rPr sz="900" b="0" i="1">
                <a:solidFill>
                  <a:srgbClr val="5D6B7E"/>
                </a:solidFill>
                <a:latin typeface="Calibri"/>
              </a:rPr>
              <a:t>runs across every layer</a:t>
            </a:r>
          </a:p>
          <a:p>
            <a:pPr algn="l">
              <a:spcBef>
                <a:spcPts val="10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Access control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PII &amp; data privacy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Model risk (SR 11-7)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Audit trails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Human sign-off</a:t>
            </a:r>
          </a:p>
          <a:p>
            <a:pPr algn="l">
              <a:spcBef>
                <a:spcPts val="400"/>
              </a:spcBef>
            </a:pPr>
            <a:r>
              <a:rPr sz="100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000" b="0" i="0">
                <a:solidFill>
                  <a:srgbClr val="1B2A41"/>
                </a:solidFill>
                <a:latin typeface="Calibri"/>
              </a:rPr>
              <a:t>Evals &amp;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MCP — Model Context Protocol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26464"/>
            <a:ext cx="5303520" cy="1234440"/>
          </a:xfrm>
          <a:prstGeom prst="roundRect">
            <a:avLst>
              <a:gd name="adj" fmla="val 8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55448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8F7113"/>
                </a:solidFill>
                <a:latin typeface="Georgia"/>
              </a:rPr>
              <a:t>“USB-C for AI.”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One open standard so any AI app can plug into any data source or tool — no custom cable per device.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30352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Open standard introduced by Anthropic (2024), now industry-wide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An MCP server wraps a system (database, CRM, market data) and exposes safe, described actions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The AI app (host) discovers what's available and calls it — with your permissions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Servers expose three things: tools (actions), resources (data), prompts (templates)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554480"/>
            <a:ext cx="3566160" cy="105156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05472" y="1554480"/>
            <a:ext cx="341985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 HOST</a:t>
            </a:r>
          </a:p>
          <a:p>
            <a:pPr algn="ctr">
              <a:spcBef>
                <a:spcPts val="200"/>
              </a:spcBef>
            </a:pPr>
            <a:r>
              <a:rPr sz="950" b="0" i="0">
                <a:solidFill>
                  <a:srgbClr val="C9D6EE"/>
                </a:solidFill>
                <a:latin typeface="Calibri"/>
              </a:rPr>
              <a:t>Claude · ChatGPT · your agent app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995160" y="2697480"/>
            <a:ext cx="201168" cy="457200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324612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3246120"/>
            <a:ext cx="154533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145"/>
                </a:solidFill>
                <a:latin typeface="Calibri"/>
              </a:rPr>
              <a:t>Market-data server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prices · curves · news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842248" y="2697480"/>
            <a:ext cx="201168" cy="457200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56448" y="324612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3246120"/>
            <a:ext cx="154533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145"/>
                </a:solidFill>
                <a:latin typeface="Calibri"/>
              </a:rPr>
              <a:t>Internal-DB server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positions · limits · P&amp;L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0689336" y="2697480"/>
            <a:ext cx="201168" cy="457200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03536" y="324612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76688" y="3246120"/>
            <a:ext cx="1545336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145"/>
                </a:solidFill>
                <a:latin typeface="Calibri"/>
              </a:rPr>
              <a:t>CRM server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5D6B7E"/>
                </a:solidFill>
                <a:latin typeface="Calibri"/>
              </a:rPr>
              <a:t>clients · KYC · emails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480560"/>
            <a:ext cx="5394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5D6B7E"/>
                </a:solidFill>
                <a:latin typeface="Calibri"/>
              </a:rPr>
              <a:t>the same protocol on every wire — one integration, many systems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806440"/>
            <a:ext cx="11094415" cy="50292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580644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Before MCP: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every AI app needed a custom integration to every system (N × M problem). After: build one server per system, use it from every AI app.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MCP in a bank — one analyst agent, every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26464"/>
            <a:ext cx="11094415" cy="731520"/>
          </a:xfrm>
          <a:prstGeom prst="roundRect">
            <a:avLst>
              <a:gd name="adj" fmla="val 9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426464"/>
            <a:ext cx="10582351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9:02 AM — you ask:  </a:t>
            </a:r>
            <a:r>
              <a:rPr sz="1200" b="0" i="1">
                <a:solidFill>
                  <a:srgbClr val="FFFFFF"/>
                </a:solidFill>
                <a:latin typeface="Calibri"/>
              </a:rPr>
              <a:t>“Which of my clients are over-exposed to IT stocks after yesterday's fall, and draft the alert emails.”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1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Market-data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pulls yesterday's sector moves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00400" y="3182112"/>
            <a:ext cx="256032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93008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93008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8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2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Portfolio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scans all client holdings for IT weight &gt; limit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44768" y="3182112"/>
            <a:ext cx="256032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7376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37376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0256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3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CRM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fetches affected clients' contacts &amp; mandates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089136" y="3182112"/>
            <a:ext cx="256032" cy="201168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381744" y="2514600"/>
            <a:ext cx="260604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2514600"/>
            <a:ext cx="260604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64624" y="269748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 spc="200">
                <a:solidFill>
                  <a:srgbClr val="8F7113"/>
                </a:solidFill>
                <a:latin typeface="Calibri"/>
              </a:rPr>
              <a:t>STEP 4</a:t>
            </a:r>
          </a:p>
          <a:p>
            <a:pPr algn="l">
              <a:spcBef>
                <a:spcPts val="300"/>
              </a:spcBef>
            </a:pPr>
            <a:r>
              <a:rPr sz="1200" b="1" i="0">
                <a:solidFill>
                  <a:srgbClr val="0F2145"/>
                </a:solidFill>
                <a:latin typeface="Calibri"/>
              </a:rPr>
              <a:t>Email MCP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drafts personalised alerts — for your approval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224528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1">
                <a:solidFill>
                  <a:srgbClr val="1B2A41"/>
                </a:solidFill>
                <a:latin typeface="Calibri"/>
              </a:rPr>
              <a:t>One conversation. Four systems. Zero copy-paste. The agent orchestrates; every action is logged and the email waits for a human click.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00600"/>
            <a:ext cx="3611880" cy="114300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4956048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Auditability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every tool call is a logged, permissioned event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4800600"/>
            <a:ext cx="3611880" cy="114300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4956048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Reusability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same servers power every future AI app the bank builds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83296" y="4800600"/>
            <a:ext cx="3611880" cy="1143000"/>
          </a:xfrm>
          <a:prstGeom prst="roundRect">
            <a:avLst>
              <a:gd name="adj" fmla="val 9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84464" y="4956048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145"/>
                </a:solidFill>
                <a:latin typeface="Calibri"/>
              </a:rPr>
              <a:t>Safety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agent gets narrow, described actions — not raw database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Enterprise guardrails — what banks add before go-live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64008" cy="12984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Data privacy &amp; PII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066543"/>
            <a:ext cx="510235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Client data never leaves approved environments; public chatbots are blocked on desks.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536192"/>
            <a:ext cx="64008" cy="1298448"/>
          </a:xfrm>
          <a:prstGeom prst="rect">
            <a:avLst/>
          </a:prstGeom>
          <a:solidFill>
            <a:srgbClr val="A63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1656" y="1682495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Model risk management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1656" y="2066543"/>
            <a:ext cx="5102352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Fed SR 11-7 / RBI expectations: validate, document and monitor models — LLMs included.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62656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62656"/>
            <a:ext cx="64008" cy="1298448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1089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Access &amp; permissions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493008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Agents act under the user's entitlements. No agent can see what you can't.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962656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2962656"/>
            <a:ext cx="64008" cy="1298448"/>
          </a:xfrm>
          <a:prstGeom prst="rect">
            <a:avLst/>
          </a:prstGeom>
          <a:solidFill>
            <a:srgbClr val="2F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31089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Human-in-the-loop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3493008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Client-facing and money-moving actions require explicit human approval.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89120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89120"/>
            <a:ext cx="64008" cy="129844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5354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Audit trails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4919472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Every prompt, retrieval and tool call is logged for compliance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4389120"/>
            <a:ext cx="5486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4389120"/>
            <a:ext cx="64008" cy="1298448"/>
          </a:xfrm>
          <a:prstGeom prst="rect">
            <a:avLst/>
          </a:prstGeom>
          <a:solidFill>
            <a:srgbClr val="8F7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1656" y="4535424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Continuous evals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91656" y="4919472"/>
            <a:ext cx="5102352" cy="6949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D6B7E"/>
                </a:solidFill>
                <a:latin typeface="Calibri"/>
              </a:rPr>
              <a:t>Automated test suites re-check accuracy and bias every time anything changes.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70448"/>
            <a:ext cx="11094415" cy="530352"/>
          </a:xfrm>
          <a:prstGeom prst="roundRect">
            <a:avLst>
              <a:gd name="adj" fmla="val 14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870448"/>
            <a:ext cx="10637215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C9A227"/>
                </a:solidFill>
                <a:latin typeface="Calibri"/>
              </a:rPr>
              <a:t>Career note: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“AI governance” roles — model validation, AI risk, AI audit — are among the fastest-growing finance jobs. Your MBA + this vocabulary is the entry ticket.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Where does your data go? The protection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554480"/>
            <a:ext cx="232257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8F7113"/>
                </a:solidFill>
                <a:latin typeface="Calibri"/>
              </a:rPr>
              <a:t>Your document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the confidential filing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27248" y="1892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84448" y="155448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554480"/>
            <a:ext cx="250545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F2145"/>
                </a:solidFill>
                <a:latin typeface="Calibri"/>
              </a:rPr>
              <a:t>Encrypted in transit</a:t>
            </a:r>
          </a:p>
          <a:p>
            <a:pPr algn="ctr">
              <a:spcBef>
                <a:spcPts val="200"/>
              </a:spcBef>
            </a:pPr>
            <a:r>
              <a:rPr sz="850" b="0" i="0">
                <a:solidFill>
                  <a:srgbClr val="5D6B7E"/>
                </a:solidFill>
                <a:latin typeface="Calibri"/>
              </a:rPr>
              <a:t>TLS — unreadable on the wire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345936" y="1892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03136" y="155448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244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1554480"/>
            <a:ext cx="26883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Bank's private AI tenant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Azure OpenAI · Bedrock · on-prem model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47504" y="1892807"/>
            <a:ext cx="365760" cy="237744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04704" y="15544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56" y="1554480"/>
            <a:ext cx="1316736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Answer back</a:t>
            </a:r>
          </a:p>
          <a:p>
            <a:pPr algn="ctr">
              <a:spcBef>
                <a:spcPts val="200"/>
              </a:spcBef>
            </a:pPr>
            <a:r>
              <a:rPr sz="800" b="0" i="0">
                <a:solidFill>
                  <a:srgbClr val="C9D6EE"/>
                </a:solidFill>
                <a:latin typeface="Calibri"/>
              </a:rPr>
              <a:t>processed in memory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0604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A63D40"/>
                </a:solidFill>
                <a:latin typeface="Calibri"/>
              </a:rPr>
              <a:t>…and what does NOT happen: your data is not used to train the model, not stored beyond the call, not visible to any other customer (zero-data-retention contracts).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063240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063240"/>
            <a:ext cx="64008" cy="12801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Contract layer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Zero-data-retention and no-training clauses, data-processing agreements, liability terms — negotiated before a single token flows.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3063240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3063240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1656" y="3182112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Network layer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Private endpoints inside the bank's own cloud tenant. Traffic never touches the public internet or the consumer chatbot.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71416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471416"/>
            <a:ext cx="64008" cy="128016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4590288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Data layer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Encryption at rest and in transit; PII masked or redacted before the model ever sees it (“Client A”, not the client's name).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4471416"/>
            <a:ext cx="5486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4471416"/>
            <a:ext cx="64008" cy="1280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6" y="4590288"/>
            <a:ext cx="5074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Access &amp; oversight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agent inherits your entitlements — no more. DLP rules block leaks; every call is logged for audit.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943600"/>
            <a:ext cx="11094415" cy="457200"/>
          </a:xfrm>
          <a:prstGeom prst="roundRect">
            <a:avLst>
              <a:gd name="adj" fmla="val 14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594360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This is why your office blocks public ChatGPT but ships an internal copilot: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same models — different plumbing and paperwork.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BLOCK E · FRAMEWORKS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Token economics — doing more with fewer tokens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17904"/>
            <a:ext cx="4206240" cy="4480560"/>
          </a:xfrm>
          <a:prstGeom prst="roundRect">
            <a:avLst>
              <a:gd name="adj" fmla="val 6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700784"/>
            <a:ext cx="370332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120">
                <a:solidFill>
                  <a:srgbClr val="C9A227"/>
                </a:solidFill>
                <a:latin typeface="Calibri"/>
              </a:rPr>
              <a:t>THE BILL = TOKENS IN + TOKENS OUT</a:t>
            </a:r>
          </a:p>
          <a:p>
            <a:pPr algn="l">
              <a:spcBef>
                <a:spcPts val="1400"/>
              </a:spcBef>
            </a:pPr>
            <a:r>
              <a:rPr sz="1100" b="0" i="0">
                <a:solidFill>
                  <a:srgbClr val="8FA1C4"/>
                </a:solidFill>
                <a:latin typeface="Calibri"/>
              </a:rPr>
              <a:t>Naive approach</a:t>
            </a:r>
          </a:p>
          <a:p>
            <a:pPr algn="l">
              <a:spcBef>
                <a:spcPts val="200"/>
              </a:spcBef>
            </a:pPr>
            <a:r>
              <a:rPr sz="3000" b="1" i="0">
                <a:solidFill>
                  <a:srgbClr val="FFFFFF"/>
                </a:solidFill>
                <a:latin typeface="Georgia"/>
              </a:rPr>
              <a:t>100,000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000" b="0" i="0">
                <a:solidFill>
                  <a:srgbClr val="C9D6EE"/>
                </a:solidFill>
                <a:latin typeface="Calibri"/>
              </a:rPr>
              <a:t>tokens per question — pasting the full annual report every time</a:t>
            </a:r>
          </a:p>
          <a:p>
            <a:pPr algn="l">
              <a:spcBef>
                <a:spcPts val="1400"/>
              </a:spcBef>
            </a:pPr>
            <a:r>
              <a:rPr sz="1100" b="0" i="0">
                <a:solidFill>
                  <a:srgbClr val="8FA1C4"/>
                </a:solidFill>
                <a:latin typeface="Calibri"/>
              </a:rPr>
              <a:t>With RAG (retrieve 5 chunks)</a:t>
            </a:r>
          </a:p>
          <a:p>
            <a:pPr algn="l">
              <a:spcBef>
                <a:spcPts val="200"/>
              </a:spcBef>
            </a:pPr>
            <a:r>
              <a:rPr sz="3000" b="1" i="0">
                <a:solidFill>
                  <a:srgbClr val="C9A227"/>
                </a:solidFill>
                <a:latin typeface="Georgia"/>
              </a:rPr>
              <a:t>3,000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000" b="0" i="0">
                <a:solidFill>
                  <a:srgbClr val="C9D6EE"/>
                </a:solidFill>
                <a:latin typeface="Calibri"/>
              </a:rPr>
              <a:t>tokens per question — ≈ 97% cheaper, and faster to answer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517904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0" y="1517904"/>
            <a:ext cx="3246120" cy="6400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1664207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Retrieve, don't paste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RAG sends only the relevant passages, not the whole library.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94192" y="1517904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94192" y="1517904"/>
            <a:ext cx="3246120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77072" y="1664207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Cache the static part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Prompt caching: the unchanging instructions are billed once, cheaply.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035808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3035808"/>
            <a:ext cx="3246120" cy="6400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3182112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Route by difficulty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Small, cheap model for routine tasks; the big model only for hard ones.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94192" y="3035808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94192" y="3035808"/>
            <a:ext cx="3246120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3182112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Summarise once, reuse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Distil the 300-page report one time; query the summary all quarter.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4553712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0" y="4553712"/>
            <a:ext cx="3246120" cy="6400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2080" y="4700016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Cap the output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Ask for 5 bullets, not an essay. Output tokens cost more than input.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94192" y="4553712"/>
            <a:ext cx="324612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4192" y="4553712"/>
            <a:ext cx="3246120" cy="640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77072" y="4700016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Batch the non-urgent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Overnight batch processing runs at roughly half price.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144768"/>
            <a:ext cx="11094415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0" i="1">
                <a:solidFill>
                  <a:srgbClr val="5D6B7E"/>
                </a:solidFill>
                <a:latin typeface="Calibri"/>
              </a:rPr>
              <a:t>Token optimisation is the new working-capital optimisation — same instinct, different balance sheet.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INDUSTRY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What the street is building — right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7904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17904"/>
            <a:ext cx="361188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700784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JPMorgan Chase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3A5C9E"/>
                </a:solidFill>
                <a:latin typeface="Georgia"/>
              </a:rPr>
              <a:t>$17B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AI spend, 2025. LLM Suite live for 200K+ employees; IndexGPT research; AI on FICC desks.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517904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517904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1700784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Morgan Stanley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8F7113"/>
                </a:solidFill>
                <a:latin typeface="Georgia"/>
              </a:rPr>
              <a:t>100K+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wealth documents behind its GPT-4 advisor copilot — the flagship RAG deployment.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517904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517904"/>
            <a:ext cx="361188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700784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Goldman Sachs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3A5C9E"/>
                </a:solidFill>
                <a:latin typeface="Georgia"/>
              </a:rPr>
              <a:t>95%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of PE firms expected to use AI by 2026; internal coding agents already on the floor.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785615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785615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968496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BloombergGPT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8F7113"/>
                </a:solidFill>
                <a:latin typeface="Georgia"/>
              </a:rPr>
              <a:t>363B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finance tokens trained on — the proof that domain LLMs are worth building.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5968" y="3785615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3785615"/>
            <a:ext cx="361188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35424" y="3968496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Kotak · HDFC · Axis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3A5C9E"/>
                </a:solidFill>
                <a:latin typeface="Georgia"/>
              </a:rPr>
              <a:t>India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wealth bots, KYC automation, regional-language FinBERT, credit underwriting agents.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3296" y="3785615"/>
            <a:ext cx="3611880" cy="212140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3785615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968496"/>
            <a:ext cx="3200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Citi · Deutsche · UBS</a:t>
            </a:r>
          </a:p>
          <a:p>
            <a:pPr algn="l">
              <a:spcBef>
                <a:spcPts val="400"/>
              </a:spcBef>
            </a:pPr>
            <a:r>
              <a:rPr sz="2400" b="1" i="0">
                <a:solidFill>
                  <a:srgbClr val="8F7113"/>
                </a:solidFill>
                <a:latin typeface="Georgia"/>
              </a:rPr>
              <a:t>Basel IV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FRTB capital, SA-CVA and Pillar 3 disclosure pipelines going agentic.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INDUSTRY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project map — who's building what, by name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17904"/>
          <a:ext cx="11109960" cy="4690863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286000"/>
                <a:gridCol w="3017520"/>
                <a:gridCol w="5806440"/>
              </a:tblGrid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Company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JPMorgan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LLM Suite · IndexGPT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Internal ChatGPT for 200K+ staff; AI-built thematic investment indices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Morgan Stanley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AI @ MS · Debrief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RAG copilot over research library; meeting notes auto-drafted into the CRM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Goldman Sachs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GS AI Assistant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Firmwide copilot for drafting, summarising and code on the trading floor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BlackRock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Aladdin Copilot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Natural-language layer over the world's largest risk platform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Citi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Citi Assist · Stylus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Policy navigator for staff; document summarisation at bank scale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Bloomberg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BloombergGPT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50B-parameter finance-trained LLM inside Terminal workflows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Mastercard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Decision Intelligence Pro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GenAI transaction scoring — fraud detection lifted up to ~300%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F2145"/>
                          </a:solidFill>
                          <a:latin typeface="Calibri"/>
                        </a:rPr>
                        <a:t>HDFC · Kotak · Axis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India AI stack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1B2A41"/>
                          </a:solidFill>
                          <a:latin typeface="Calibri"/>
                        </a:rPr>
                        <a:t>KYC automation, wealth bots, vernacular FinBERT, credit underwriting agents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272784"/>
            <a:ext cx="1109441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1">
                <a:solidFill>
                  <a:srgbClr val="5D6B7E"/>
                </a:solidFill>
                <a:latin typeface="Calibri"/>
              </a:rPr>
              <a:t>Pattern to notice: every project is a copilot, a RAG library or an agent — exactly the three shapes you learned this morning.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Glossary II — systems words, now that you know them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17904"/>
          <a:ext cx="11109959" cy="4846320"/>
        </p:xfrm>
        <a:graphic>
          <a:graphicData uri="http://schemas.openxmlformats.org/drawingml/2006/table">
            <a:tbl firstRow="1" bandRow="0"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977639"/>
              </a:tblGrid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Plain-English meaning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Finance example</a:t>
                      </a:r>
                    </a:p>
                  </a:txBody>
                  <a:tcPr marL="91440" marR="73152" marT="36576" marB="36576" anchor="ctr">
                    <a:solidFill>
                      <a:srgbClr val="0F2145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System prompt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The standing instructions a builder gives the model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“You are a credit analyst; never estimate missing data”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Extra training on your own examples to specialise a model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 model tuned on 10,000 past credit notes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RAG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Fetch the relevant documents, answer only from them, cite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Policy Q&amp;A over RBI master directions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Hallucination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Fluent, confident, wrong — unsupported output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An invented “RBI Circular 2023/114”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LLM + tools + memory + planning, looping toward a goal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Portfolio-review bot: fetch → compute → draft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Orchestration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The traffic control sequencing models, tools and agents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LangChain chains · LangGraph graphs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MCP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The standard plug connecting AI to systems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One protocol: market data + CRM + risk DB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Guardrail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 hard rule enforced around the model, not by it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“No email leaves without human approval”</a:t>
                      </a:r>
                    </a:p>
                  </a:txBody>
                  <a:tcPr marL="91440" marR="73152" marT="36576" marB="36576" anchor="ctr">
                    <a:solidFill>
                      <a:srgbClr val="F1F4F9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2145"/>
                          </a:solidFill>
                          <a:latin typeface="Calibri"/>
                        </a:rPr>
                        <a:t>Eval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An exam paper you run on the AI before and after changes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B2A41"/>
                          </a:solidFill>
                          <a:latin typeface="Calibri"/>
                        </a:rPr>
                        <a:t>100 known Q&amp;As, scored on every release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CHECKPOINT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Session 1 in nine 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700784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GenAI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AI that writes, not just scores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554480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554480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700784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LLM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next-word prediction at colossal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554480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554480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4464" y="1700784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Context window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the model's desk — what it can see now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52928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852928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2999232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Memory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engineered recall across sessions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5968" y="2852928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2852928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136" y="2999232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Hallucination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fluent, confident, wrong — five types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3296" y="2852928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2852928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999232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RAG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open-book answers from your documents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51376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51376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297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Agent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LLM + tools + memory + planning, in a loop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15968" y="4151376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15968" y="4151376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17136" y="4297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LangChain / LangGraph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pipelines vs decision-graphs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4151376"/>
            <a:ext cx="361188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4151376"/>
            <a:ext cx="64008" cy="117043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84464" y="4297680"/>
            <a:ext cx="3246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MCP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USB-C: one protocol to plug AI into systems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0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5532120"/>
            <a:ext cx="10545775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Lunch · 1 PM — 2 PM. 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Return with your laptop charged: at 2 PM sharp we start building.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1  ·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143000"/>
            <a:ext cx="2926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600" b="1" i="0">
                <a:solidFill>
                  <a:srgbClr val="C9A227"/>
                </a:solidFill>
                <a:latin typeface="Georg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88920"/>
            <a:ext cx="106070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Session 2 · Build &amp; Apply</a:t>
            </a:r>
          </a:p>
          <a:p>
            <a:pPr algn="l">
              <a:spcBef>
                <a:spcPts val="800"/>
              </a:spcBef>
            </a:pPr>
            <a:r>
              <a:rPr sz="1600" b="0" i="0">
                <a:solidFill>
                  <a:srgbClr val="C9D6EE"/>
                </a:solidFill>
                <a:latin typeface="Calibri"/>
              </a:rPr>
              <a:t>Four live builds, one graded group project — AI writes the code, you supply the finance judgement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4343400"/>
            <a:ext cx="1005840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2:00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1 · Trading algos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2:45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2 · Backtesting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42816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3:20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3 · Earnings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9904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3:55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Build 4 · Portfolio + Basel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36992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4:30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Live project briefing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4617720"/>
            <a:ext cx="187451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4:50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000" b="0" i="0">
                <a:solidFill>
                  <a:srgbClr val="8FA1C4"/>
                </a:solidFill>
                <a:latin typeface="Calibri"/>
              </a:rPr>
              <a:t>Careers &amp; close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SESSION 2  ·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Trading algo system — momentum &amp; mean reversion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Momentum: what has been rising tends to keep rising — buy strength. Mean reversion: what has stretched too far from its average tends to snap back — fade extremes. Two opposite philosophies; both reduce to precise, testable rules.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Define the rules in plain English (“buy when 20-day return is top decile…”)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Prompt the AI to translate the rules into Python signals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Run on real NIFTY-stock price history in Google Colab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Inspect the trades it would have taken — argue with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 working two-strategy signal engine on Indian equities — built from a plain-English prompt, no coding background.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Security Analysis &amp; PM (Sem 2): factor investing, momentum literature, technical vs fundamental debate.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Backtesting — does the strategy actually work?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A backtest replays your rules over history and scores them. Three numbers matter: Sharpe ratio (return per unit of risk), max drawdown (worst peak-to-trough pain), turnover (how much trading — and cost — the strategy needs).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Feed Build 1's signals into a backtest engine the AI writes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Compute Sharpe, max drawdown, turnover, hit rate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Add transaction costs — watch the edge shrink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Torture test: change the period. Does it survive?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 backtest report card for both strategies — with an honest verdict on whether you'd fund them.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Financial Derivatives &amp; Risk Management: risk-adjusted returns, path dependency, why in-sample success lies (overfitting).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3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Earnings dashboard — reading the concall for you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Every quarter, hundreds of pages of earnings calls and press releases land at once. An LLM can read all of it, extract guidance changes, flag tone shifts (FinBERT-style sentiment) and assemble a one-screen dashboard.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Load a real earnings-call transcript (Indian large-cap)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Prompt: extract guidance, margin drivers, capex, one-liners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Score management tone — positive / cautious / evasive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Assemble an HTML dashboard the AI builds for you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 live earnings dashboard for one NIFTY company — transcript to insight in 30 minutes.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Equity Research (Sem 3): earnings quality, guidance analysis, behavioural finance signals in management language.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BUILD 4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Portfolio review + Basel report — RAG goes to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6675120" cy="1965960"/>
          </a:xfrm>
          <a:prstGeom prst="roundRect">
            <a:avLst>
              <a:gd name="adj" fmla="val 7000"/>
            </a:avLst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481328"/>
            <a:ext cx="6263640" cy="1965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The concept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150" b="0" i="0">
                <a:solidFill>
                  <a:srgbClr val="1B2A41"/>
                </a:solidFill>
                <a:latin typeface="Calibri"/>
              </a:rPr>
              <a:t>The morning's RAG concept, applied twice: (a) review a model portfolio against an Investment Policy Statement, and (b) draft a Basel-style capital disclosure section from regulation text. Both answer only from the supplied documents, with citations.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9312"/>
            <a:ext cx="6675120" cy="23774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639312"/>
            <a:ext cx="630936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145"/>
                </a:solidFill>
                <a:latin typeface="Georgia"/>
              </a:rPr>
              <a:t>What we do live (you prompt, AI codes)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Load a sample IPS + portfolio holdings file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Agent checks allocation, concentration and mandate breaches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Load Basel III/IV excerpts; prompt a disclosure gap-draft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Every claim must carry a clause citation — we check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481328"/>
            <a:ext cx="4160520" cy="22860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0104" y="1481328"/>
            <a:ext cx="370332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220">
                <a:solidFill>
                  <a:srgbClr val="C9A227"/>
                </a:solidFill>
                <a:latin typeface="Calibri"/>
              </a:rPr>
              <a:t>YOU SHIP</a:t>
            </a:r>
          </a:p>
          <a:p>
            <a:pPr algn="l">
              <a:lnSpc>
                <a:spcPct val="135000"/>
              </a:lnSpc>
              <a:spcBef>
                <a:spcPts val="900"/>
              </a:spcBef>
            </a:pPr>
            <a:r>
              <a:rPr sz="1300" b="0" i="0">
                <a:solidFill>
                  <a:srgbClr val="FFFFFF"/>
                </a:solidFill>
                <a:latin typeface="Calibri"/>
              </a:rPr>
              <a:t>An auto-drafted portfolio review memo and a cited Basel disclosure draft — the exact pattern global banks run.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52360" y="3950208"/>
            <a:ext cx="4160520" cy="2066543"/>
          </a:xfrm>
          <a:prstGeom prst="roundRect">
            <a:avLst>
              <a:gd name="adj" fmla="val 7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90104" y="3950208"/>
            <a:ext cx="3703320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150">
                <a:solidFill>
                  <a:srgbClr val="8F7113"/>
                </a:solidFill>
                <a:latin typeface="Calibri"/>
              </a:rPr>
              <a:t>MAPS TO YOUR SYLLABUS</a:t>
            </a:r>
          </a:p>
          <a:p>
            <a:pPr algn="l">
              <a:lnSpc>
                <a:spcPct val="130000"/>
              </a:lnSpc>
              <a:spcBef>
                <a:spcPts val="800"/>
              </a:spcBef>
            </a:pPr>
            <a:r>
              <a:rPr sz="1200" b="0" i="0">
                <a:solidFill>
                  <a:srgbClr val="1B2A41"/>
                </a:solidFill>
                <a:latin typeface="Calibri"/>
              </a:rPr>
              <a:t>Wealth Management + Risk Management (Sem 3): IPS discipline, Basel IV / FRTB context, compliance drafting.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GRADED · GROUP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The live project — your desk for two weeks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6720840" cy="1371600"/>
          </a:xfrm>
          <a:prstGeom prst="roundRect">
            <a:avLst>
              <a:gd name="adj" fmla="val 7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591056"/>
            <a:ext cx="62636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220">
                <a:solidFill>
                  <a:srgbClr val="C9A227"/>
                </a:solidFill>
                <a:latin typeface="Calibri"/>
              </a:rPr>
              <a:t>THE BRIEF</a:t>
            </a:r>
          </a:p>
          <a:p>
            <a:pPr algn="l">
              <a:lnSpc>
                <a:spcPct val="122000"/>
              </a:lnSpc>
              <a:spcBef>
                <a:spcPts val="500"/>
              </a:spcBef>
            </a:pPr>
            <a:r>
              <a:rPr sz="1150" b="0" i="0">
                <a:solidFill>
                  <a:srgbClr val="FFFFFF"/>
                </a:solidFill>
                <a:latin typeface="Calibri"/>
              </a:rPr>
              <a:t>In teams of 4–5, build one AI-powered finance workflow end-to-end and defend it like an IC pitch: problem → build → demo → what broke → what you'd need to deploy it in a real bank.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017520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017520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3090672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0 —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3090672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Form teams, pick a project from the menu (next slide), get repo access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85615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85615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8587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858768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One-page scope note: user, problem, data source, success metric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553712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553712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4626864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4626864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Working demo + 5 test questions it must answer correctly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321807"/>
            <a:ext cx="672084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321807"/>
            <a:ext cx="64008" cy="69494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5394959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0F2145"/>
                </a:solidFill>
                <a:latin typeface="Calibri"/>
              </a:rPr>
              <a:t>Day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5394959"/>
            <a:ext cx="4343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5D6B7E"/>
                </a:solidFill>
                <a:latin typeface="Calibri"/>
              </a:rPr>
              <a:t>15-min pitch: live demo, failure analysis, governance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1463040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60">
                <a:solidFill>
                  <a:srgbClr val="5D6B7E"/>
                </a:solidFill>
                <a:latin typeface="Calibri"/>
              </a:rPr>
              <a:t>GRADING RUBRIC · 100 MARKS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181051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79" y="1810512"/>
            <a:ext cx="1440180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59" y="188366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Working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98480" y="188366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79" y="254203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98079" y="2542032"/>
            <a:ext cx="1200150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59" y="261518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Finance judgement &amp; accuracy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0" y="261518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79" y="327355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98079" y="3273552"/>
            <a:ext cx="960119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59" y="334670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Hallucination &amp; risk handling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0" y="334670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20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79" y="400507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98079" y="4005072"/>
            <a:ext cx="720090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59" y="407822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Business case &amp; pitch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407822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79" y="4736592"/>
            <a:ext cx="4114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98079" y="4736592"/>
            <a:ext cx="480059" cy="658368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59" y="480974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1B2A41"/>
                </a:solidFill>
                <a:latin typeface="Calibri"/>
              </a:rPr>
              <a:t>Teamwork &amp; documentation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698480" y="4809744"/>
            <a:ext cx="7772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300" b="1" i="0">
                <a:solidFill>
                  <a:srgbClr val="8F7113"/>
                </a:solidFill>
                <a:latin typeface="Georgia"/>
              </a:rPr>
              <a:t>10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79" y="5504688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5E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80959" y="5504688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 i="0">
                <a:solidFill>
                  <a:srgbClr val="1B2A41"/>
                </a:solidFill>
                <a:latin typeface="Calibri"/>
              </a:rPr>
              <a:t>Counts toward SCMHRD internal evaluation. Using AI to build is required, not cheating — documenting where it failed earns marks.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PICK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Live project menu — six desks, choose yours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1790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17904"/>
            <a:ext cx="64008" cy="144475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63677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Equity research copilot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RAG over 3 years of one company's filings + calls; answers with citations; drafts a one-page initiation note.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EQUITY RESEARCH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51790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517904"/>
            <a:ext cx="64008" cy="14447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1656" y="163677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Credit appraisal agent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Reads a borrower's financials, computes ratios, drafts the credit note with covenants and a recommendation.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CORPORATE FINANCE / BANKING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7238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072384"/>
            <a:ext cx="64008" cy="144475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319125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Wealth advisory assistant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IPS-aware chatbot: remembers client profile, checks portfolio drift, drafts the quarterly review letter.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WEALTH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07238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072384"/>
            <a:ext cx="64008" cy="14447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91656" y="319125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Regulatory gap analyser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RAG over an RBI master direction vs a bank's policy doc; produces a cited compliance gap table.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RISK / COMPLIANCE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62686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626864"/>
            <a:ext cx="64008" cy="1444752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74573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Deal screener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Agent screens M&amp;A targets on filters, builds comps, drafts a first-cut synergy memo with sources.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M&amp;A &amp; RESTRUCTURING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4626864"/>
            <a:ext cx="5486400" cy="14447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72200" y="4626864"/>
            <a:ext cx="64008" cy="14447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91656" y="4745736"/>
            <a:ext cx="50749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F2145"/>
                </a:solidFill>
                <a:latin typeface="Georgia"/>
              </a:rPr>
              <a:t>Treasury FX monitor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000" b="0" i="0">
                <a:solidFill>
                  <a:srgbClr val="5D6B7E"/>
                </a:solidFill>
                <a:latin typeface="Calibri"/>
              </a:rPr>
              <a:t>Daily agent: pulls FX moves, flags exposures beyond policy bands, drafts the hedging desk note.</a:t>
            </a:r>
          </a:p>
          <a:p>
            <a:pPr algn="l">
              <a:spcBef>
                <a:spcPts val="400"/>
              </a:spcBef>
            </a:pPr>
            <a:r>
              <a:rPr sz="800" b="1" i="0" spc="150">
                <a:solidFill>
                  <a:srgbClr val="8F7113"/>
                </a:solidFill>
                <a:latin typeface="Calibri"/>
              </a:rPr>
              <a:t>TREASURY &amp; FOREX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217920"/>
            <a:ext cx="11094415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199632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0F2145"/>
                </a:solidFill>
                <a:latin typeface="Calibri"/>
              </a:rPr>
              <a:t>Templates, datasets and starter prompts for all six: github.com/tejasgjadhav/SCMHRD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LOGISTICS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Your toolkit — nothing to install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64207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ChatGPT / 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664207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Your reasoning engine. Free tiers are enough for the project.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19" y="1664207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chat.openai.com · claude.ai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33472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33472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3200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Google Colab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743200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Python in the browser — the AI writes code, Colab runs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19" y="274320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colab.research.google.com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12463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12463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822191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Course repository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3822191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Slides, prompts, datasets, project templates, submission links.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19" y="3822191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github.com/tejasgjadhav/SCMHRD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91455"/>
            <a:ext cx="11094415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791455"/>
            <a:ext cx="64008" cy="9692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901183"/>
            <a:ext cx="30175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Data sources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901183"/>
            <a:ext cx="48463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1B2A41"/>
                </a:solidFill>
                <a:latin typeface="Calibri"/>
              </a:rPr>
              <a:t>NSE bhavcopy, screener.in exports, company filings, RBI/Basel texts — all public.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19" y="4901183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F7113"/>
                </a:solidFill>
                <a:latin typeface="Calibri"/>
              </a:rPr>
              <a:t>linked in the repo README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897880"/>
            <a:ext cx="11094415" cy="475488"/>
          </a:xfrm>
          <a:prstGeom prst="roundRect">
            <a:avLst>
              <a:gd name="adj" fmla="val 14000"/>
            </a:avLst>
          </a:prstGeom>
          <a:solidFill>
            <a:srgbClr val="F6E7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5897880"/>
            <a:ext cx="10637215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A63D40"/>
                </a:solidFill>
                <a:latin typeface="Calibri"/>
              </a:rPr>
              <a:t>House rule: </a:t>
            </a:r>
            <a:r>
              <a:rPr sz="1150" b="0" i="0">
                <a:solidFill>
                  <a:srgbClr val="1B2A41"/>
                </a:solidFill>
                <a:latin typeface="Calibri"/>
              </a:rPr>
              <a:t>public data only. No client information, no MNPI, nothing from your internships goes into any AI tool.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AI × Finance careers for an MBA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36192"/>
            <a:ext cx="548640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73736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AI Product Manager — banking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Owns an AI product (advisor copilot, credit agent). Translates desk needs into model requirements.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Today's vocabulary is the job spec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53619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536192"/>
            <a:ext cx="54864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173736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Model risk &amp; AI governance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Validates and audits AI systems for regulators. Scarce, senior-tracked, rising demand.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Hallucination types + SR 11-7 slide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3075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730752"/>
            <a:ext cx="5486400" cy="73152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393192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AI-augmented analyst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Equity/credit analyst who ships 3× output using RAG and agents. The near-term default.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Everything you build this afternoon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730752"/>
            <a:ext cx="548640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730752"/>
            <a:ext cx="54864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3931920"/>
            <a:ext cx="5029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F2145"/>
                </a:solidFill>
                <a:latin typeface="Georgia"/>
              </a:rPr>
              <a:t>Fintech / vendor strategy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1050" b="0" i="0">
                <a:solidFill>
                  <a:srgbClr val="5D6B7E"/>
                </a:solidFill>
                <a:latin typeface="Calibri"/>
              </a:rPr>
              <a:t>Builds or sells AI tooling to institutions — solutions, partnerships, product strategy.</a:t>
            </a:r>
          </a:p>
          <a:p>
            <a:pPr algn="l">
              <a:spcBef>
                <a:spcPts val="700"/>
              </a:spcBef>
            </a:pPr>
            <a:r>
              <a:rPr sz="950" b="1" i="0">
                <a:solidFill>
                  <a:srgbClr val="8F7113"/>
                </a:solidFill>
                <a:latin typeface="Calibri"/>
              </a:rPr>
              <a:t>From today: </a:t>
            </a:r>
            <a:r>
              <a:rPr sz="950" b="0" i="1">
                <a:solidFill>
                  <a:srgbClr val="1B2A41"/>
                </a:solidFill>
                <a:latin typeface="Calibri"/>
              </a:rPr>
              <a:t>MCP &amp; architecture literacy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Skill stack → placement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26464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5D6B7E"/>
                </a:solidFill>
                <a:latin typeface="Calibri"/>
              </a:rPr>
              <a:t>BUILD THIS STACK IN THE NEXT 6 MONTHS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55648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55648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37943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Prompt fluency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Use AI daily for coursework — it compounds like any language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96896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596896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79191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One shipped RAG project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Your live project is exactly this — finish it, host it, demo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438144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438144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3520439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Python-with-AI comfort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Not coding from scratch — directing AI in Colab and reading its 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279392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279392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436168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Governance vocabulary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Model risk, evals, hallucination types, SR 11-7 — interview gold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120640"/>
            <a:ext cx="548640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5120640"/>
            <a:ext cx="64008" cy="78638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202936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Demo storytelling</a:t>
            </a:r>
          </a:p>
          <a:p>
            <a:pPr algn="l">
              <a:lnSpc>
                <a:spcPct val="112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A 2-minute pitch of your build: problem, demo, what broke, fix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426464"/>
            <a:ext cx="5212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spc="150">
                <a:solidFill>
                  <a:srgbClr val="5D6B7E"/>
                </a:solidFill>
                <a:latin typeface="Calibri"/>
              </a:rPr>
              <a:t>WHO HIRES IN INDIA — AND FOR WHAT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755648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1755648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0256" y="1847088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Global bank GCCs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JPMC, GS, MS, Citi, DB in Pune / Bengaluru / Mumbai — AI product, risk analytics, model validation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2798063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0" y="2798063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0256" y="2889503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Big-4 &amp; consulting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Deloitte, EY, PwC, KPMG, Accenture — AI-in-finance advisory and implementation squads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840479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3840479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0256" y="3931919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Indian banks &amp; NBFCs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Digital units of HDFC, ICICI, Kotak, Axis, Bajaj — copilots, credit agents, wealth bots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882895"/>
            <a:ext cx="5239512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4882895"/>
            <a:ext cx="64008" cy="969264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0256" y="4974335"/>
            <a:ext cx="48463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F2145"/>
                </a:solidFill>
                <a:latin typeface="Calibri"/>
              </a:rPr>
              <a:t>Fintechs &amp; vendors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950" b="0" i="0">
                <a:solidFill>
                  <a:srgbClr val="5D6B7E"/>
                </a:solidFill>
                <a:latin typeface="Calibri"/>
              </a:rPr>
              <a:t>Zerodha to Bloomberg — product, strategy and customer-facing AI roles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961888"/>
            <a:ext cx="11094415" cy="420624"/>
          </a:xfrm>
          <a:prstGeom prst="roundRect">
            <a:avLst>
              <a:gd name="adj" fmla="val 14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6384" y="5961888"/>
            <a:ext cx="1063721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C9A227"/>
                </a:solidFill>
                <a:latin typeface="Calibri"/>
              </a:rPr>
              <a:t>In the interview, don't say “I know AI.”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Say: “I built a RAG compliance checker — here's the demo, here's where it hallucinated, here's how I fixed it.”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2009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50">
                <a:solidFill>
                  <a:srgbClr val="C9A227"/>
                </a:solidFill>
                <a:latin typeface="Calibri"/>
              </a:rPr>
              <a:t>KEEP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900" b="1" i="0">
                <a:solidFill>
                  <a:srgbClr val="0F2145"/>
                </a:solidFill>
                <a:latin typeface="Georgia"/>
              </a:rPr>
              <a:t>After today — a 30-day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45920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48840" y="1645920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Re-run all four builds solo. Change one assumption in each; watch what breaks.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96896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596896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688336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688336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Ship your project scope note. Read one bank AI case study (Morgan Stanley RAG is the classic).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39311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639311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730751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730751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Working demo. Add one guardrail: citations, “I don't know”, or a human-approval step.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681727"/>
            <a:ext cx="67665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F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681727"/>
            <a:ext cx="64008" cy="932688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4773167"/>
            <a:ext cx="1234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8F7113"/>
                </a:solidFill>
                <a:latin typeface="Georgia"/>
              </a:rPr>
              <a:t>Week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4773167"/>
            <a:ext cx="49834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1B2A41"/>
                </a:solidFill>
                <a:latin typeface="Calibri"/>
              </a:rPr>
              <a:t>Pitch. Then put the demo on your CV with metrics — “built a RAG compliance tool, 90% citation accuracy”.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0" y="1554480"/>
            <a:ext cx="4023360" cy="4023360"/>
          </a:xfrm>
          <a:prstGeom prst="roundRect">
            <a:avLst>
              <a:gd name="adj" fmla="val 6000"/>
            </a:avLst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1554480"/>
            <a:ext cx="3566160" cy="402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 spc="220">
                <a:solidFill>
                  <a:srgbClr val="C9A227"/>
                </a:solidFill>
                <a:latin typeface="Calibri"/>
              </a:rPr>
              <a:t>READING LIST</a:t>
            </a:r>
          </a:p>
          <a:p>
            <a:pPr algn="l">
              <a:lnSpc>
                <a:spcPct val="120000"/>
              </a:lnSpc>
              <a:spcBef>
                <a:spcPts val="14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Anthropic — “Building effective agents”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DeepLearning.AI — short courses on RAG &amp; LangChain (free)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BloombergGPT paper — skim the use cases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Morgan Stanley × OpenAI case study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150" b="1" i="0">
                <a:solidFill>
                  <a:srgbClr val="C9A227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FFFFFF"/>
                </a:solidFill>
                <a:latin typeface="Calibri"/>
              </a:rPr>
              <a:t>RBI &amp; BIS papers on AI in banking</a:t>
            </a:r>
          </a:p>
          <a:p>
            <a:pPr algn="l">
              <a:spcBef>
                <a:spcPts val="1600"/>
              </a:spcBef>
            </a:pPr>
            <a:r>
              <a:rPr sz="1050" b="0" i="1">
                <a:solidFill>
                  <a:srgbClr val="8FA1C4"/>
                </a:solidFill>
                <a:latin typeface="Calibri"/>
              </a:rPr>
              <a:t>All linked in the course repo.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5D6B7E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5D6B7E"/>
                </a:solidFill>
                <a:latin typeface="Calibri"/>
              </a:rPr>
              <a:t>SESSION 2  ·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300">
                <a:solidFill>
                  <a:srgbClr val="C9A227"/>
                </a:solidFill>
                <a:latin typeface="Calibri"/>
              </a:rPr>
              <a:t>SCMHRD · MBA FINANCE · AI IN FINANCE INTENSIVE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Georgia"/>
              </a:rPr>
              <a:t>Build the thing. Question the output.</a:t>
            </a:r>
          </a:p>
          <a:p>
            <a:pPr algn="l">
              <a:spcBef>
                <a:spcPts val="1000"/>
              </a:spcBef>
            </a:pPr>
            <a:r>
              <a:rPr sz="1500" b="0" i="1">
                <a:solidFill>
                  <a:srgbClr val="C9D6EE"/>
                </a:solidFill>
                <a:latin typeface="Calibri"/>
              </a:rPr>
              <a:t>AI won't replace finance professionals — finance professionals who use AI will replace those who don't.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977639"/>
            <a:ext cx="4937760" cy="10972"/>
          </a:xfrm>
          <a:prstGeom prst="rect">
            <a:avLst/>
          </a:prstGeom>
          <a:solidFill>
            <a:srgbClr val="3350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5943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Tejas Jadhav, CFA, FRM</a:t>
            </a:r>
          </a:p>
          <a:p>
            <a:pPr algn="l">
              <a:spcBef>
                <a:spcPts val="300"/>
              </a:spcBef>
            </a:pPr>
            <a:r>
              <a:rPr sz="1200" b="0" i="0">
                <a:solidFill>
                  <a:srgbClr val="8FA1C4"/>
                </a:solidFill>
                <a:latin typeface="Calibri"/>
              </a:rPr>
              <a:t>Guest Faculty · AI in Finance</a:t>
            </a:r>
          </a:p>
          <a:p>
            <a:pPr algn="l">
              <a:spcBef>
                <a:spcPts val="1200"/>
              </a:spcBef>
            </a:pPr>
            <a:r>
              <a:rPr sz="1300" b="1" i="0">
                <a:solidFill>
                  <a:srgbClr val="C9A227"/>
                </a:solidFill>
                <a:latin typeface="Calibri"/>
              </a:rPr>
              <a:t>github.com/tejasgjadhav/SCMHRD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8FA1C4"/>
                </a:solidFill>
                <a:latin typeface="Calibri"/>
              </a:rPr>
              <a:t>Slides, prompts, datasets &amp; project templates live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4206240"/>
            <a:ext cx="4114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50">
                <a:solidFill>
                  <a:srgbClr val="C9A227"/>
                </a:solidFill>
                <a:latin typeface="Calibri"/>
              </a:rPr>
              <a:t>YOUR NEXT STEP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 i="0">
                <a:solidFill>
                  <a:srgbClr val="FFFFFF"/>
                </a:solidFill>
                <a:latin typeface="Calibri"/>
              </a:rPr>
              <a:t>Form your team before you leave the room. Scope note due Day 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 spc="180">
                <a:solidFill>
                  <a:srgbClr val="8FA1C4"/>
                </a:solidFill>
                <a:latin typeface="Calibri"/>
              </a:rPr>
              <a:t>AI IN FINANCE · SCMHRD ONE-DAY INTENSIVE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 spc="120">
                <a:solidFill>
                  <a:srgbClr val="8FA1C4"/>
                </a:solidFill>
                <a:latin typeface="Calibri"/>
              </a:rPr>
              <a:t>CLOSE  ·  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